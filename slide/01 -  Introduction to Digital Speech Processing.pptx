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256" r:id="rId2"/>
    <p:sldId id="363" r:id="rId3"/>
    <p:sldId id="376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7" r:id="rId13"/>
    <p:sldId id="378" r:id="rId14"/>
    <p:sldId id="380" r:id="rId15"/>
    <p:sldId id="381" r:id="rId16"/>
    <p:sldId id="382" r:id="rId17"/>
    <p:sldId id="383" r:id="rId18"/>
    <p:sldId id="384" r:id="rId19"/>
    <p:sldId id="379" r:id="rId20"/>
    <p:sldId id="385" r:id="rId21"/>
    <p:sldId id="387" r:id="rId22"/>
    <p:sldId id="386" r:id="rId23"/>
    <p:sldId id="388" r:id="rId24"/>
    <p:sldId id="389" r:id="rId25"/>
    <p:sldId id="390" r:id="rId26"/>
    <p:sldId id="391" r:id="rId27"/>
    <p:sldId id="347" r:id="rId28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88" d="100"/>
          <a:sy n="88" d="100"/>
        </p:scale>
        <p:origin x="2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57E58D2-9F9E-8438-A6D7-5B75AB6FB8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462F41B-66B2-FB2C-1FB9-A6479992FDB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D939DBA7-C4F8-1AAB-CDBE-34DAFED371F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F73B099-3EA9-DBD6-BAEB-37D21A5233F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B6B62552-A99D-4985-B9FF-F54BA3077E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A3E5FE2-1BFA-4319-DD9C-6D3E74370B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591775D-6081-CB26-A155-26B5185D92A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3232B50-68FA-660F-05D5-45C4D4BF2A2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D60713-31C0-31A1-2146-04230422474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1E4ABA5-1CBD-43D3-21B4-72FF642754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BE10014-CEED-E308-E523-BDE8C45D45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F4C24F7E-8EE7-4E1F-B486-3AE0806BCC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3EE294AA-23EA-B873-92CE-9359629D47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13CC9EA2-7FBB-FA4B-6ACD-6D61BF253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E2BD336-EF14-B038-5C30-F41AE250B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AA91D7-CA15-4ECC-A4E6-19CE1431043F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8F8ED963-FCF5-F9D0-711F-1BCBD7FFE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F1CB57BA-61D4-E977-093D-77FE89E26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B3045FD7-B8FD-29BD-BAD0-81360D7C4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19D039-7D49-4FF8-9BCD-BEC5B5861B7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0326B714-F2FE-4BEE-06EA-7BD20CE80D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70CDC8FA-3E63-4D2C-BC24-1663B46B6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E0009F7-C275-1B72-5AE5-F0BC020C7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448D86-B16C-4F35-B88F-FDDB76BB4794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83F2E3BE-029E-A8AC-FAB6-3E20B2E44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1DA02888-6AF0-BFA2-F082-7023D8B2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D3855E01-74B2-8427-6355-4CE209B82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D19CC7-4AAC-4125-858A-1B754777D981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19221252-1F06-9C3D-47CF-D5AF22FF0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0AD1398-DC4D-6E52-DAED-8B070E502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3C5DD5C8-CB26-798A-26CA-3EA859E0D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7818AD-D2E1-42D2-824E-D404CB40E8B5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7EDC715-909B-E954-C016-CE299BF02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01156D94-2ADD-117D-D02B-7F6C0C14B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9B279DA7-4F09-40E7-D961-3B3A25D84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7418D0-D842-4E82-B964-EEDA4B896FDE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BB4EECDE-894F-956B-45FA-0F674C2DF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551CEBB4-A27B-DDA8-1266-C1E3A29C9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36DA2B15-4B54-8786-B594-8750DA0E7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B07EA9-17DD-413C-9547-F73B7E99C38E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63354B4E-6E45-D5B7-421C-A98456126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E2E7518B-DD12-E470-6BBE-ECAA9A4E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32F80A65-9ACA-B85C-E58B-42DB7FBC5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073CE5-69A2-4786-ADA1-1B1A5EDA518B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97EF075F-096D-5CED-558F-7E4C873F8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CF37BD39-6C07-DE35-A3AE-7356572D5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BCFFA8D-482F-2167-4D4F-689768D6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D59129-DA84-4B8A-9CBC-2553A65A8917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71583CA0-BF20-55A6-309A-1C6BF6D8C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EB2EAC76-2243-469D-DC5D-A4BF68AF2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32E8D8F3-1E5F-C408-C8AE-E93D1E007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307F14-A5A3-44D5-AFEC-BD88280163AB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AA4F765C-6656-D16A-66A4-F0B6170AA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AAE7DA32-1DA4-63B1-CE60-877AC6E1D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E0DE6420-39BB-7D4B-7939-A9CC2C9F1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A239EC-261A-4468-A1A8-AED1FC2D9A51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0AA3555F-BF0F-8ADD-EC41-46E798723A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309975E2-C541-2463-6FC8-D5154A7A3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834F52D9-BF24-D961-444A-DCEB337A7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0157B07-DAB6-4DB9-A4C1-DCA174A88430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6CBFBCE5-C12B-8CB8-EED4-875BAE316A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7ED3AB5D-5589-3840-951F-B08E8DB59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F1F18D85-CD66-DE27-B08B-F54EC6485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CE1807-20AC-4808-A7AE-ADA41DEF3D29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9F70E9A8-19D6-6F51-3693-7C6B856EE4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B8A93415-0B75-429B-F74D-BA03421C4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2CAB8D10-DCDE-AFBA-D2BB-20F729B4A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E52987-C2DE-434B-950C-5E3E2FF35ECC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C39AE729-A093-0ECC-50AB-0524BA1C95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BFC249E1-F34D-B591-67C7-4CD9CBD84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5F70CD96-7C49-07D4-AA63-F6A0B07A1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C35A55-A646-4192-9BC6-376C9880B6BC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C6D75C86-25FA-3CCE-6048-A5EBEFE529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2C615554-FAEE-735D-2C33-F09D3C02E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B37969C4-4DEE-2C40-C2B1-F103E3B55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E2FDBA-1669-4033-AB48-DDFEE89E5C35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C3F5EA52-41B2-E11D-0975-AFA6C21C2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74426592-1A37-9E32-2AB5-EB3684786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5CC08B3-C3F2-0FB7-7EDB-C1F3B29D5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A4E2B4-7ED7-401F-A32D-D7DA1CBAEF68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F3BF7EA5-2E0C-3C88-4F84-FA8CC59520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76710883-BFC9-3E35-6807-0C322F5E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C24BA4D9-6F9A-3EA0-31F1-B3B442B91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B5934C-63E8-46D3-933B-CFBB66ACA4E1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28AE255A-C515-F06C-4A88-CFF305232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FBF51429-5EA6-7239-0803-8B3208134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791DCC4F-BB6F-47E3-C0BA-8D9411238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2B9A3C-0F74-4024-8434-6D45BD5E7DF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CDB575A8-7FF5-50F8-320A-79539B1FF3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869703F5-44A5-6F38-2942-42DA59AF0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9FCCD821-B5B4-E13B-C387-963ED465B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CC58B4-1445-48C5-94AD-3CB00B85BCF7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BFA372A1-43BE-B13E-C708-7F5FD095D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B04C6C85-B349-496F-3D6E-9BACBD75E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069997AA-AD17-A594-E022-AC2FE5785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AE3D5F-8980-4AD3-8DAC-D926F57D385E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9B720817-E5CE-24CF-9EDE-3B72C8D79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9EE59267-555B-490F-165A-C14E3DBC2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5782A0DA-CAA9-7577-5E13-0EED90A59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3BDA0-A47C-4E6F-9D86-32B7BC7A337E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A8154DE0-774D-423E-DFF0-3DEB91D3AD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DB9C9763-6FBB-9D57-B893-D44E16475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C365B695-E5A4-2864-1FB1-F48F9E53A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B5CA78-4F13-4BC3-A562-576094D61930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9E4D95BA-E0A2-A68B-6AAF-E2203D3B4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AACA9E10-5485-77B7-6729-72FDC5B9C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5F8C093C-FA4C-5BAF-5031-2F7BE1325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04F3E7-BB27-4D8D-95B8-FEF120C931A3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CDA75910-D290-3278-D02E-A6B288055C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938D1110-F7A6-2F5F-E8A6-A11585AB4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756A4309-E26F-7D62-F628-C5D6F8620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9980E-6F21-44C1-83EF-FA80297E6BF0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3B677F-8FB5-B4C3-4D4A-45D8C58FC5D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FBBFB073-B9C4-E116-151A-58E764C1E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B4AF22A1-79C5-F9BA-EAEA-EAECDB500174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5D237540-D308-1C2B-BF17-A648DDDD0597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8ED56830-8342-7E47-784D-1726B5752D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52A5305F-86D1-767B-88D6-872C8D0751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268D547B-8A9A-875C-7716-618EA6B802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3097665D-75EA-8A03-893F-1CBA83348A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24487693-481B-DF12-20B5-5D7C1898E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39691F1D-CFB3-784F-614C-BFF4280C33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732D9F9E-47AD-9F8E-A076-F0B53D6BE8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48E7F340-7991-09E5-D053-5AC38B57E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D4678FE7-F28B-84D6-A716-E6E24483CD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961848E5-D286-4F24-DA13-48BD40821A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F3524D9A-9AA7-C6A4-68A3-D205F7D746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A73E841E-818A-4581-F215-98AA6E5737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C0F07BF8-35A6-66B8-A222-B33F4D844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EBBE0D46-957C-09C0-0AF9-C9EB94F5A7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34EAED5-3078-83B0-0961-B2A6CB7FDF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86503EA6-92DE-1509-5720-F64ED8D910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A3EB6218-B795-F5FD-42F7-F2998111E7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EC9BCA03-9274-E316-114B-7592BE4A5C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0B81D589-9DB2-69FC-ACEE-8C02031C05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20CCFD0E-1BA7-BB3F-C87E-AEBDEF4840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E0AA564B-6D44-9398-3346-974E06C39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9B4769B4-5DDD-5F63-7053-E584455494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1B6025E0-3208-1132-69E7-F77872D1F2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22687951-636C-A73F-CA06-6BE422AEC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F38BBF43-DB98-FFF8-2DA8-013C84E077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BF37597C-D33E-FF98-B7DA-14B36C6679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5971D942-B2A9-9784-2BE9-E82C9E5327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CD303696-4164-974B-47E1-E9290063CD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6920BA68-E42E-F454-6514-A1E35CDFFF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984D8921-8038-8B6C-4975-DBF38CD28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6BF9483D-F938-FE13-DABC-2AF40D4D40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06613111-2208-FF2E-8741-6618C162C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9A332B68-B30C-2FCA-08D5-AF376F12B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72BE3A07-EDC8-949A-D5CD-70253AC77F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3E5FBF70-89BA-DE10-5C04-E444521F7C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60A66CD5-C80E-33EA-F521-5477937C1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51B96492-EFBA-7B76-AB77-AD44B91173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1B6D2BF9-FB79-3155-47BF-EF28319BA6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EC60964-A428-B529-5257-6D614A8C8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45703AAB-276A-0150-D758-2B283D174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F5E8FE7-F1F3-7B1C-5B12-644EE11065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E7F92BFC-01BF-F456-0DD5-38A4EA070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CDEE0B03-A270-83D0-8119-A32EB6F18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F08D4BE2-C9EC-3F04-5EF7-0455BEA1A5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7A233686-2207-C2E7-89E7-9114122240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6CCE53B7-547D-04DB-72C4-227FE198E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5BEF9AEF-98CA-D7D4-BE25-0DE30A76A7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97522CE9-775C-C43D-CE91-A95A4E94E4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5C939D75-8351-2E19-7315-EA0EAA63E7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ABADA93A-3064-5496-BE7E-F20534216B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F1641279-5338-269A-48B9-1AB5F6F0B4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BE2544E2-FC52-0B1A-D75A-0D6E3FA3239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E01DAA85-911C-F938-2545-64A19172A32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3156FC92-00D1-6340-7092-21CF22ADB80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92A7AFF1-0680-1BAB-6E96-5CC765CD647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E6CE9C4E-68A4-8DB7-8341-13DDC3D080E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68C1499B-CF4A-8EBA-7CED-5B15856A2D5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A798A7E1-76C5-8FA5-3708-786992B72DA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4B13E04-3D50-6A4B-1DC2-FCCB3E4C07E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67C31377-8038-AF7B-0DF6-09A499A4AE5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E30BB1F2-1F88-4603-D413-D7C994556EE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5832C410-9E22-23E6-7154-EBD517EEB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674AD-E22D-4201-A2D3-CB8AF43193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FF75E134-9D4D-CE31-EB98-F104027F933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BE844D63-C330-FEB1-CBA0-E59568B2CF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58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FF23E7A1-AF3B-61D4-138C-BC957C49BF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647CA445-4F51-E879-A975-057E14B1E5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06409393-AD6C-5761-F7E0-C8802F6E4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C8CB5-9A2F-412B-BA80-309C5A7C3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74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08AF2C52-367B-EFB5-537E-B08946E237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A1A6C9C-AF80-96D6-3CB0-552841737D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421AA76-AC5E-D08D-72D1-4752E1F8D0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A51C6-0AE5-4AC1-9C68-5FAB2F8740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6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88ACD3E4-C55A-5D6E-AC55-CA5ABCE443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6BB7B2E9-9593-1E09-2AD9-D57F549EC2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4F4CDE2-030A-FB12-345A-E5959AAF74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024A4-5C00-4A56-A55B-D7FFF4D3C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035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02D06A47-86C1-8594-1A0E-A4B3585D28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ECEEDD30-06D8-108F-AC54-F8D2C69D2B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54B4EF33-DCB2-8D46-77F7-615E90698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F4E24-63D6-4D2A-83A9-E3C593ECE8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23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25A9E5A0-5E52-5234-2170-9D9C957077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B8ECACA-F453-F656-1FC0-C9C521467D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8BFBEBF3-4C90-CC01-7A64-CF6357F3E8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1F429-A2EF-4600-BBFA-D33FFD83CF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18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1331515-4C84-952E-B87E-11E796A3BC3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D953C88A-DE80-E41B-1761-1326186156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4B7DC8AC-FFB8-0B92-121E-972CC645D8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FD4B7E0C-1471-1A9B-1045-68337ABD92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FEEF752D-4CEB-8B94-FAD0-BFCDD0D1B2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E75A16C0-7F76-580F-1C6C-3FD4A217B4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192E188C-5DEF-006D-E3E5-D1E7501AB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A938385E-ADB7-53D3-2A7F-99E67F07F4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11E4F248-F562-8720-A4F4-FF484D3BC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4BA1B46B-B6DC-1919-D2D3-0504BE7477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2F2301B-C1FC-7142-741E-7A7F270073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944688BC-E8C8-E38B-586C-9DCB0DFC0A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AB70D42-E5A2-D0C8-36C7-3F80CB0B3E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390AC599-F674-1E4C-1D82-3E687BB734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C984399-FDCF-B9C2-6ACD-AC245E84E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97B459D5-7888-C740-81ED-8E984F2C61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6D273D7B-A66D-6888-6DF1-6D631D3427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101E1A36-B219-EF24-AAD1-1D02E0EDF2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3B581562-9EC9-14A5-D5B0-68F0184152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7E0ADC3A-C284-0364-B740-AC9729B4CB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42BC93A7-B0BC-D285-92EC-0313E9B8C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3C156284-9541-D2BF-D3B1-95FF198E1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73DE32B1-DDCF-4614-14C8-C850F4EBEE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3A5CD624-F23D-6D22-1439-AFEE7E662E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64F2C000-D078-6C4C-B4BC-293D55489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4E1C398-EA61-CB45-0D79-D3B14E48A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F2A1C8C2-C691-17CD-3C16-C4C15368F6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00A0A1C-928B-EFE6-8610-7E8D2297D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9D09A21E-21F7-E595-D402-A7BD30086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AEE0387F-4CF8-8F9F-6E39-A4F917B1D8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169C976E-8C6E-F385-F79A-FBF83B680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768EFC38-2E10-50B8-2930-FCCE17DD6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DE626053-C9DB-17DE-E1C7-FFB355B17F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6DC3C80-4002-5521-4183-66F876C726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6F511AE-F879-5B33-DD18-251002C79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FCF7FCBB-6B79-0561-E25D-9618C40C0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C8C52B34-2845-3899-DB21-85450DCB93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203F6FA9-E4DA-9BE4-ADFF-E0FA1A8136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131BB9B1-AB19-0C0C-5BDE-58A0F33DB0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1C88A606-76AB-5140-90EC-EA9BE54BE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0583DC70-F00B-3C66-50C5-1B9FBEAA93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D9AC9B3-27EA-C9EA-DB7B-6E76893BC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EC4F71D4-7CA7-E05A-3C09-FE457B35D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C47CCB22-E4A6-B64E-F9CA-A95A4FB9CE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CE96A6E7-F688-2689-9AC6-5D31692584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676B64CA-657A-AD4C-BF12-3A2D52A1E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5BA9BBA5-691C-1D26-E3F0-7D243371F3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ED8D346B-70DD-59CF-5D56-6DD533F80F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4A38A6F7-16F8-26DF-89A3-EB844FDAB8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6ED24877-2CA6-0545-1615-40CBC2ED1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D1EB77F6-3F8F-E285-30ED-F5E836E9B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10D80FB2-3405-2BB4-2FFC-FFFF219669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D28CA871-6FC2-14AA-3103-EF78EDA1F8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A6005E96-483E-0D8D-F22F-C1C5C2AB1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7B0A2A6E-895E-D6CE-E0BB-FA0DF9498F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13DF2FA5-58E2-C7BD-D9A7-1E0BFFB0D60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C600B876-3E99-B84D-5002-3F4C271E9C00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F3614BDE-E084-B9F1-9D3C-C7414A9B7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3333F940-2D6B-DA1E-14D1-9C456BD133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954A85C1-29BA-849E-67B2-0198B87F83E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E9DE14A3-891C-EED4-777A-E55B99199BB6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C668B98C-5747-1228-CD35-A9A4988CE4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8636BD8-C22F-9FF8-50EA-7A1310F48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EEFF0CF9-0DF3-881A-B496-77ACDEF69F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FF07604D-AFCB-3726-5FEC-F4FC0C3C0B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4C27F5C3-FDB9-A0D3-A1D9-671ABB2CC3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9916E2F-136D-411C-A182-7F64989038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58" r:id="rId2"/>
    <p:sldLayoutId id="2147483859" r:id="rId3"/>
    <p:sldLayoutId id="2147483860" r:id="rId4"/>
    <p:sldLayoutId id="2147483861" r:id="rId5"/>
    <p:sldLayoutId id="214748386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48DAA8-EEEE-1B2B-A662-DE11EABA6C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Introduction to Digital Speech Processing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5BD3A3C6-0A97-9BC2-EE01-C9453F0DA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1198F20-F1C9-3FBB-CB8A-0273CFEB2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C702EBE-FC16-FA80-8DCE-2D076747FD8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The Speech Signal</a:t>
            </a:r>
          </a:p>
          <a:p>
            <a:r>
              <a:rPr lang="en-US" altLang="en-US" sz="2000"/>
              <a:t>The Speech Stack</a:t>
            </a:r>
          </a:p>
          <a:p>
            <a:r>
              <a:rPr lang="en-US" altLang="en-US" sz="2000"/>
              <a:t>Applications of Digital Speech Processing (DSP)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909DC452-D184-3B65-0D22-BA6944D0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D82451-FDB2-4E39-9A47-0A68D0F687B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761A1856-C0F3-8165-1D61-61A7CC54C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E9CE566-4B7D-FB9E-2BD5-47D971C3D2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Speech Signal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E6500B3F-9080-AC49-E552-02DFBB099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9C94876-FDB6-74C6-63BE-34734D62B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5AB94124-FC3C-3A8B-E69C-0CC00730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E711A7-C306-4EB4-B2FB-43E9449492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9D2E92-1FF5-2D07-1114-EFE4D20233B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What is Speech Signal?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3E100441-41A2-0B32-3ADB-A85161032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7C481699-DBB7-8BC5-263F-25470FD1E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317750"/>
            <a:ext cx="3821113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 speech signal is a time-varying waveform produced by human vocal organs during speech production.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signals exhibit complex frequency, intensity, and duration patterns, conveying linguistic information.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Phonemes, syllables, and prosodic features comprise speech signals' basic components.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0247" name="Picture 2">
            <a:extLst>
              <a:ext uri="{FF2B5EF4-FFF2-40B4-BE49-F238E27FC236}">
                <a16:creationId xmlns:a16="http://schemas.microsoft.com/office/drawing/2014/main" id="{A28C588E-E2F7-28FB-88F9-24D2FCC81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2633663"/>
            <a:ext cx="4035425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4A3571F-EC10-999E-C4E0-671E35464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6B770F90-A626-DEDB-3580-747B316E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5797B5-DD05-4167-8102-7203A8562EA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7D600AD-2ACF-5669-283F-4064002A42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Production of Speech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618501AA-6D02-2B32-3680-8743B10C5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2">
            <a:extLst>
              <a:ext uri="{FF2B5EF4-FFF2-40B4-BE49-F238E27FC236}">
                <a16:creationId xmlns:a16="http://schemas.microsoft.com/office/drawing/2014/main" id="{3B8CD416-241D-C841-3F6C-81CB057F2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3925888"/>
            <a:ext cx="76676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is produced by the movement of articulators (tongue, lips, vocal cords) in coordination with airflow from the lungs.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Articulators: Discuss the role of the tongue, palate, teeth, and lips in shaping speech sounds.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Explain how different speech sounds (consonants, vowels) are formed based on articulatory positions.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2295" name="Picture 3">
            <a:extLst>
              <a:ext uri="{FF2B5EF4-FFF2-40B4-BE49-F238E27FC236}">
                <a16:creationId xmlns:a16="http://schemas.microsoft.com/office/drawing/2014/main" id="{FAB36030-7300-B9CB-B24B-522DD8F31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308225"/>
            <a:ext cx="3081338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B9799D3-2AF6-C483-4513-42E9D6C93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2DF3B1E4-5810-C3DD-20AC-CF765BBA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C42860-AAB1-4013-A579-961719699BC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30F898D-AE90-1AEB-D899-E1F3D2647E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Properties of Speech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38CB4B35-3B95-CE84-7B24-3409E06BB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2">
            <a:extLst>
              <a:ext uri="{FF2B5EF4-FFF2-40B4-BE49-F238E27FC236}">
                <a16:creationId xmlns:a16="http://schemas.microsoft.com/office/drawing/2014/main" id="{8C6EAC27-4EDC-84ED-A82F-A5B4EB587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317750"/>
            <a:ext cx="73628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How is Speech Transmitted Acoustically?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is transmitted as pressure waves in the air, carrying information about sound frequency and amplitude.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Spectral Characteristics of Speech Sounds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Frequency spectrum analysis reveals distinct patterns for different speech sounds (formants and harmonics).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C21BE37-001C-D7C7-8FAF-2DBA7CA9E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0665D648-68DE-CC74-4CA8-2C268C15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2A7C97-0B09-474F-ABE8-74A72ED1344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6B749A0-FF3C-4519-108A-A874DCFCED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Analog vs. Digital Speech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03114F6B-2E7F-AD0E-C594-C32A2EDAA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2">
            <a:extLst>
              <a:ext uri="{FF2B5EF4-FFF2-40B4-BE49-F238E27FC236}">
                <a16:creationId xmlns:a16="http://schemas.microsoft.com/office/drawing/2014/main" id="{497E6814-BF49-14EC-A5E8-D0797F46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743200"/>
            <a:ext cx="2133600" cy="1676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Continuous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waveform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representing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natural speech</a:t>
            </a:r>
          </a:p>
        </p:txBody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7ADBF19F-EADD-6279-4BED-F992A361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2743200"/>
            <a:ext cx="3352800" cy="1676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Discrete-time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representation obtained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through sampling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and quantization</a:t>
            </a:r>
          </a:p>
        </p:txBody>
      </p:sp>
      <p:sp>
        <p:nvSpPr>
          <p:cNvPr id="16392" name="TextBox 2">
            <a:extLst>
              <a:ext uri="{FF2B5EF4-FFF2-40B4-BE49-F238E27FC236}">
                <a16:creationId xmlns:a16="http://schemas.microsoft.com/office/drawing/2014/main" id="{7E17F3CC-AC96-919A-9789-339998AC9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800600"/>
            <a:ext cx="7362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Advantages of Digital Speech Processing: </a:t>
            </a:r>
            <a:r>
              <a:rPr lang="en-US" altLang="en-US" sz="1800"/>
              <a:t>Robustness, ease of storage, and manipulation compared to analog signals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C25A1E0-0304-5AC3-20CD-A9FCA5215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D12BA4A1-2846-FA04-18C0-8BB195E8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F5B6B9-A730-42F8-99FB-934655FBE2E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6791E57-CE91-F3D8-3B4F-CFE380E337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Sampling and Quantization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FFEA3D72-0E64-696E-FF63-512D427A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2">
            <a:extLst>
              <a:ext uri="{FF2B5EF4-FFF2-40B4-BE49-F238E27FC236}">
                <a16:creationId xmlns:a16="http://schemas.microsoft.com/office/drawing/2014/main" id="{B1B49E44-A67C-EFB3-1686-9CFDD1174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3628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Sampling Process in Speech Processing: </a:t>
            </a:r>
            <a:r>
              <a:rPr lang="en-US" altLang="en-US" sz="1800"/>
              <a:t>Explain the Nyquist theorem and sampling rate selection for speech signals.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i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Quantization of Speech Signals: </a:t>
            </a:r>
            <a:r>
              <a:rPr lang="en-US" altLang="en-US" sz="1800"/>
              <a:t>Discuss A/D conversion and bit depth for digitizing speech signals.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Digital Representation of Speech: </a:t>
            </a:r>
            <a:r>
              <a:rPr lang="en-US" altLang="en-US" sz="1800"/>
              <a:t>Illustrate the concept of digital waveform using sampled speech examples.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EA41194-E2A4-7842-53E2-5BDC96E1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7D916DF1-39A7-DB98-648C-8FB23A3C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43A920-3F3C-4030-A263-EBEEF0667D6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CB3AD2B-538F-9610-04E1-44E8ABB305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Feature Extraction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8847B65F-B10D-D313-5D58-4C5F52495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2">
            <a:extLst>
              <a:ext uri="{FF2B5EF4-FFF2-40B4-BE49-F238E27FC236}">
                <a16:creationId xmlns:a16="http://schemas.microsoft.com/office/drawing/2014/main" id="{AA83C13C-AF90-37A0-7FA0-C58A7C69D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36282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Importance of Feature Extraction in Speech Processing: Extract meaningful speech recognition and analysis features.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Common Features:</a:t>
            </a:r>
          </a:p>
          <a:p>
            <a:pPr lvl="1" algn="just">
              <a:spcBef>
                <a:spcPct val="0"/>
              </a:spcBef>
              <a:buClrTx/>
              <a:buSzTx/>
            </a:pPr>
            <a:r>
              <a:rPr lang="en-US" altLang="en-US" sz="1400"/>
              <a:t>Short-Time Energy: Measure signal energy in short-time frames.</a:t>
            </a:r>
          </a:p>
          <a:p>
            <a:pPr lvl="1" algn="just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 algn="just">
              <a:spcBef>
                <a:spcPct val="0"/>
              </a:spcBef>
              <a:buClrTx/>
              <a:buSzTx/>
            </a:pPr>
            <a:r>
              <a:rPr lang="en-US" altLang="en-US" sz="1400"/>
              <a:t>Zero Crossing Rate: Estimate pitch and voicing characteristics.</a:t>
            </a:r>
          </a:p>
          <a:p>
            <a:pPr lvl="1" algn="just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 algn="just">
              <a:spcBef>
                <a:spcPct val="0"/>
              </a:spcBef>
              <a:buClrTx/>
              <a:buSzTx/>
            </a:pPr>
            <a:r>
              <a:rPr lang="en-US" altLang="en-US" sz="1400"/>
              <a:t>Mel Frequency Cepstral Coefficients (MFCCs): Capture spectral characteristics for pattern recognition.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616434C1-603A-A856-706F-21F1A8B3D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D5D1E5F3-79DF-1FEF-308C-0A4B21E4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C08D72-7892-4F89-A6C8-AAD3297C758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A119B51-AFF0-5D8E-7BB0-E6C22436FA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Time-Frequency Analysis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A2F5B799-136C-C313-ED30-8BC659229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Box 2">
            <a:extLst>
              <a:ext uri="{FF2B5EF4-FFF2-40B4-BE49-F238E27FC236}">
                <a16:creationId xmlns:a16="http://schemas.microsoft.com/office/drawing/2014/main" id="{B4B2F925-1246-C252-85F5-8303FCB3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3986212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Fourier Transform and its Role: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Explain how the Fourier Transform decomposes speech signals into frequency components.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Short-Time Fourier Transform (STFT):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Analyze speech signals in short-time segments to capture time-varying frequency information.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Spectrogram Representation of Speech: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Illustrate spectrogram as a 2D visualization of the time-frequency content of speech signals.</a:t>
            </a:r>
          </a:p>
        </p:txBody>
      </p:sp>
      <p:pic>
        <p:nvPicPr>
          <p:cNvPr id="22535" name="Picture 2">
            <a:extLst>
              <a:ext uri="{FF2B5EF4-FFF2-40B4-BE49-F238E27FC236}">
                <a16:creationId xmlns:a16="http://schemas.microsoft.com/office/drawing/2014/main" id="{EACD91CD-AA5F-D7F9-BEE2-A9F1FCB9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2362200"/>
            <a:ext cx="32258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74250DC-B216-839C-AE56-F98F8AE1D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82FDC407-B48E-AEAC-9D09-38B49A02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5D2AFA-73D3-424C-9991-19DDEF86284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37C1F88-7341-6756-991C-FE1A54B003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Challenges in Digital Speech Processing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56A6863A-01B8-3167-B590-236865152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2">
            <a:extLst>
              <a:ext uri="{FF2B5EF4-FFF2-40B4-BE49-F238E27FC236}">
                <a16:creationId xmlns:a16="http://schemas.microsoft.com/office/drawing/2014/main" id="{8C9E1FE6-33DF-9966-6207-9750C3977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213" y="2479675"/>
            <a:ext cx="4214812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Noise and Distortion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Impacts speech quality and intelligibility.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Variability in Speech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Differences in accents, speaking rate, and style.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Speaker and Language Variations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Adaptation to different speakers and languages.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61EA365-98D2-0C68-7D45-DBAC6C57F2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Speech Stack</a:t>
            </a:r>
          </a:p>
        </p:txBody>
      </p:sp>
      <p:pic>
        <p:nvPicPr>
          <p:cNvPr id="26627" name="Picture 3">
            <a:extLst>
              <a:ext uri="{FF2B5EF4-FFF2-40B4-BE49-F238E27FC236}">
                <a16:creationId xmlns:a16="http://schemas.microsoft.com/office/drawing/2014/main" id="{8C06DAF0-3CA6-5B57-2232-A6E520AFB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1FE0CC7-2AC4-B44E-D970-8DA60824B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B1FB81DF-F355-EDBD-5918-425CA137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085A83-744A-44F6-B463-D902638BB70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B2AC73D-E440-2366-7C0D-BA20CD2E6E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Components of the Speech Stack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A84CED24-AC3B-46D8-801D-F7C541687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Box 2">
            <a:extLst>
              <a:ext uri="{FF2B5EF4-FFF2-40B4-BE49-F238E27FC236}">
                <a16:creationId xmlns:a16="http://schemas.microsoft.com/office/drawing/2014/main" id="{5543CBC3-CEAD-B0FE-C881-01BD7F412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speech stack represents the layers of processing involved in handling speech signals from acquisition to interpretation.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signal acquisition, preprocessing, feature extraction, speech recognition, language understanding, speech synthesis, and post-processing.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3FC834A5-F27B-1740-76C9-F10D04BEF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82707DAF-DD5C-BD3C-A5F4-76A87EAD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551363-8903-4DCE-9761-9CA538EABC4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BBA7CED-460D-EF2A-DAEC-AE2E8129A9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Speech Signal Acquisition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4AA1F9D8-A8E9-25F8-FA14-9DAC04026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2">
            <a:extLst>
              <a:ext uri="{FF2B5EF4-FFF2-40B4-BE49-F238E27FC236}">
                <a16:creationId xmlns:a16="http://schemas.microsoft.com/office/drawing/2014/main" id="{5E77FF24-E60C-AA4E-A123-5318CA3DA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Role of Speech Signal Acquisition in the Speech Stack:</a:t>
            </a:r>
            <a:r>
              <a:rPr lang="en-US" altLang="en-US" sz="1800"/>
              <a:t> The first step involves capturing speech signals using microphones or sensors.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Microphones and Sensor Technologies:</a:t>
            </a:r>
            <a:r>
              <a:rPr lang="en-US" altLang="en-US" sz="1800"/>
              <a:t> Types of microphones (e.g., condenser, dynamic) and their suitability for different applications.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Preprocessing Steps:</a:t>
            </a:r>
            <a:r>
              <a:rPr lang="en-US" altLang="en-US" sz="1800"/>
              <a:t> Noise reduction techniques, signal amplification, and filtering to enhance signal quality.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C92802E5-DAB4-AD09-6DEA-7312D2FE5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FB4573D4-89AE-7BF1-AB3B-45030760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837583-6A9E-450C-9DAF-A86C401CFE4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82CEEC-BF52-10E8-1E28-D827583441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Language Understanding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D7CD64F9-A3B2-719B-6CB7-F1C4583FE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F5F21911-5B3C-492A-8F9D-FB04AF451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0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Natural Language Processing (NLP) in the Speech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 b="1"/>
              <a:t>Syntax and Semantics Processing:</a:t>
            </a:r>
            <a:r>
              <a:rPr lang="en-US" altLang="en-US" sz="1800"/>
              <a:t> Parsing speech into meaningful language constructs.</a:t>
            </a:r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 b="1"/>
              <a:t>Contextual Understanding and Dialog Management:</a:t>
            </a:r>
            <a:r>
              <a:rPr lang="en-US" altLang="en-US" sz="1800"/>
              <a:t> Interpreting user intents and maintaining conversation context.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0E0CC04-B014-6209-F68F-D6FF6225F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34E9C6D2-8C21-A7DE-BBD1-0EE7FA6D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40A11D-70B1-4E36-AB10-ECEE73B42C7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153C664-E3FF-AA1C-578F-A5C639C13F4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Speech Signal Acquisition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B20BCF83-4731-9A0C-A23C-559E50F5D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2">
            <a:extLst>
              <a:ext uri="{FF2B5EF4-FFF2-40B4-BE49-F238E27FC236}">
                <a16:creationId xmlns:a16="http://schemas.microsoft.com/office/drawing/2014/main" id="{660037FD-D6C7-3F58-E4A7-669CDA1AE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Role of Speech Signal Acquisition in the Speech Stack:</a:t>
            </a:r>
            <a:r>
              <a:rPr lang="en-US" altLang="en-US" sz="1800"/>
              <a:t> The first step involves capturing speech signals using microphones or sensors.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Microphones and Sensor Technologies:</a:t>
            </a:r>
            <a:r>
              <a:rPr lang="en-US" altLang="en-US" sz="1800"/>
              <a:t> Types of microphones (e.g., condenser, dynamic) and their suitability for different applications.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Preprocessing Steps:</a:t>
            </a:r>
            <a:r>
              <a:rPr lang="en-US" altLang="en-US" sz="1800"/>
              <a:t> Noise reduction techniques, signal amplification, and filtering to enhance signal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2D01C7A3-CC29-C2ED-243E-6C48411CD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3F520186-40CE-BDB6-B734-BD87118F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40C964-4993-4154-B248-B9B2D52C822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39D0BE5-24F5-9A6B-4EB0-F59FFF2E65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Speech Synthesis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FEED9F6B-F3DB-F0EE-8131-64F5B27A1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">
            <a:extLst>
              <a:ext uri="{FF2B5EF4-FFF2-40B4-BE49-F238E27FC236}">
                <a16:creationId xmlns:a16="http://schemas.microsoft.com/office/drawing/2014/main" id="{2187A254-9344-1DB7-C0F4-D7EC44ACE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Basics of Speech Synthesis: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      </a:t>
            </a:r>
            <a:r>
              <a:rPr lang="en-US" altLang="en-US" sz="1800"/>
              <a:t>Techniques for generating speech from text or phonetic input.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Text-to-Speech (TTS) Techniques: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Concatenative Synthesis: Joining pre-recorded speech segments.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Parametric Synthesis (e.g., formant-based): Generating speech from vocal tract modeling.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D1858264-F71B-0F32-7D18-1B71A13D2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36F0182B-9600-C47B-AC38-8D970B3D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FF8C2B-6F3C-4636-BBC9-E30CF2F7616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11007B1-547A-E5D9-6C73-A316D69FE4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Enhancement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D4527196-A2F5-F463-4CE3-4BF257EDC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TextBox 2">
            <a:extLst>
              <a:ext uri="{FF2B5EF4-FFF2-40B4-BE49-F238E27FC236}">
                <a16:creationId xmlns:a16="http://schemas.microsoft.com/office/drawing/2014/main" id="{5082E1F1-E4FC-72D3-3AF2-C2726435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Beamforming: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Focusing on the desired speech signal while suppressing noise.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Echo Cancellation: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Removing echo artifacts in speech signals.</a:t>
            </a:r>
          </a:p>
        </p:txBody>
      </p:sp>
      <p:pic>
        <p:nvPicPr>
          <p:cNvPr id="38919" name="Picture 2">
            <a:extLst>
              <a:ext uri="{FF2B5EF4-FFF2-40B4-BE49-F238E27FC236}">
                <a16:creationId xmlns:a16="http://schemas.microsoft.com/office/drawing/2014/main" id="{4DB30C7F-966B-46E8-29C8-16AD8F540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3962400"/>
            <a:ext cx="4854575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65079C7-F11A-C2B5-28E2-2B3437A6AB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Applications of DSP</a:t>
            </a:r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id="{E42EE51F-C117-F805-641F-12520A7BE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75E973EA-4A12-7887-94BE-29D26E434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66D272F0-2112-0FEF-966E-B1BC98D2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789001-CEB9-4E2F-BBD2-FB23E346BE2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FB292B4-41B6-CF41-C49E-0003333D023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Voice Biometrics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EAAEBFD0-8063-222A-3C35-77C0AC06E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24AB824C-A425-FD3D-333B-F5CD4DE4C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4214812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Definition and Role of Voice Biometrics: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Voice biometrics uses unique vocal characteristics for identity verification and authentication.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Speaker Identification and Verification: Verifying an individual's identity based on voice patterns.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Secure Access Control (Voice-based Authentication): Enhancing security by using voiceprints for user authentication.</a:t>
            </a:r>
          </a:p>
        </p:txBody>
      </p:sp>
      <p:grpSp>
        <p:nvGrpSpPr>
          <p:cNvPr id="43015" name="Group 6">
            <a:extLst>
              <a:ext uri="{FF2B5EF4-FFF2-40B4-BE49-F238E27FC236}">
                <a16:creationId xmlns:a16="http://schemas.microsoft.com/office/drawing/2014/main" id="{09A5B6E4-CECD-0EE9-7603-37A35C62ABB2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2514600"/>
            <a:ext cx="3386137" cy="2349500"/>
            <a:chOff x="5147822" y="2514600"/>
            <a:chExt cx="3386578" cy="2349662"/>
          </a:xfrm>
        </p:grpSpPr>
        <p:pic>
          <p:nvPicPr>
            <p:cNvPr id="43016" name="Picture 3">
              <a:extLst>
                <a:ext uri="{FF2B5EF4-FFF2-40B4-BE49-F238E27FC236}">
                  <a16:creationId xmlns:a16="http://schemas.microsoft.com/office/drawing/2014/main" id="{075E0A27-3394-8C69-A8C7-15C7296BE4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7822" y="2514600"/>
              <a:ext cx="3386578" cy="2349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7" name="Rectangle 5">
              <a:extLst>
                <a:ext uri="{FF2B5EF4-FFF2-40B4-BE49-F238E27FC236}">
                  <a16:creationId xmlns:a16="http://schemas.microsoft.com/office/drawing/2014/main" id="{ED795437-7E10-7430-9A7A-E8209D8BA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822" y="4495800"/>
              <a:ext cx="795778" cy="304800"/>
            </a:xfrm>
            <a:prstGeom prst="rect">
              <a:avLst/>
            </a:prstGeom>
            <a:solidFill>
              <a:srgbClr val="0C1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8D20EB5-A059-BA65-96C6-43765E439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41F8D600-16FD-4DFE-152B-85EAAF5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E7BA95-BE2D-468D-823F-3BCD82E5AC8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780D47A-25DD-BFB7-F452-41C86252DD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Automatic Subtitling and Captioning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21794C8D-F526-F046-08BC-C63673EF1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2">
            <a:extLst>
              <a:ext uri="{FF2B5EF4-FFF2-40B4-BE49-F238E27FC236}">
                <a16:creationId xmlns:a16="http://schemas.microsoft.com/office/drawing/2014/main" id="{34B57121-A080-6A35-3A02-657B1256D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186612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Importance of Automatic Subtitling: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Providing textual representation of spoken content for accessibility and comprehension.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Broadcasting (TV, Films): Adding subtitles for viewers with hearing impairments or language barriers.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Online Video Content (YouTube, Streaming Platforms): Enhancing the accessibility of online videos with automated captions.</a:t>
            </a:r>
            <a:endParaRPr lang="en-US" altLang="en-US" sz="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595D9C64-56A4-1DEA-B40B-6380340EA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3346E418-87BD-A2FC-FED6-BA91AA1A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24698E-EA6F-4898-B646-3DF2A21AD60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58C1E49-CE78-8908-E3ED-A0B3E6E831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Language Translation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A53897C0-4980-E482-7C0C-1C32EAE44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Box 2">
            <a:extLst>
              <a:ext uri="{FF2B5EF4-FFF2-40B4-BE49-F238E27FC236}">
                <a16:creationId xmlns:a16="http://schemas.microsoft.com/office/drawing/2014/main" id="{62797CC4-DBEB-3FBE-527E-53143F043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4672012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Speech-to-Speech Translation Technologies: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Advanced systems that translate spoken language from one language to another in real time.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Multilingual Communication: Facilitating cross-language communication without human interpreters.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Real-Time Translation Services: Enabling travelers, business professionals, and international users to communicate effectively.</a:t>
            </a:r>
            <a:endParaRPr lang="en-US" altLang="en-US" sz="1000"/>
          </a:p>
        </p:txBody>
      </p:sp>
      <p:pic>
        <p:nvPicPr>
          <p:cNvPr id="47111" name="Picture 2">
            <a:extLst>
              <a:ext uri="{FF2B5EF4-FFF2-40B4-BE49-F238E27FC236}">
                <a16:creationId xmlns:a16="http://schemas.microsoft.com/office/drawing/2014/main" id="{D9ACDDAF-5882-A653-3523-173F9754E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3505200"/>
            <a:ext cx="2990850" cy="194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01E33BDA-652B-795F-412B-4743F13AC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B5A4B6C6-E96C-DD29-785B-4FCA5AAB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7B1006-42D2-4F46-8151-284C717AA15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2F66F5A-0F53-5F8F-5CDC-E68B696DBF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Analytics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76729793-4401-F05D-52AC-C3E9EF497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2">
            <a:extLst>
              <a:ext uri="{FF2B5EF4-FFF2-40B4-BE49-F238E27FC236}">
                <a16:creationId xmlns:a16="http://schemas.microsoft.com/office/drawing/2014/main" id="{19D74AA5-3ABE-8FCA-587C-BA8A3983A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186612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Analytics: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Using speech processing techniques to analyze and derive insights from spoken data.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Customer Call Center Analysis: Monitoring customer-agent interactions for quality assurance and customer experience improvement.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Market Research and Sentiment Analysis: Analyzing customer feedback and sentiment expressed in spoken language.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Quality Assurance and Compliance Monitoring: Ensuring adherence to regulations and standards in communications.</a:t>
            </a:r>
            <a:endParaRPr lang="en-US" altLang="en-US" sz="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959D7F53-33D9-E9B9-042D-7D8506F5CF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46E200E2-D915-A429-0289-51995D54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8D9C6E-0F94-4B6C-9371-DF12D7C50DA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E5920CF-1572-534A-C4F8-57800AAA0E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Healthcare Applications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EB11476F-8054-9C79-7EE9-C7D9C8FA0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2">
            <a:extLst>
              <a:ext uri="{FF2B5EF4-FFF2-40B4-BE49-F238E27FC236}">
                <a16:creationId xmlns:a16="http://schemas.microsoft.com/office/drawing/2014/main" id="{E6055DC1-B0B0-F91F-E131-4210852EE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171700"/>
            <a:ext cx="718661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Use of Digital Speech Processing in Healthcare: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Enabling innovative solutions for patient care and diagnostics.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Telemedicine and Remote Patient Monitoring: Facilitating remote consultations and health monitoring using speech technology.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Speech Therapy and Rehabilitation: Supporting speech and language rehabilitation through interactive tools and feedback systems.</a:t>
            </a:r>
            <a:endParaRPr lang="en-US" altLang="en-US" sz="100"/>
          </a:p>
        </p:txBody>
      </p:sp>
      <p:pic>
        <p:nvPicPr>
          <p:cNvPr id="51207" name="Picture 2">
            <a:extLst>
              <a:ext uri="{FF2B5EF4-FFF2-40B4-BE49-F238E27FC236}">
                <a16:creationId xmlns:a16="http://schemas.microsoft.com/office/drawing/2014/main" id="{2C6B8F3F-A603-8BBB-15A2-4662548CF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25925"/>
            <a:ext cx="55245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61BEA38E-6B4E-2678-9A3D-0D7D7AFCE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08A0665F-3673-24A0-5904-0919EC8E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A33E27-9940-434F-8658-6D2CAF28809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03D03B5-05E7-E3B3-B307-1C1C236F33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Educational Tools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ED64E2DB-6350-FB5B-F7B9-659C60228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Box 2">
            <a:extLst>
              <a:ext uri="{FF2B5EF4-FFF2-40B4-BE49-F238E27FC236}">
                <a16:creationId xmlns:a16="http://schemas.microsoft.com/office/drawing/2014/main" id="{FB2AFBAF-5BD8-FEED-A156-CA8242359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590800"/>
            <a:ext cx="7720012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Role of Speech Technology in Education: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Enhancing learning experiences and accessibility.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Language Learning and Pronunciation Practice: Providing feedback on pronunciation and language skills.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Interactive Learning Platforms: Engaging students with voice-enabled interactive exercises and assessments.</a:t>
            </a:r>
            <a:endParaRPr lang="en-US" altLang="en-US" sz="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C4AD30FC-0DD8-9F85-FEC2-5DF48EB4C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CE463B6D-42A0-7E07-9B68-D70B3105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D42C27-B3F5-4323-A8F5-9D060EC6B8D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BE36B8C-F8D2-8F0A-1675-61ED773400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Automotive Speech Interfaces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07323C1C-2DEE-7C9E-F783-90E65E091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0D89E36A-BAB3-B53B-3865-986EB7F5E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209800"/>
            <a:ext cx="772001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Integration of Speech Technology in Vehicles: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Hands-free controls and voice-activated features for driver convenience and safety.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Hands-Free Controls for Navigation, Entertainment, and Communication: Allowing drivers to operate car systems without manual input.</a:t>
            </a:r>
            <a:endParaRPr lang="en-US" altLang="en-US" sz="100"/>
          </a:p>
        </p:txBody>
      </p:sp>
      <p:pic>
        <p:nvPicPr>
          <p:cNvPr id="55303" name="Picture 2">
            <a:extLst>
              <a:ext uri="{FF2B5EF4-FFF2-40B4-BE49-F238E27FC236}">
                <a16:creationId xmlns:a16="http://schemas.microsoft.com/office/drawing/2014/main" id="{A85772DA-174A-2D1B-2D04-6EBF2CBE6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3962400"/>
            <a:ext cx="4905375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97DDB033-527F-B54B-7F8E-EBC253DB5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57347" name="Slide Number Placeholder 6">
            <a:extLst>
              <a:ext uri="{FF2B5EF4-FFF2-40B4-BE49-F238E27FC236}">
                <a16:creationId xmlns:a16="http://schemas.microsoft.com/office/drawing/2014/main" id="{314474CC-4702-71F7-0607-AACAC2EF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02B8C9-7FD8-4AF0-B3D3-49B5501DD60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pic>
        <p:nvPicPr>
          <p:cNvPr id="57348" name="Picture 3">
            <a:extLst>
              <a:ext uri="{FF2B5EF4-FFF2-40B4-BE49-F238E27FC236}">
                <a16:creationId xmlns:a16="http://schemas.microsoft.com/office/drawing/2014/main" id="{80C467A0-9556-093A-465B-E15D0CE0F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1381</TotalTime>
  <Words>1213</Words>
  <Application>Microsoft Office PowerPoint</Application>
  <PresentationFormat>On-screen Show (4:3)</PresentationFormat>
  <Paragraphs>235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Tahoma</vt:lpstr>
      <vt:lpstr>MS PGothic</vt:lpstr>
      <vt:lpstr>Arial</vt:lpstr>
      <vt:lpstr>Wingdings</vt:lpstr>
      <vt:lpstr>Times New Roman</vt:lpstr>
      <vt:lpstr>Blueprint</vt:lpstr>
      <vt:lpstr>Introduction to Digital Speech Processing</vt:lpstr>
      <vt:lpstr>Contents</vt:lpstr>
      <vt:lpstr>Speech Signal</vt:lpstr>
      <vt:lpstr>The Speech Signal</vt:lpstr>
      <vt:lpstr>The Speech Signal</vt:lpstr>
      <vt:lpstr>The Speech Signal</vt:lpstr>
      <vt:lpstr>The Speech Signal</vt:lpstr>
      <vt:lpstr>The Speech Signal</vt:lpstr>
      <vt:lpstr>The Speech Signal</vt:lpstr>
      <vt:lpstr>The Speech Signal</vt:lpstr>
      <vt:lpstr>The Speech Signal</vt:lpstr>
      <vt:lpstr>Speech Stack</vt:lpstr>
      <vt:lpstr>The Speech Stack</vt:lpstr>
      <vt:lpstr>The Speech Stack</vt:lpstr>
      <vt:lpstr>The Speech Stack</vt:lpstr>
      <vt:lpstr>The Speech Stack</vt:lpstr>
      <vt:lpstr>The Speech Stack</vt:lpstr>
      <vt:lpstr>The Speech Stack</vt:lpstr>
      <vt:lpstr>Applications of DSP</vt:lpstr>
      <vt:lpstr>Applications of DSP</vt:lpstr>
      <vt:lpstr>Applications of DSP</vt:lpstr>
      <vt:lpstr>Applications of DSP</vt:lpstr>
      <vt:lpstr>Applications of DSP</vt:lpstr>
      <vt:lpstr>Applications of DSP</vt:lpstr>
      <vt:lpstr>Applications of DSP</vt:lpstr>
      <vt:lpstr>Applications of DSP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vu.khoi</cp:lastModifiedBy>
  <cp:revision>102</cp:revision>
  <dcterms:created xsi:type="dcterms:W3CDTF">2022-10-28T07:26:15Z</dcterms:created>
  <dcterms:modified xsi:type="dcterms:W3CDTF">2026-05-17T13:43:33Z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