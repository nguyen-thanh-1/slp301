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363" r:id="rId3"/>
    <p:sldId id="449" r:id="rId4"/>
    <p:sldId id="453" r:id="rId5"/>
    <p:sldId id="458" r:id="rId6"/>
    <p:sldId id="459" r:id="rId7"/>
    <p:sldId id="460" r:id="rId8"/>
    <p:sldId id="461" r:id="rId9"/>
    <p:sldId id="462" r:id="rId10"/>
    <p:sldId id="450" r:id="rId11"/>
    <p:sldId id="454" r:id="rId12"/>
    <p:sldId id="463" r:id="rId13"/>
    <p:sldId id="464" r:id="rId14"/>
    <p:sldId id="465" r:id="rId15"/>
    <p:sldId id="466" r:id="rId16"/>
    <p:sldId id="467" r:id="rId17"/>
    <p:sldId id="451" r:id="rId18"/>
    <p:sldId id="455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56" r:id="rId27"/>
    <p:sldId id="457" r:id="rId28"/>
    <p:sldId id="475" r:id="rId29"/>
    <p:sldId id="476" r:id="rId30"/>
    <p:sldId id="477" r:id="rId31"/>
    <p:sldId id="478" r:id="rId32"/>
    <p:sldId id="479" r:id="rId33"/>
    <p:sldId id="480" r:id="rId34"/>
    <p:sldId id="481" r:id="rId35"/>
    <p:sldId id="482" r:id="rId36"/>
    <p:sldId id="347" r:id="rId3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145" d="100"/>
          <a:sy n="145" d="100"/>
        </p:scale>
        <p:origin x="108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338809-D953-94D1-9754-11D8F8D1C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60D7658-0531-EA58-117C-2F8ED94E38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1D5360A-863D-5697-4AA7-A59810F38E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E3809DC-76A2-C1B7-EE0D-0EB62B04AD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81A1F29-67CC-443F-8363-D88C90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CE4AF9-3319-8C3E-4843-6ACC331514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13330-DC16-EC4B-3DFA-D311F7666C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33F0FA-D85F-3D30-DEA4-6BAE68E22F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AF8B5-D074-95AB-A91A-7927878F8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46D5D-DCE0-FE1A-13AF-03D03E30CD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C38221B-9593-FFDE-FE9A-2F9DAF173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C6BAAAC6-C646-422F-865A-3CB97DC27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5BD963B-31A8-E2CB-8F81-0EEBC8A3D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3EE4A-1F56-C3DC-AFFA-1882F884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6A803A6-DEA9-BEC5-9126-4ABFD559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84AD6-AD12-4D1A-ADF9-0742BB71028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31611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040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083274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87045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40968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10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29399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22731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7312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99474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735141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47388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19990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292743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4945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73990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393224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70466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46287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579357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58543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977145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86297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15111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719088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679941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21080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962470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799839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558978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816530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852562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5757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BF9D-1CAD-9CDB-C0CF-13BCE1C17ED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8A5B79-600D-770B-CAB6-12A5D199F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09E70B30-CA00-6BA8-083C-A00541DB027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8DCCA53-F812-0B67-E237-BF2E126B1A2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BB9907D4-8B67-ABB2-6A25-82B218372D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74977C9-7A2B-8F94-DE66-5A322CCC5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420CBAD2-8D75-2592-8F51-F96327ED1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A0A86779-9127-21EB-52A0-B5818A424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6EC6A224-8B2B-38E7-3CDC-3245A0D21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162B50A8-F175-F0D1-63B6-C076387D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3BF02FD9-926D-6A18-37E3-3AFA0F4B1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80AE387-4B4D-2C74-D102-6287DA7EC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6B36E532-5614-B444-C0C7-49411DD25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31C863B-16E2-411E-8BBF-DC31B1634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9773588-FFC9-CAAB-5738-0723DCA89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73A52314-2D74-9198-A6D6-8047C1F0C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DBD03CAF-0BCF-B83E-1C7F-EC2D6816E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B888EEA-9C41-6670-F661-E0DF5609B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68756E8-3BBF-AB45-21D8-1FD837B6DC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FE8BE401-B82F-6266-F755-88126CAE8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E717D8F4-17A3-C507-FA3D-2AB421C58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FCBCE48-0F8B-A384-6B4B-5A62E42D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1088338-752C-8D9B-1C77-C0263920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FE635CE8-F02A-97C3-234A-7704BC0B9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3338E54-4ACC-BB57-FB46-F7A181DA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C8DBA3-A962-2AD7-D640-9A2F6D446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9DAB08E-C07C-F3D7-7D69-E97664983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0DBF8CD-A19B-7273-71D7-E1FE7AC22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B75966A-F0F6-23E9-C08E-F85E0925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2B5C2A31-4650-5576-3164-694B6E2B5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26896B17-2548-D3BC-E2CB-C55B2D552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4BB5DD60-1568-20B9-522C-2652C0756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F950ED97-1420-A567-1B20-508C64FB2C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E575431C-4EBD-7619-E30A-7E4A1D9D9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3B6D6372-285F-E867-1207-37144DC30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D673BBA-3EC0-AEA5-0BC3-61D4DF56F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A3F5B1C-FC65-AC9F-7FD0-04334DF49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C992FDDD-B9FA-E9A4-1919-97492D1CB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B234D90-28D3-2ECD-8543-821C599B4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7EDCD38-160E-7762-3B79-0B27C6BF0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E68FB73D-F6F9-8DC1-4704-BBF1FED98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EFFEB4AC-6F38-B201-C2D3-8E5406CED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CE656A7-7BD6-0C05-8D2F-0053E6C6D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ECBC487-0532-545D-37C2-84DBB3F97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225A15E-0F6F-FA48-F427-8F3531E5D4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5B2B30A-9AD7-D605-8B09-DCFE87195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555DD737-E11D-4C51-70EE-27AC7C37F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EAED3068-F655-ED98-ADF0-6FE7BEBB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03666052-4ADF-8765-DFB0-D3CEA9FE4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520ED50-F65B-D7A4-0845-C503AEE39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DCC8380-F0D2-0A68-F3D4-915801119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9ABAD5D-5F50-843E-83EF-12F5A8DE9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8F852292-6C3C-0B75-C148-7C9241446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1EED364-8DA9-7C7A-0300-DF7EADB35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0AEAABE9-E1A2-18C4-2D04-A556C5B81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84BBF0F-60F1-2551-129A-A30CFFA590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2E4AAC7-5788-A205-88CF-4F2B8FD47B0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0F3B3BD4-0003-4BDA-0BE9-1336D17728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372FDB0-78C5-491E-2F45-C33B8EA596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A024641-F8D9-165D-3888-033E128517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0F633D-C1A9-550B-4733-EB99257DA20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66DAE1-55E7-BD92-6366-7FA050A7F0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3934C55-9380-D92A-741F-B8D9D0DB3EC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1CD5841-9E9C-C21E-74C5-E044FBE9474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961B3C1-09A1-F1F1-6D55-B2576A3E59B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FFCCE934-96A2-F9D0-2F63-CBF36CF5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01EE-FDD7-4DD0-8CE8-EA13B02ED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8A7AA9B-471E-4EE1-8B3E-C81DFA2BD5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22FBD0F-9B1D-F073-5357-468E537DC7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EC72FA63-EEE1-107E-8244-96085DB15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49F9C0F-418B-A591-E7CB-D10DB0923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9EC19F-6F67-0EE0-C410-B690C9D39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22AC6-743D-4A62-8DD6-E89D666BC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08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4F51AC9-32F0-51C8-819C-D7D1351D7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DB377C3-671C-DF66-D3F6-D28CF2E73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73BD7AB-93CA-56CA-5347-0978FA326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9798A-CA2C-4B61-A073-6FA905A8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D968E50-2B68-8C1C-325F-EB8E91084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55669D85-C340-04E5-EF17-B78BCF972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3C79451-4E88-9E97-A6C9-FD8811E30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45755-27E2-46D9-A862-C82E6B591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69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303B33D-ED38-F85D-103C-39A369831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A238568-30E9-98EA-C841-C2038245A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0FF610D-4B49-E672-ECF3-CE73DAEE1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78848-B890-4020-AEA5-CD1823E3C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88EA1A5-F554-A684-87F8-B42F68A1F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86998-D216-E9CB-37BF-DCF43B475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F637E61-01C7-05A6-2447-B345DC4DD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51FA-E5D8-469C-A723-91FE985B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01ACF22-A11D-25EE-DB34-3E66E61DDD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491BC4B-A628-FF35-9CB2-902E26C55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A190FA09-657B-D3A8-5CA9-461A043B3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745D7D6-EB99-4318-ADBE-C94CCD71F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7427DA50-FD75-FE4B-E538-50B2B3AC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DC954FB5-56D5-9104-B9CE-EACC8F35A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835E22B7-E77A-ABA0-D492-1E1D9A07C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C76AF6-EB22-12B9-68E2-67C4F1697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20EDDF3-CEB1-57B2-3803-986BDFD4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817BAF3-F193-E300-DD0A-EE0A7CC68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BB200E5-57B1-449D-E1E5-B782EF4E4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722232C1-D722-EB8E-D850-F8703C6FB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17A9AFB-C3AF-BCE9-3E8A-EE45578A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CD37EE5-14DF-4C9C-0E92-7744CBAF5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85EB9C9-B0EC-6D8F-504D-14E1BC59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20BA0776-71FA-8F75-114F-60892C557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E7EC8B2F-1E55-A5E5-A8BE-D1916AB1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8B45F6C2-9B44-8EC1-076D-C5078E7E2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15A45AB-F4A6-3077-6311-6F3EC5EA7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0E976C64-2463-1A00-874F-FF9B129B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2380B28-DAB3-C87C-26B3-7E74A3AF2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24D99AC-6056-074B-2459-D869B55B5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23C02827-8F9F-8B82-3B1A-EC3EFA7D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071BE3BE-9B15-A252-A022-4F731630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ADEB2AD-C646-4FBB-D3E4-8644CD320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C304B4E-0ECF-71C9-FBD4-248728FF1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24E6F50-A584-99A9-7575-8996F8396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B021655-965F-7834-946F-BF17305D7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A75137A7-EFBC-E262-262D-ECDD4BA7B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5FBEAE-E916-F01C-661C-A3920ADC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A09F0E7-2B38-3FC9-0838-A0D66FD9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828D131-DF33-918E-7687-0D3821606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4EA5A6-2659-98A4-66A7-67298FF6E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8A6CFCF-A471-C32E-ECE7-4F60A565A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9E24D60-5C00-D4DF-7B0C-1907A9B75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950520D2-8632-0F9F-1560-A6200FEC3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6C7CEA-551B-BE8B-D315-938F1F251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400654BE-B422-5C07-8F58-67D804C3A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D478EEE-71C1-6275-0DE5-686061C9D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FF5C9E54-C240-053F-C73E-4C8A3A3F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1C445ADE-C6B5-BA54-ADF1-B4BE07E4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472DAE4-E86F-EEE7-9672-F351FA6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9A8844-B72C-C5C2-1D9C-222C7C9A2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90DD25B-9028-7A5B-BF98-31377A8ED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DD985B4-1F40-BD7E-63FF-B438CF579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D248198-6F0F-AE02-457D-B9A39698B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511DF9E-21FE-1C12-5822-026AA587E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2BB8A8F-55F0-2A90-0258-0CF528604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86023951-E5EF-25A3-4DDA-F5C058124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D45C009-9CCF-BABE-EE52-B6D107912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AB79D75B-DC5C-9FB5-B149-9F0E80F63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5F6B997A-049A-8071-DAC3-B1DD6AA5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7535E12D-4881-CBA8-7AAE-B881C586E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622E829-896E-1F43-9A7D-AF6D78220C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B7B41A9D-6D63-CC55-3757-EC9795D09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A8D41896-970D-3ADC-BDDC-6C22FBB2C0D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B4A5C8-543B-2E53-0E0F-683990AC04C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0AE3F6A8-99F3-7648-6A1E-9ECC99843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9635BCA-58DD-79E3-A148-433301A05B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878C500-21D7-9847-DD3A-AE315E5FE3E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239D3C34-430A-FF55-4521-257D4C89AC2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48B033D0-6B95-C156-10E4-B7E3D8EE8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FBA7DF-E70B-620A-7A70-E94B82B6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F58F68BE-E7F2-5101-B957-4AE2560600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04A2A8A7-AC18-9148-04AD-6FE3C24CFF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441F0AD-35C2-478C-2552-216084899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B4EDF35-4156-4157-8F78-173A9E0C32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1" r:id="rId2"/>
    <p:sldLayoutId id="2147483922" r:id="rId3"/>
    <p:sldLayoutId id="2147483923" r:id="rId4"/>
    <p:sldLayoutId id="2147483924" r:id="rId5"/>
    <p:sldLayoutId id="214748392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98E221-F1E6-A956-CA06-74077F6C68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Algorithms for Estimating Speech Parameters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18B84D7-9F93-BAAC-0C55-21D8D9A7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1AA2BCF-2B9E-5BFB-EA48-573837CF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5030FB-F616-6617-DF9A-CFAF33681C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Median Smoothing and Speech Processing</a:t>
            </a:r>
          </a:p>
          <a:p>
            <a:r>
              <a:rPr lang="en-US" altLang="en-US" sz="2000"/>
              <a:t>Speech-Background/Slience Discrimination</a:t>
            </a:r>
          </a:p>
          <a:p>
            <a:r>
              <a:rPr lang="en-US" altLang="en-US" sz="2000"/>
              <a:t>A Bayesian Approach to Voiced Detection</a:t>
            </a:r>
          </a:p>
          <a:p>
            <a:r>
              <a:rPr lang="en-US" altLang="en-US" sz="2000"/>
              <a:t>Formant Estimation</a:t>
            </a:r>
          </a:p>
          <a:p>
            <a:endParaRPr lang="en-US" altLang="en-US" sz="2000"/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295A456-3B49-F086-5085-0BDBE5E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DAE40-05BD-4BA0-B8F7-A5411AD3F4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63BB578E-D9D5-64B8-929E-B805FCF5C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Median Smoothing and Speech Processing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30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Median Smoothing and Speech Processing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What is Median Smoothing?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Median smoothing is a technique used to remove outliers and reduce signal noise by replacing each data point with the median value of its neighboring points.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1EA5E-F6DA-9AA9-FD22-562B8D75A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86200"/>
            <a:ext cx="7848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Advantages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Preserves edges and sharp transitions better than mean smoothing.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Effective in removing impulse noise and outliers.</a:t>
            </a:r>
          </a:p>
        </p:txBody>
      </p:sp>
    </p:spTree>
    <p:extLst>
      <p:ext uri="{BB962C8B-B14F-4D97-AF65-F5344CB8AC3E}">
        <p14:creationId xmlns:p14="http://schemas.microsoft.com/office/powerpoint/2010/main" val="181395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Median Smoothing and Speech Processing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Median Smoothing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200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Steps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Define a window size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en-US" sz="1800"/>
                  <a:t> (odd number) for the median filter.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Slide the window over the signal.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Replace each data point with the median value of the window..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200150"/>
              </a:xfrm>
              <a:prstGeom prst="rect">
                <a:avLst/>
              </a:prstGeom>
              <a:blipFill>
                <a:blip r:embed="rId4"/>
                <a:stretch>
                  <a:fillRect l="-699" t="-3046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71EA5E-F6DA-9AA9-FD22-562B8D75AC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3886200"/>
                <a:ext cx="7848600" cy="1174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Algorithm Formulation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0" i="1">
                  <a:latin typeface="Cambria Math" panose="020405030504060302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,..,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,..,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altLang="en-US" sz="18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71EA5E-F6DA-9AA9-FD22-562B8D75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886200"/>
                <a:ext cx="7848600" cy="1174232"/>
              </a:xfrm>
              <a:prstGeom prst="rect">
                <a:avLst/>
              </a:prstGeom>
              <a:blipFill>
                <a:blip r:embed="rId5"/>
                <a:stretch>
                  <a:fillRect l="-699" t="-3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65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Median Smoothing and Speech Processing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Explanation of Median Smoothing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200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Steps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Define a window size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en-US" sz="1800"/>
                  <a:t> (odd number) for the median filter.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Slide the window over the signal.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Replace each data point with the median value of the window..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200150"/>
              </a:xfrm>
              <a:prstGeom prst="rect">
                <a:avLst/>
              </a:prstGeom>
              <a:blipFill>
                <a:blip r:embed="rId4"/>
                <a:stretch>
                  <a:fillRect l="-699" t="-3046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71EA5E-F6DA-9AA9-FD22-562B8D75AC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3886200"/>
                <a:ext cx="7848600" cy="1174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Algorithm Formulation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0" i="1">
                  <a:latin typeface="Cambria Math" panose="020405030504060302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,..,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,..,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altLang="en-US" sz="18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71EA5E-F6DA-9AA9-FD22-562B8D75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886200"/>
                <a:ext cx="7848600" cy="1174232"/>
              </a:xfrm>
              <a:prstGeom prst="rect">
                <a:avLst/>
              </a:prstGeom>
              <a:blipFill>
                <a:blip r:embed="rId5"/>
                <a:stretch>
                  <a:fillRect l="-699" t="-3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52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Median Smoothing and Speech Processing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Median Smoothing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200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Objective:</a:t>
                </a:r>
                <a:r>
                  <a:rPr lang="en-US" altLang="en-US" sz="1800"/>
                  <a:t> Implement a function to apply median smoothing on a noisy speech signal. Develop a Python function to perform median smoothing on a given speech signal using a specified window size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Steps: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600"/>
                  <a:t>Define a function median_smoothing(signal, window_size) that accepts a speech signal array and a window size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en-US" sz="1600"/>
                  <a:t>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600"/>
                  <a:t>Iterate through the signal and apply median filtering using a window of size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en-US" sz="1600"/>
                  <a:t>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600"/>
                  <a:t>Replace each data point with the median value of the corresponding window.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600"/>
                  <a:t>Return the smoothed speech signal.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200876"/>
              </a:xfrm>
              <a:prstGeom prst="rect">
                <a:avLst/>
              </a:prstGeom>
              <a:blipFill>
                <a:blip r:embed="rId4"/>
                <a:stretch>
                  <a:fillRect l="-699" t="-1143" r="-777" b="-15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855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Median Smoothing and Speech Processing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Median Smoothing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DF42FA-D1E2-3F14-2196-4EDE10E32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68" y="2286000"/>
            <a:ext cx="6701432" cy="348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2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Median Smoothing and Speech Processing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0BCF13-78DA-53FC-7736-00E161569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Effectiveness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Median smoothing effectively reduces noise and preserves important features in speech signals.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Application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Widely used in speech processing algorithms such as formant estimation, pitch detection, and speech enhancement.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Practical Implementation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Python provides efficient tools (</a:t>
            </a:r>
            <a:r>
              <a:rPr lang="en-US" altLang="en-US" sz="1800">
                <a:highlight>
                  <a:srgbClr val="FFFF00"/>
                </a:highlight>
              </a:rPr>
              <a:t>scipy.signal.medfilt</a:t>
            </a:r>
            <a:r>
              <a:rPr lang="en-US" altLang="en-US" sz="1800"/>
              <a:t>) for implementing median smoothing in speech processing applications.</a:t>
            </a: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3590759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Speech-Background/Slience Discrimination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117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Speech-Background/Slience Discrimination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Importance of Discrimination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Why Discriminate Speech from Background/Silence?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Signal Segmentation: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Discrimination facilitates segmenting audio signals into meaningful parts (speech vs. non-speech), aiding subsequent processing tasks.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Segmented speech allows for targeted analysis and feature extraction.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Enhanced Processing: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By focusing processing efforts on speech segments, algorithms can achieve higher accuracy in tasks like voice activity detection, speech enhancement, and speaker diarization.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Discrimination reduces computational complexity by ignoring non-speech regions.</a:t>
            </a:r>
          </a:p>
        </p:txBody>
      </p:sp>
    </p:spTree>
    <p:extLst>
      <p:ext uri="{BB962C8B-B14F-4D97-AF65-F5344CB8AC3E}">
        <p14:creationId xmlns:p14="http://schemas.microsoft.com/office/powerpoint/2010/main" val="241835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Speech-Background/Slience Discrimination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Discrimination Algorithms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Algorithm 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Features Used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Discrimination algorithms often leverage various signal features, such as energy, spectral content, zero-crossing rate, and statistical properties.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These features provide valuable information for distinguishing speech from background or silence.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Thresholding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A common approach involves setting adaptive or fixed thresholds based on feature analysis.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Thresholds are applied to feature values to classify segments as speech or non-speech.</a:t>
            </a:r>
          </a:p>
        </p:txBody>
      </p:sp>
    </p:spTree>
    <p:extLst>
      <p:ext uri="{BB962C8B-B14F-4D97-AF65-F5344CB8AC3E}">
        <p14:creationId xmlns:p14="http://schemas.microsoft.com/office/powerpoint/2010/main" val="2329806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Speech-Background/Slience Discrimination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Explanation of Discrimination Process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Working Principle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Energy-Based Discrimination: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Speech signals typically exhibit higher energy levels than background noise or silence.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Energy-based thresholds can effectively separate speech segments from non-speech regions based on energy levels.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Spectral Characteristics: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Speech signals exhibit characteristic spectral features (e.g., formants, harmonics) that differ from background noise.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Spectral analysis helps identify these features for discrimination.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Temporal Analysis: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Temporal properties such as duration, onset/offset, and pauses are used to distinguish speech segments from silence or noise intervals.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Patterns in speech timing aid in segmentation.</a:t>
            </a:r>
          </a:p>
        </p:txBody>
      </p:sp>
    </p:spTree>
    <p:extLst>
      <p:ext uri="{BB962C8B-B14F-4D97-AF65-F5344CB8AC3E}">
        <p14:creationId xmlns:p14="http://schemas.microsoft.com/office/powerpoint/2010/main" val="4097179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Speech-Background/Slience Discrimination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8001000" cy="381000"/>
          </a:xfrm>
        </p:spPr>
        <p:txBody>
          <a:bodyPr/>
          <a:lstStyle/>
          <a:p>
            <a:r>
              <a:rPr lang="en-US" altLang="en-US" sz="2000" b="1"/>
              <a:t>Implementing Speech-Background/Silence Discrimination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Objective</a:t>
            </a:r>
            <a:r>
              <a:rPr lang="en-US" altLang="en-US" sz="1800"/>
              <a:t>: Implement a function to discriminate speech from background/silence using energy-based thresholding. Develop a Python function to analyze a speech signal and identify speech segments based on energy thresholds.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Steps</a:t>
            </a:r>
            <a:r>
              <a:rPr lang="en-US" altLang="en-US" sz="1800"/>
              <a:t>: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Define a function speech_detection(signal, threshold) that accepts a speech signal array and an energy threshold value.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Compute the signal's energy using a sliding window approach.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Apply thresholding to identify segments with energy above the threshold as speech segments.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/>
              <a:t>Return indices or segments corresponding to detected speech.</a:t>
            </a:r>
          </a:p>
        </p:txBody>
      </p:sp>
    </p:spTree>
    <p:extLst>
      <p:ext uri="{BB962C8B-B14F-4D97-AF65-F5344CB8AC3E}">
        <p14:creationId xmlns:p14="http://schemas.microsoft.com/office/powerpoint/2010/main" val="323243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Speech-Background/Slience Discrimination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8001000" cy="381000"/>
          </a:xfrm>
        </p:spPr>
        <p:txBody>
          <a:bodyPr/>
          <a:lstStyle/>
          <a:p>
            <a:r>
              <a:rPr lang="en-US" altLang="en-US" sz="2000" b="1"/>
              <a:t>Implementing Speech-Background/Silence Discrimination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28F38C-AA0D-D1C9-A6E0-973F3D384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075" y="2262128"/>
            <a:ext cx="5359525" cy="43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6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Speech-Background/Slience Discrimination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80010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Speech Discrimination: Algorithms for discriminating speech from background or silence are fundamental in speech processing applications.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Feature-Based Analysis: Leveraging signal features such as energy, spectral content, and temporal characteristics enables effective discrimination.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Practical Implementation: Python offers tools for implementing speech discrimination algorithms, facilitating accurate speech analysis and processing.</a:t>
            </a:r>
          </a:p>
        </p:txBody>
      </p:sp>
    </p:spTree>
    <p:extLst>
      <p:ext uri="{BB962C8B-B14F-4D97-AF65-F5344CB8AC3E}">
        <p14:creationId xmlns:p14="http://schemas.microsoft.com/office/powerpoint/2010/main" val="354684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A Bayesian Approach to Voiced Detection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003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Objective: </a:t>
            </a:r>
            <a:r>
              <a:rPr lang="en-US" altLang="en-US" sz="1800"/>
              <a:t>Explore how Bayesian methods can be applied to detect voiced speech segments in speech processing applications.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A78EA7-213C-1E54-AE8C-FEA68511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52800"/>
            <a:ext cx="7848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Motivation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Voiced detection is a critical step in speech processing for speech recognition, speaker diarization, and speech synthesis.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Bayesian inference offers a principled approach to probabilistically model the presence of voiced speech based on observed features.</a:t>
            </a:r>
          </a:p>
        </p:txBody>
      </p:sp>
    </p:spTree>
    <p:extLst>
      <p:ext uri="{BB962C8B-B14F-4D97-AF65-F5344CB8AC3E}">
        <p14:creationId xmlns:p14="http://schemas.microsoft.com/office/powerpoint/2010/main" val="526921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Importance of Voiced Detection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A78EA7-213C-1E54-AE8C-FEA68511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8486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Why Use Bayesian Voiced Detection?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Signal Segmentation: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Accurate voiced detection enables the segmentation of speech signals into phonetically meaningful units (voiced vs. unvoiced) for further analysis.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Parameter Estimation: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Voiced regions provide essential cues for estimating speech parameters such as pitch, formants, and duration.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Speech Synthesis:</a:t>
            </a:r>
          </a:p>
          <a:p>
            <a:pPr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Knowledge of voiced segments is crucial for generating natural-sounding speech with appropriate pitch variations in speech synthesis systems.</a:t>
            </a:r>
          </a:p>
        </p:txBody>
      </p:sp>
    </p:spTree>
    <p:extLst>
      <p:ext uri="{BB962C8B-B14F-4D97-AF65-F5344CB8AC3E}">
        <p14:creationId xmlns:p14="http://schemas.microsoft.com/office/powerpoint/2010/main" val="28298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Bayesian Voiced Detection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A78EA7-213C-1E54-AE8C-FEA68511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848600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Bayesian Framework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Model the probability of a signal segment being voiced or unvoiced using Bayesian inference.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Incorporate prior knowledge (prior probabilities) and likelihoods of observed features given each hypothesis (voiced or unvoiced).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Features Used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Typical features include pitch, energy, harmonics, formants, and spectral characteristics.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These features capture different aspects of the speech signal relevant to voiced detection.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Decision Rule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Apply Bayes' rule to compute posterior probabilities and make decisions based on a threshold or Bayesian classifier.</a:t>
            </a:r>
          </a:p>
        </p:txBody>
      </p:sp>
    </p:spTree>
    <p:extLst>
      <p:ext uri="{BB962C8B-B14F-4D97-AF65-F5344CB8AC3E}">
        <p14:creationId xmlns:p14="http://schemas.microsoft.com/office/powerpoint/2010/main" val="387603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Explanation of Bayesian Voiced Detection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A78EA7-213C-1E54-AE8C-FEA685114C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209800"/>
                <a:ext cx="7848600" cy="4206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Bayesian Inference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Given observed features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600"/>
                  <a:t>, compute the posterior probability of the voiced hypothesis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𝑣𝑜𝑖𝑐𝑒𝑑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 using Bayes' rule: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600" i="1">
                  <a:latin typeface="Cambria Math" panose="02040503050406030204" pitchFamily="18" charset="0"/>
                </a:endParaRP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𝑣𝑜𝑖𝑐𝑒𝑑</m:t>
                      </m:r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𝑣𝑜𝑖𝑐𝑒𝑑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)×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𝑣𝑜𝑖𝑐𝑒𝑑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 ​</m:t>
                      </m:r>
                    </m:oMath>
                  </m:oMathPara>
                </a14:m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Similarly, compute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𝑢𝑛𝑣𝑜𝑖𝑐𝑒𝑑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b="1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Feature Integration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Combine multiple features using statistical models (e.g., Gaussian distributions, neural networks) to estimate likelihoods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𝑣𝑜𝑖𝑐𝑒𝑑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 and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𝑢𝑛𝑣𝑜𝑖𝑐𝑒𝑑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b="1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Decision Making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Classify segments as voiced or unvoiced based on the computed posterior probabilities and a decision rule (e.g., thresholding at 0.5).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A78EA7-213C-1E54-AE8C-FEA685114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209800"/>
                <a:ext cx="7848600" cy="4206023"/>
              </a:xfrm>
              <a:prstGeom prst="rect">
                <a:avLst/>
              </a:prstGeom>
              <a:blipFill>
                <a:blip r:embed="rId4"/>
                <a:stretch>
                  <a:fillRect l="-544" t="-871" r="-1088" b="-8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562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Bayesian Voiced Detection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A78EA7-213C-1E54-AE8C-FEA68511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8486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Objective</a:t>
            </a:r>
            <a:r>
              <a:rPr lang="en-US" altLang="en-US" sz="1800"/>
              <a:t>: Implement a function to perform voiced detection using a Bayesian approach. Develop a Python function to analyze a speech signal and classify segments as voiced or unvoiced based on Bayesian inference.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Steps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Define a function bayesian_voiced_detection(signal, features) that accepts a speech signal array and relevant features.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Compute or extract the required features (e.g., pitch, energy, formants).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Model the likelihood and prior probabilities for voiced and unvoiced segments using Bayesian inference.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Apply a decision rule based on posterior probabilities to classify segments.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874649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Bayesian Voiced Detection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B10D91-B63C-21BF-CB71-49428173B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09800"/>
            <a:ext cx="6296079" cy="417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99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Bayesian Voiced Detection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468A5F-F49B-18D8-F024-4A5ACB377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18117"/>
            <a:ext cx="6285817" cy="311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72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A Bayesian Approach to Voiced Detection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0AE9E0-4A7A-BAD4-240A-1DCCDE076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Bayesian Voiced Detection: Bayesian inference offers a principled approach to discriminating voiced speech segments from background or unvoiced segments.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Feature Integration: Integrating multiple speech features within a Bayesian framework enhances the robustness and accuracy of voiced detection algorithms.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Practical Implementation: Python provides versatile tools for implementing Bayesian voiced detection, facilitating advanced speech analysis and processing.</a:t>
            </a:r>
          </a:p>
        </p:txBody>
      </p:sp>
    </p:spTree>
    <p:extLst>
      <p:ext uri="{BB962C8B-B14F-4D97-AF65-F5344CB8AC3E}">
        <p14:creationId xmlns:p14="http://schemas.microsoft.com/office/powerpoint/2010/main" val="770064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Formant Estimation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828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Objective: </a:t>
            </a:r>
            <a:r>
              <a:rPr lang="en-US" altLang="en-US" sz="1800"/>
              <a:t>Formant estimation is a key task in speech signal processing aimed at identifying and quantifying the resonance frequencies of the vocal tract during speech production.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74C69-638A-3A65-CA0C-D69E3B032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81" y="3628340"/>
            <a:ext cx="78486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Formants are spectral peaks in the speech signal that correspond to the resonant frequencies of the vocal tract.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Estimating formants provides critical information about speech sounds, aiding in phonetic analysis, speech synthesis, and speaker recognition.</a:t>
            </a:r>
          </a:p>
        </p:txBody>
      </p:sp>
    </p:spTree>
    <p:extLst>
      <p:ext uri="{BB962C8B-B14F-4D97-AF65-F5344CB8AC3E}">
        <p14:creationId xmlns:p14="http://schemas.microsoft.com/office/powerpoint/2010/main" val="1800214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Why Estimate Formants?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Speech Analysis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 frequencies convey information about vowel sounds and contribute to distinguishing between different speech sounds (e.g., vowels, consonants).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Analysis of formants helps in understanding the articulatory characteristics of speech.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Speech Synthesis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 synthesis techniques use estimated formant frequencies to generate synthetic speech with natural-sounding characteristics.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Formant-based synthesis allows for control over speech parameters like pitch and timbre.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Speaker Recognition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 patterns are unique to individuals and can be used as speaker identification and verification system features.</a:t>
            </a:r>
          </a:p>
        </p:txBody>
      </p:sp>
    </p:spTree>
    <p:extLst>
      <p:ext uri="{BB962C8B-B14F-4D97-AF65-F5344CB8AC3E}">
        <p14:creationId xmlns:p14="http://schemas.microsoft.com/office/powerpoint/2010/main" val="707935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Formant Estimation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Frequency Analysis: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 estimation involves analyzing the spectral characteristics of speech signals to identify formant frequencies.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b="1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Modeling Vocal Tract: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 vocal tract is modeled as a linear filter with resonances corresponding to formant frequencies.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b="1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Estimation Methods: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Linear Predictive Coding (LPC) models the speech signal and extracts formant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1920195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Formant Estimation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253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Linear Predictive Coding (LPC) Model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LPC model represents a speech signal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 as a linear combination of past samples using an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600"/>
                  <a:t>-th order prediction filter</a:t>
                </a: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600" b="0" i="1">
                  <a:latin typeface="Cambria Math" panose="02040503050406030204" pitchFamily="18" charset="0"/>
                </a:endParaRP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en-US" sz="1600"/>
              </a:p>
              <a:p>
                <a:pPr marL="1428750" lvl="2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200" i="1">
                  <a:latin typeface="Cambria Math" panose="02040503050406030204" pitchFamily="18" charset="0"/>
                </a:endParaRPr>
              </a:p>
              <a:p>
                <a:pPr marL="1428750" lvl="2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200"/>
                  <a:t> is the speech signal at time nn,</a:t>
                </a:r>
              </a:p>
              <a:p>
                <a:pPr marL="1428750" lvl="2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200"/>
                  <a:t> are the LPC coefficients (reflection coefficients),</a:t>
                </a:r>
              </a:p>
              <a:p>
                <a:pPr marL="1428750" lvl="2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200"/>
                  <a:t> is the model order (number of coefficients),</a:t>
                </a:r>
              </a:p>
              <a:p>
                <a:pPr marL="1428750" lvl="2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200"/>
                  <a:t> is the prediction residual.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LPC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/>
                  <a:t>are computed using the autocorrelation method or the covariance method to minimize the prediction error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253711"/>
              </a:xfrm>
              <a:prstGeom prst="rect">
                <a:avLst/>
              </a:prstGeom>
              <a:blipFill>
                <a:blip r:embed="rId4"/>
                <a:stretch>
                  <a:fillRect l="-544" t="-1124" r="-1166" b="-13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810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Formant Estimation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692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Formant Estimation from LPC Coefficients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formant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1600"/>
                  <a:t> are derived from the roots (poles) of the LPC prediction filter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/>
                  <a:t>: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6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en-US" sz="1600" i="1" smtClean="0">
                          <a:latin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1600" b="0" i="0" smtClean="0">
                          <a:latin typeface="Cambria Math" panose="02040503050406030204" pitchFamily="18" charset="0"/>
                        </a:rPr>
                        <m:t>+ ..+</m:t>
                      </m:r>
                      <m:r>
                        <a:rPr lang="en-US" alt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p>
                        <m:sSupPr>
                          <m:ctrlPr>
                            <a:rPr lang="en-US" alt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formant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1600"/>
                  <a:t> are calculated from the pole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1600"/>
                  <a:t>​ (angular frequencies) using the relationship: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/>
                  <a:t>Sampling Rate,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/>
                  <a:t>​is the angle of the pole in radians..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692468"/>
              </a:xfrm>
              <a:prstGeom prst="rect">
                <a:avLst/>
              </a:prstGeom>
              <a:blipFill>
                <a:blip r:embed="rId4"/>
                <a:stretch>
                  <a:fillRect l="-544" t="-13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246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Explanation of Formant Estimation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Working Principle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b="1"/>
              <a:t>Peak Detection</a:t>
            </a:r>
          </a:p>
          <a:p>
            <a:pPr marL="1428750"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Formants manifest as spectral peaks in the frequency domain representation of speech signals.</a:t>
            </a:r>
          </a:p>
          <a:p>
            <a:pPr marL="1428750"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Algorithms detect and localize these peaks to estimate formant frequencies.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600"/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b="1"/>
              <a:t>Model-Based Approach</a:t>
            </a:r>
            <a:endParaRPr lang="en-US" altLang="en-US" sz="1600"/>
          </a:p>
          <a:p>
            <a:pPr marL="1428750"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LPC analysis models the speech signal as a linear combination of past samples, revealing the vocal tract’s filter coefficients.</a:t>
            </a:r>
          </a:p>
          <a:p>
            <a:pPr marL="1428750"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Formant frequencies are derived from the poles of the LPC filter.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600"/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b="1"/>
              <a:t>Frequency Domain Analysis</a:t>
            </a:r>
            <a:endParaRPr lang="en-US" altLang="en-US" sz="1600"/>
          </a:p>
          <a:p>
            <a:pPr marL="1428750" lvl="2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Spectral analysis techniques such as Fast Fourier Transform (FFT) or Linear Prediction help visualize and analyze energy distribution in different frequency bands, highlighting formants.</a:t>
            </a:r>
          </a:p>
        </p:txBody>
      </p:sp>
    </p:spTree>
    <p:extLst>
      <p:ext uri="{BB962C8B-B14F-4D97-AF65-F5344CB8AC3E}">
        <p14:creationId xmlns:p14="http://schemas.microsoft.com/office/powerpoint/2010/main" val="2453685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Formant Estimation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Objective</a:t>
            </a:r>
            <a:r>
              <a:rPr lang="en-US" altLang="en-US" sz="1800"/>
              <a:t>: Develop a function to estimate formants from a given speech signal using LPC analysis. Implement a Python function to estimate formants from a speech signal using LPC analysis.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800" b="1"/>
              <a:t>Steps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/>
              <a:t>Preprocess the speech signal (e.g., apply pre-emphasis, windowing).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endParaRPr lang="en-US" altLang="en-US" sz="1600"/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/>
              <a:t>Apply LPC analysis to compute linear prediction coefficients.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endParaRPr lang="en-US" altLang="en-US" sz="1600"/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/>
              <a:t>Convert LPC coefficients to the frequency domain to identify formant frequencies (poles of the LPC filter).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endParaRPr lang="en-US" altLang="en-US" sz="1600"/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600"/>
              <a:t>Extract and return the dominant formant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803401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Implementing Formant Estimation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0B667B-6B1B-7460-DBC0-E9CB55524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169781"/>
            <a:ext cx="5028395" cy="43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24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Formant Estimation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049BAA-16FD-D594-8367-F7B4362B0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Formant Estimation: Estimating formant frequencies is crucial for speech analysis, synthesis, and speaker recognition.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Algorithmic Techniques: Signal processing techniques like LPC analysis are effective for formant estimation.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Practical Implementation: Python provides tools to implement formant estimation algorithms, enabling advanced speech parameter analysis.</a:t>
            </a: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3876970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C62E08C-C8B1-4633-D085-1F570E4C6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9875" name="Slide Number Placeholder 6">
            <a:extLst>
              <a:ext uri="{FF2B5EF4-FFF2-40B4-BE49-F238E27FC236}">
                <a16:creationId xmlns:a16="http://schemas.microsoft.com/office/drawing/2014/main" id="{89337DEC-FDB4-3202-1B3A-95A1E64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1EC34-4426-4967-85B1-0430E653E9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F769647B-93E8-A6AE-7F94-FA05521B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5142</TotalTime>
  <Words>2138</Words>
  <Application>Microsoft Office PowerPoint</Application>
  <PresentationFormat>On-screen Show (4:3)</PresentationFormat>
  <Paragraphs>324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Cambria Math</vt:lpstr>
      <vt:lpstr>Tahoma</vt:lpstr>
      <vt:lpstr>Times New Roman</vt:lpstr>
      <vt:lpstr>Wingdings</vt:lpstr>
      <vt:lpstr>Blueprint</vt:lpstr>
      <vt:lpstr>Algorithms for Estimating Speech Parameters</vt:lpstr>
      <vt:lpstr>Contents</vt:lpstr>
      <vt:lpstr>Median Smoothing and Speech Processing</vt:lpstr>
      <vt:lpstr>Median Smoothing and Speech Processing</vt:lpstr>
      <vt:lpstr>Median Smoothing and Speech Processing</vt:lpstr>
      <vt:lpstr>Median Smoothing and Speech Processing</vt:lpstr>
      <vt:lpstr>Median Smoothing and Speech Processing</vt:lpstr>
      <vt:lpstr>Median Smoothing and Speech Processing</vt:lpstr>
      <vt:lpstr>Median Smoothing and Speech Processing</vt:lpstr>
      <vt:lpstr>Speech-Background/Slience Discrimination</vt:lpstr>
      <vt:lpstr>Speech-Background/Slience Discrimination</vt:lpstr>
      <vt:lpstr>Speech-Background/Slience Discrimination</vt:lpstr>
      <vt:lpstr>Speech-Background/Slience Discrimination</vt:lpstr>
      <vt:lpstr>Speech-Background/Slience Discrimination</vt:lpstr>
      <vt:lpstr>Speech-Background/Slience Discrimination</vt:lpstr>
      <vt:lpstr>Speech-Background/Slience Discrimination</vt:lpstr>
      <vt:lpstr>A Bayesian Approach to Voiced Detection</vt:lpstr>
      <vt:lpstr>A Bayesian Approach to Voiced Detection</vt:lpstr>
      <vt:lpstr>A Bayesian Approach to Voiced Detection</vt:lpstr>
      <vt:lpstr>A Bayesian Approach to Voiced Detection</vt:lpstr>
      <vt:lpstr>A Bayesian Approach to Voiced Detection</vt:lpstr>
      <vt:lpstr>A Bayesian Approach to Voiced Detection</vt:lpstr>
      <vt:lpstr>A Bayesian Approach to Voiced Detection</vt:lpstr>
      <vt:lpstr>A Bayesian Approach to Voiced Detection</vt:lpstr>
      <vt:lpstr>A Bayesian Approach to Voiced Detection</vt:lpstr>
      <vt:lpstr>Formant Estimation</vt:lpstr>
      <vt:lpstr>Formant Estimation</vt:lpstr>
      <vt:lpstr>Formant Estimation</vt:lpstr>
      <vt:lpstr>Formant Estimation</vt:lpstr>
      <vt:lpstr>Formant Estimation</vt:lpstr>
      <vt:lpstr>Formant Estimation</vt:lpstr>
      <vt:lpstr>Formant Estimation</vt:lpstr>
      <vt:lpstr>Formant Estimation</vt:lpstr>
      <vt:lpstr>Formant Estimation</vt:lpstr>
      <vt:lpstr>Formant Estimation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283</cp:revision>
  <dcterms:created xsi:type="dcterms:W3CDTF">2022-10-28T07:26:15Z</dcterms:created>
  <dcterms:modified xsi:type="dcterms:W3CDTF">2024-05-16T15:57:48Z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