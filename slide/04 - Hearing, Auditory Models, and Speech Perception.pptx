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256" r:id="rId2"/>
    <p:sldId id="363" r:id="rId3"/>
    <p:sldId id="376" r:id="rId4"/>
    <p:sldId id="439" r:id="rId5"/>
    <p:sldId id="440" r:id="rId6"/>
    <p:sldId id="441" r:id="rId7"/>
    <p:sldId id="425" r:id="rId8"/>
    <p:sldId id="442" r:id="rId9"/>
    <p:sldId id="444" r:id="rId10"/>
    <p:sldId id="446" r:id="rId11"/>
    <p:sldId id="445" r:id="rId12"/>
    <p:sldId id="447" r:id="rId13"/>
    <p:sldId id="448" r:id="rId14"/>
    <p:sldId id="449" r:id="rId15"/>
    <p:sldId id="450" r:id="rId16"/>
    <p:sldId id="451" r:id="rId17"/>
    <p:sldId id="426" r:id="rId18"/>
    <p:sldId id="452" r:id="rId19"/>
    <p:sldId id="453" r:id="rId20"/>
    <p:sldId id="454" r:id="rId21"/>
    <p:sldId id="455" r:id="rId22"/>
    <p:sldId id="456" r:id="rId23"/>
    <p:sldId id="457" r:id="rId24"/>
    <p:sldId id="458" r:id="rId25"/>
    <p:sldId id="459" r:id="rId26"/>
    <p:sldId id="347" r:id="rId2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88" d="100"/>
          <a:sy n="88" d="100"/>
        </p:scale>
        <p:origin x="2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D6BE4F2-A1DC-E543-C547-A158778A78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47D4AB-6140-50D4-0E58-5625E3A1CA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C6F80C8B-E3BF-0CB1-B9A4-2AC6736BE75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AF160494-AB2D-F48B-7F12-48C67B0523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729C91DE-93DE-4BB2-BF56-BDF807947C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FBB2BA0-7619-366B-594F-EFECB82B99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39612D1-0D92-0C10-DA83-1D64CB6F10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C4F696D-5F79-AB98-66B3-0816335F0D8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F1291F9-A60A-AC49-AC5A-0AD05F86780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1E667E4-CF31-F33B-7EFA-672DE66DF7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ABCEFA-CEC6-61F9-0E7B-896DBD2C07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517E3B75-9751-421F-8AB3-F79357E3C5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CC880C26-0DEA-BA6B-4177-471D0F2E96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397ADE84-5CC3-2166-0A10-EA07A18B1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D315181-A979-6C4F-9007-2ADBD455C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DE03AAA-1F31-42CE-AE64-2A729884E15A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A8CBF318-B007-B05F-75D9-4B330693B5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1713AF0F-A022-1D15-115E-260D0A0F1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4E66DA83-23AA-3C1F-336C-C4A843F94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A5691A-A34D-4B33-A21A-6F3B6FF16DEE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616EAE25-155B-A857-8301-3C9FE1C5D1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63E23F7F-87B0-8214-8D94-CB1F031D7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5949503-6412-3752-250B-585802185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5EED87-11CD-46D6-A118-0AFC355232A3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0AB581BA-98B3-6066-BCE2-9CC3C66570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690282DD-0953-92CD-19AE-79478C4CE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C655A7E8-9ECB-9701-7719-347311268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5B0FA5-B2F6-4D83-96FA-E9449169BCE0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2E43D21-189F-5F17-6514-498542733C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0315E68-A2BA-5F72-9441-D31EE8B3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538F50E-189E-AE96-D41F-2658DB76E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40A7A0-8692-4434-AD05-E4620144B37B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03A1EA2F-6425-1644-15D4-64FFDCCAE9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3E42B7F4-7EC3-C18B-9705-355AF6256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7AF27BCA-CE9E-7A3A-723B-BA38C6DBD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06E970-3881-41A4-8398-32B40448BB18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849E42B7-B934-7A25-9966-C32E725AED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37B5C158-D5A3-F754-3B17-DA9304F84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DC670ED1-97AB-A7DC-F4B6-F0DD355B5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EE62B6-0699-4207-B165-64C7B1BACDD7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B61FB331-216D-7029-E3D0-9EF7459C2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774B877-32A6-B740-8BEE-07CA4232E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808AF84D-6EE5-E5A1-8C41-D16059B64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AE40A5-2A74-46A7-AB7E-6BB8A6D698D7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2E9AFB8E-E05C-0B41-C501-EE63B0B760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C35D3BC3-A063-8EE7-9A0A-BE6AF3D40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80A7C17-8140-7875-355F-98A1E3FCE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E048ED-BBD6-40B5-9919-EAB4FA8C18B6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37F9DF4A-3E46-89BD-7DBF-C462B8DD02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5E2DA042-BB0F-8060-4405-D12B74999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9B8BC96B-ECEF-812E-A68B-87D8C9E2C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2A1C74-D38B-41FE-B9BC-10D50BBE3C3C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EC60FDDF-4730-DA1A-6E79-A383A80B8A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F9A0C92D-6197-6B70-BB48-9CB32B171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3F7CEAF7-2A54-CEC7-E85D-45258E6DB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301179-9FE4-48D5-9057-0C74BFA07215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19E978B2-3890-8A0E-49AC-7F5828D30A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1B8761B9-870B-F15F-B86C-CDBCB78E2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B7378857-C3A9-1157-A8EF-947D83B34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505BB2-CA00-4FF4-83D0-964EB7588167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09581606-0359-BF0B-D112-BF06242A8A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0120D70A-9E28-EF41-D4E3-2AF8E1239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62419194-FD7B-435F-650B-4A2E661AA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9DD9A9-F855-469F-B67A-EADD2F4DA9DC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1BFFDB0E-FE8C-7324-6250-0F67D84732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F66DFCCF-0180-34A4-ADEB-D6CDCFDF3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DDEE7178-20CD-2555-642B-49042BAED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1D3F75-5196-4C91-A752-93660BCD2988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33B781F1-2BE1-B27A-071E-5FECEACAED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F4997D86-6655-ED3D-5639-983201854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2B0EE4F6-801F-A9E3-80C4-81934CF12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BEC90B-A271-41F9-BED2-6B37DA697B91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7E03CE0D-CFA5-A6E2-6B7B-E1978908D4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7330EBE8-470B-C854-76B4-4176B74EF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F6548866-998D-1945-68C8-8A03BC3A2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CE050D-1516-4A80-ACEA-8042B5F2FAC2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3A337AB0-6443-A377-772C-562242ACBE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667ADC16-0BBF-F754-0F89-897BC1AAD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C6CC5668-F7F7-3B23-9E4E-BFD8A7502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4C4BD6-C220-403A-BC2A-86D68F89A7D4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D6E502F0-8CC2-FD4F-AFCE-ED55D5E440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BA53A08E-EF23-96D9-2B89-AA54DD7A0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9DCE0405-5935-CC89-CF49-0BB2EFB26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B70A70-4780-4865-AEAF-BD8F437A4BDA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24D47255-A646-0802-072C-676CD1BC02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F0BA0D02-14A0-1C91-FEB9-274E95D0A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8A3ACFC5-74EB-99AA-AE2C-48FBE2C8D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30CA7B-D9FD-40E8-85EA-1F65D5078023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4FF43DE2-C196-298B-047A-3F3DDCF8F2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EF8E2353-E171-8332-F8B1-06668490C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BB4134A2-D74D-CB31-E906-2C6DDBBE0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E2FE3C-28B2-48DA-B48C-14EACA857498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A51C621B-AA99-4E67-C54D-7884CC0732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652996BF-9235-ED4F-579C-6B60B21B8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ADF48454-AC2F-2D85-3D9C-0EA5B7B38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D146D3-C4E9-4CC9-BACC-2F1F9312B5D0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CB2E6BCA-7612-AC22-C25C-4765E90256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A59E1C62-3BA9-FE4E-C248-BE88E2A12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A43C3840-809A-782A-8057-BEE8D8352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F3C3C-4B0B-423A-B46D-14E12410B12A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440A354D-1D75-E60D-F79B-FC5F41AD1A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31231432-3BE2-71C2-E3E7-92DF85A74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C610855B-BB3E-10D6-1A27-526A51804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EC40F7-ABEE-4F9D-9938-056837B04C09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6316DF1B-7329-5BD3-12C0-46D1CB93DE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86DA256E-0E98-0ABC-622F-C8298223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2B6A13DD-447F-A934-197D-0F2AA8208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F6A2C1-2921-4E9E-BAAD-53B9ED790739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834606-2171-1C29-59AF-5081BBEDDE5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8698FFB-8CA8-D407-5F6B-65C841A61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6A654AF2-2E8C-BA67-44A1-CC3D4BA536DD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A9A9050A-D751-E490-38C5-2BE98875978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F22975C0-0634-AD73-AFF4-C9BCB683D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8768A9D7-DED6-1A30-A830-17B9DD2158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FE788EAC-FDCC-026E-1931-EF35411714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E523AE8D-9A8B-86A7-94D3-126BFC3234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C6326DEF-B4E7-9D56-6D42-D79B6C6E5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E33D466D-D87A-F975-ED7B-0A385DD0AD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5F9ACD3C-F1C1-9944-7F51-5DE5CE3116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12FC505E-6C1C-A72A-45E1-5C096AAD36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F383299A-1AA2-C264-5805-59C879D20F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C9FA163A-892D-EBAD-5752-9AD4F2712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031401C9-9EF8-A5FB-586A-1F06BA288B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5758D490-198D-3679-69EF-63850B3E87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440E9B28-84F6-6952-5E75-0C3EE6ACD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9409DF5D-3ACB-25F5-8668-B764CA6972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CA3F1BAA-E028-A897-E0E5-E2A62B8D7B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7F20D306-0026-550B-B02F-9F16030CA2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686A39CD-73AB-F22B-6789-C608D47D12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08135D22-5AC9-B36A-3965-662ED9F794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4FD95558-FA3E-F80B-332B-23ACC11A2D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63116229-0D10-AD97-B39C-67E0A49EF3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378B1383-3249-F380-EEE4-15D318BDFC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CD7275FC-E47F-A5F0-F8ED-783F31234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AABDFAD9-EE63-2359-25EB-6ED925D6B3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2EB05D3F-EE18-BBFF-2704-8E5AD652DE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0E9C996B-E457-437A-A809-592D178B0E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8A3A43EB-9BDF-66B1-6968-6747B17108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F13A212C-3AF8-0B0D-AF44-8CB7551A8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D4FE0055-B8E2-B4C0-367E-F761F77D37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86324271-6CBC-C576-B4C1-707A849090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2A58B897-EBB1-B955-7968-1A4B03DE52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D5C57C28-473A-F5DB-76B0-08BC645FE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6B9733C3-42F7-3C0C-F998-62C60F1109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4F852B98-EFB5-F0CA-FB5F-58B1D591FA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E36AA975-ECA5-8F25-F4CB-EA84BD4246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A11A2A67-E86B-45FE-4DE6-36393A82D9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3585FA8B-9087-1599-3426-F57CF27F0A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A317A069-6878-04B6-4F34-169427A53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914520EC-DC2D-4976-327A-B898AF4A0F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8BB9A58F-8298-9996-D852-D6AAAD64BF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4A59171A-283F-CBF0-ADAE-923863BD4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41EF6D65-A62F-EE84-2AA7-281033B24A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F17CB258-3298-DF4D-DD7D-A4616CF96A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D6220B35-4088-0EA6-D98C-050FEDAA49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3E5D44B3-BCF5-5F47-42AE-F3416811EC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3FE01164-917D-B40A-88AA-8F7DF07191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C9BF5DFF-C217-D085-796A-03A95EEEBD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4B7B66F6-BA2C-F9BC-C01B-65E062241B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30E76383-5E74-BD63-25A6-143AAF40BD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CA21E50F-785D-8C8E-EDB3-BC36653DF7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4956FC6C-5B19-C156-1B5B-2C7FB87011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52010384-3EF4-E9FC-2613-05FDAA3D71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0913181D-4E6B-75A6-FE00-A5E69C3BF3D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AE039294-9578-7F28-4AD6-AEC7AD12CEE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BB732008-D62C-8E61-5967-CE7D5E801A7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EACED27B-BC2F-97D6-F3F5-22CE7A27E3E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D45F7B8E-04B2-4F39-CB69-A607B705D0C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43324D2A-FBB4-5884-016B-3BA425EEA4E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E63C61D4-D661-61C8-D9D3-8B44810E7A1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01944374-5E11-6652-DCB5-48A43123A18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6B462409-EA06-1C96-049C-F6B56D9D5DA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9A855990-6E6D-EBFB-8A9E-1B8D2189B5DE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22DE0109-36BD-4A35-DCF7-D2FC56695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0FEE1-3E39-4F2A-B699-DA4B504716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933BB3C6-DDA1-391A-C223-862E0B7C489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1D8F9347-8C4F-AA86-7E79-7A5474EE4E4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10613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61B58578-2415-2A38-D669-B780F1FE84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136E3B98-DE61-1D17-870C-52C0854764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4F1D4359-ED65-497F-A027-B2F878BEA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54491F-7818-4013-A7A1-D5F0054C6B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61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011EAEE6-1736-0AD1-AC54-741C647B9F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CE4623D7-152A-9146-DC95-3419FA1311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6099C43B-154B-E9CB-6263-BAA54729EF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D8086-F31E-41B3-8E53-9F29D9D91E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959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194695F7-2A97-8C65-0875-CB87A3C243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9B99EBAF-FE82-51BB-0E77-B06FD34807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35E20A36-BC8B-A6B0-BD14-464966FD43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C2810-A994-4BC6-9C5D-08F4B4CC0E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76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E162E7A2-F32A-B2A7-1971-4EB3391270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E50A08F7-769D-8C72-E244-B3B38EDC4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2424D891-5BB9-46FD-E9A4-61CF1B0501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21BEE-A0E9-43EF-9EA6-D9C63473B0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87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B961CDD2-5D7E-531F-4951-16EB0115C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8A03A068-146E-4CA9-62BA-A18D5AFC39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97AA79E4-F46A-B4DB-32DF-CB80FE62AD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67598-BA68-4DCD-AA25-A8ED927CF2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367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88E52290-50F3-38BB-7268-0B1EC513483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FD1EA3CE-ACBA-6307-A1A0-3392CD9D75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0ADFAAB0-6076-522B-563A-C34B8151EC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A6A70B47-69B8-1464-9A82-0891CC056F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4F9AD2C7-B088-5B9C-B20B-B7A563669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8FB99ED9-464B-086D-9728-409E5E76B1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762D487D-E35C-5F5C-6EBE-25003AD6DF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D12BF1F1-0D29-FC3B-C398-68FDEBDB52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876581A7-2705-9C87-E289-4EA060F213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794B6FC0-09A1-314E-C148-94B11BEBE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4B04E906-0108-D1E7-0E77-7328A2DA2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E8045339-766C-CAEC-4829-D64180937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4A278976-7415-0699-3DC0-2423911DB3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CCD5CFC1-1982-E37A-D513-B26A0AC670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736BCCE8-48ED-2FF9-F2D9-29B9A70D06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831AA3BC-8D33-A3DF-CC2A-7318C07C7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16593CBC-F153-087E-175D-474A271B8C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6136E390-72D8-5703-9912-64815D1FB2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E96233BD-F388-F584-4BE6-97F879A9B7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57FF022E-BD10-B119-4AA5-E9474C429B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546CF1BD-6679-AD69-CF3B-FAAD479951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0E68BFB5-6298-1B1C-3813-5F2B5E97C3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40E66FAE-8A48-3990-1C41-AEAEBE9662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ACFFABE1-5B09-0321-5DAD-613B1A962B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4C8730E7-E678-B7ED-70B8-00DD0227BE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BF2044B0-97CD-67A8-F28E-6059D8DAEA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BB58BD16-96CB-1E23-DD15-AB5989BD8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4B6240F5-C7A6-0F4E-1AE9-97D8A31D12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BDFF3C94-A0B6-94D9-4A2F-43052837ED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CBD8C02-DF00-255B-172E-40BC6FAA63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6E8F99D7-03CF-3EB2-D09C-8A4BAA5DF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82A04EA0-3E81-786F-E5A1-D8F4028872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83E62491-CE98-6154-B193-F8E06F0520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7F34AF9A-B1C0-5A4E-A0BE-6F94E5CD19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A63A03E5-A139-AB16-D990-C0174D2462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C42AB05C-E933-507B-4D20-9DE5A80E02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18B9A798-CE5A-3A52-0AFA-DE2F44CD9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5E142FA5-9FA3-40EB-EE91-F746D1D52F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578D09A6-E90B-93AA-A32A-AE93F28084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9E6A78DB-3DBF-E8C9-251D-FEB97CD74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C50A6DA6-FD71-1D24-B340-A69412DD34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29E854E8-CEBD-A870-1179-CBF411D0EB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95710A2A-6DD3-0B3F-2261-D3382182A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641A509B-24FF-0E84-F411-227BF3A695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9F2E8E48-323A-B65E-20D9-9A7CB0A9C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82864A13-8B43-D299-55D1-97302B81F8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3F74DE0F-AF0E-89F4-A417-A4695514A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ED770A39-7329-EA0E-9A3D-08EAAFBAB5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C307AD35-E9DE-8FF8-5A58-6D79CF42F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E73DA376-CD9E-1EAD-CD48-B4F908425F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DD6D3500-1B1B-B16E-A192-03AA18501E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9F849F27-3FDA-649A-E392-8C5399071D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23051976-49E1-F3BF-BF41-537C4D6E42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179F7B45-E51F-1A61-FBF7-4FD80BC558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AAB52427-C9AE-CAA7-DD40-21E37A91F8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D85AA795-215A-5524-A3A0-5A05653F2E8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1C514E07-B8EF-C36F-4F32-EE44FC8927DB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921629A8-F8AA-4255-4FC5-3F57D06F49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D60574AF-3A1F-CABC-B7AA-0A5CA7CF40A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6DC1461B-630B-1F8C-1A37-C5B53D082FD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CFA42F58-9F63-ACA7-6D99-7C46554D305F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FEA5D00E-67BF-F630-7EDD-19DB3E6BF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5147FFE-0E5D-8603-D388-BEFFE6988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5C5431D3-F7A7-7800-A3FD-7180DADB3A3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3A1E62FF-620B-02D1-E620-3771660FAB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9578EED9-FE47-3CB7-EE88-56241F941C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E72C875-C262-49BD-9656-1CE35A9320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0" r:id="rId2"/>
    <p:sldLayoutId id="2147483901" r:id="rId3"/>
    <p:sldLayoutId id="2147483902" r:id="rId4"/>
    <p:sldLayoutId id="2147483903" r:id="rId5"/>
    <p:sldLayoutId id="214748390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B4B2A45-A8DF-7416-74C5-332CB27DE7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Human Speech Production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7FC5B148-5ED4-DB5C-1B1C-2E2A9414D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E0116654-95ED-73BB-3DD4-277B30ED7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6FBDD84-314F-3195-6AF9-0B8A531B05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Hearing</a:t>
            </a:r>
          </a:p>
          <a:p>
            <a:r>
              <a:rPr lang="en-US" altLang="en-US" sz="2000"/>
              <a:t>Auditory Models</a:t>
            </a:r>
          </a:p>
          <a:p>
            <a:r>
              <a:rPr lang="en-US" altLang="en-US" sz="2000"/>
              <a:t>Speech Perception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6DF897AF-1CA8-7867-99F2-0D3FDF62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2587EB-718A-4897-80B2-FCB3932096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524AB388-10D4-6692-A5EE-BA836AD4C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FEA2261-0A3E-90E9-AAC1-0FD3C9F2F8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Hearing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B01315F4-5788-F989-F84A-756C1D77A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DED00C4-2205-3E4F-7C28-4F0F5B33E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Hearing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6485B57A-8B63-F44A-7AC5-CCAEB1F3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655DD2-1DBF-4671-8F89-9F17294B445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36C3354-1106-B1AF-5D2A-5D55086D46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Human Hearing Mechanism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ED4B408A-5395-4178-559E-A4B06D280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4920600C-4E04-E7DB-C261-5FCF23A61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Anatomy of the Auditory System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auditory system includes the outer ear (pinna), middle ear (eardrum and ossicles), inner ear (cochlea), and auditory nerve pathway to the brain.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cochlea plays a crucial role in transforming sound vibrations into neural signals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Acoustic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brain processes auditory signals through complex neural networks, distinguishing speech sounds based on frequency, intensity, and temporal patterns.</a:t>
            </a:r>
            <a:endParaRPr lang="en-US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3D8C868-8E57-D7EF-3F76-FB27F1F58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Hearing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DC317D2C-4D55-3C5F-8D94-7D5FA5BC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3A9B3C-EBEF-4F79-BF9B-D6788034EAF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1C8085-04AB-37CF-4DD7-D04DD0FECB3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Perception in Humans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C01F39AD-48A3-91F8-DB2A-A7FB9F883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37ACDFAF-C93D-48F3-300B-B273BE99B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62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Speech Processing Pathway: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Incoming speech signals are processed through the auditory cortex, where phonemes (distinct speech sounds) are identified and assembled into words and sentences.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Higher-level cognitive processes integrate linguistic context, semantics, and prior knowledge to comprehend spoken language.</a:t>
            </a:r>
            <a:endParaRPr lang="vi-VN" altLang="en-US" sz="1600"/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Cognitive Factors: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vi-VN" altLang="en-US" sz="1600"/>
              <a:t>Attention</a:t>
            </a:r>
            <a:r>
              <a:rPr lang="en-US" altLang="en-US" sz="1600"/>
              <a:t>, memory, and language proficiency influence how humans perceive and understand speech.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2C7A6DE-2EB9-1F7E-98CE-B8C746FA4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Hearing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0B9BBF9D-D373-B59F-D861-580FE98C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35183A-4276-487B-A08A-C3927BCF77B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0D9E139-CAA8-3F20-A078-788835BDBD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Perception in Humans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94E611DD-725B-EA2E-6578-84CE75DE3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121D09C7-2B0E-F53B-4332-F8DFD69C6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62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Speech Processing Pathway: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Incoming speech signals are processed through the auditory cortex, where phonemes (distinct speech sounds) are identified and assembled into words and sentences.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Higher-level cognitive processes integrate linguistic context, semantics, and prior knowledge to comprehend spoken language.</a:t>
            </a:r>
            <a:endParaRPr lang="vi-VN" altLang="en-US" sz="1600"/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Cognitive Factors: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vi-VN" altLang="en-US" sz="1600"/>
              <a:t>Attention</a:t>
            </a:r>
            <a:r>
              <a:rPr lang="en-US" altLang="en-US" sz="1600"/>
              <a:t>, memory, and language proficiency influence how humans perceive and understand speech.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3260364-E9F2-4416-1DCA-F70AB9C0AC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Auditory Models</a:t>
            </a:r>
          </a:p>
        </p:txBody>
      </p:sp>
      <p:pic>
        <p:nvPicPr>
          <p:cNvPr id="16387" name="Picture 3">
            <a:extLst>
              <a:ext uri="{FF2B5EF4-FFF2-40B4-BE49-F238E27FC236}">
                <a16:creationId xmlns:a16="http://schemas.microsoft.com/office/drawing/2014/main" id="{CCF617DC-9CDE-515F-D2CB-FAE1B4E37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DFF7453-FAB6-F7EB-A037-C44BD072C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76AEA021-7D32-52AB-4257-A278A433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4EEE5D-CD0A-40EC-A1FC-519101E9292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26B0B7F-4D28-277C-346B-462EC4BB4B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36259B43-8540-3596-161A-280425A6F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C93E0D16-4ADD-B980-3D8F-DBCF38169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3543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Overview of Auditory Processing: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Auditory models aim to simulate the human auditory system's function, including sound perception, frequency analysis, and temporal processing.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They play a crucial role in understanding how the brain processes sound and facilitates speech recognition, music analysis, and biomedical engineering applications.</a:t>
            </a:r>
            <a:endParaRPr lang="vi-VN" altLang="en-US" sz="1600" dirty="0"/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Role of Machine Learning: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Machine learning provides tools to develop computational models that mimic aspects of auditory processing, enabling tasks such as sound classification, source separation, and feature extraction.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E3D2311-458D-63F6-EECC-26905CC42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FF2E9839-48FE-3FDC-80AB-B04B6525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E0457C-2A22-4383-92CC-CBB01A24367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EBD8FB8-F4F7-903F-9314-5EC485B7269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Auditory Models and Machine Learning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62AE401C-1406-F503-4CC5-DA093249C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2">
            <a:extLst>
              <a:ext uri="{FF2B5EF4-FFF2-40B4-BE49-F238E27FC236}">
                <a16:creationId xmlns:a16="http://schemas.microsoft.com/office/drawing/2014/main" id="{FD62BFFA-E0B1-9A09-3BE8-1EA419A73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Integration of machine learning in auditory processing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Advantages of using machine learning for auditory tasks.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Automation of feature extraction and classification tasks.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machine learning algorithms used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Supervised learning (e.g., SVM, neural networks).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Unsupervised learning for clustering and segmentation.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215D8E0-B656-40DA-9AA4-C0D0FB1AC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FCA255ED-9455-11A5-6046-315015A1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F0A4CC-19EB-47CD-9D53-B1213B5BCE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4EB222F-BA99-85EC-2FF9-A33168F88F4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Dataset and Preprocessing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6FD4506F-573C-4B92-A313-81B236497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504BE0A1-8BCE-FB91-E4D8-8E9F7A949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724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Description of the dataset used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Example: Audio recordings of speech and music.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Preprocessing steps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Audio feature extraction using </a:t>
            </a:r>
            <a:r>
              <a:rPr lang="en-US" altLang="en-US" sz="1800" dirty="0" err="1"/>
              <a:t>Librosa</a:t>
            </a:r>
            <a:r>
              <a:rPr lang="en-US" altLang="en-US" sz="1800" dirty="0"/>
              <a:t>:</a:t>
            </a:r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Mel-Frequency Cepstral Coefficients (MFCC).</a:t>
            </a:r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Spectrogram analysis.</a:t>
            </a:r>
            <a:endParaRPr lang="en-US" altLang="en-US" sz="1600" b="1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Data normalization and cleaning for machine learning tasks.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E4BFE05-4CED-6E63-71DE-ABB0153E5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2DA1B61E-1B32-F04B-807E-22D4248F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8DD76B-2323-4924-992D-489ACCBA2E8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E259344-EAA5-730F-E3CF-B0F519EECE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Auditory Feature Extraction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D34E76E6-7FD3-DEB1-BF96-2EC639B17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2">
            <a:extLst>
              <a:ext uri="{FF2B5EF4-FFF2-40B4-BE49-F238E27FC236}">
                <a16:creationId xmlns:a16="http://schemas.microsoft.com/office/drawing/2014/main" id="{F287763E-A912-EDFB-A1B9-77610A504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Detailed explanation of auditory features: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Mel-Frequency Cepstral Coefficients (MFCC):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    </a:t>
            </a:r>
            <a:r>
              <a:rPr lang="en-US" altLang="en-US" sz="1800"/>
              <a:t>Extraction of spectral features.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    Capturing frequency information in a log-scale.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Spectral features: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    </a:t>
            </a:r>
            <a:r>
              <a:rPr lang="en-US" altLang="en-US" sz="1800"/>
              <a:t>Spectral centroid, bandwidth, and rolloff.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    Energy-based features for audio characterization</a:t>
            </a:r>
            <a:r>
              <a:rPr lang="en-US" altLang="en-US" sz="1800" b="1"/>
              <a:t>.</a:t>
            </a:r>
            <a:endParaRPr lang="en-US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3762F6E-BD1F-4B37-C059-13DE1EB03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21F3E2C5-52F8-ACF3-142C-3A0D7BD9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F007C6-59F3-49E6-A5AD-2C9B7B9297B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FDCF150-6E36-1FDF-EBFA-51B4667096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Auditory Models</a:t>
            </a:r>
            <a:endParaRPr lang="vi-VN" altLang="en-US" sz="2000" b="1"/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84AF874B-04CB-7C8B-B3F2-CED9FF1C6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A4B0B23D-6317-CA71-5167-B60F7BD5D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678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Gammatone </a:t>
            </a:r>
            <a:r>
              <a:rPr lang="en-US" altLang="en-US" sz="1800" b="1" dirty="0" err="1"/>
              <a:t>filterbank</a:t>
            </a:r>
            <a:r>
              <a:rPr lang="en-US" altLang="en-US" sz="1800" b="1" dirty="0"/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        </a:t>
            </a:r>
            <a:r>
              <a:rPr lang="en-US" altLang="en-US" sz="1800" dirty="0"/>
              <a:t>Simulation of cochlear filtering in the auditory system.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Auditory nerve models: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        </a:t>
            </a:r>
            <a:r>
              <a:rPr lang="en-US" altLang="en-US" sz="1800" dirty="0"/>
              <a:t>Modeling of neural responses to auditory stimuli.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E6A9986F-B31A-92AE-7490-1E0E3FCE0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0275EE88-9C46-CEB0-F5F1-742FC2FE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33A763-1964-42CA-8B8D-B8F3249196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517D6B7-D6F8-DB20-EDBE-4C33D83AB8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Building Auditory Models with Python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BBED14FF-FF03-D61C-3060-001D07A65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A96E97F4-1765-F200-6516-A6D65B123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678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Use of </a:t>
            </a:r>
            <a:r>
              <a:rPr lang="en-US" altLang="en-US" sz="1800" b="1" dirty="0" err="1"/>
              <a:t>Librosa</a:t>
            </a:r>
            <a:r>
              <a:rPr lang="en-US" altLang="en-US" sz="1800" b="1" dirty="0"/>
              <a:t> library for audio processing: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Loading audio files and extracting features.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Visualizing audio signals and spectrograms.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Example code snippets for auditory feature extraction and model development.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  <p:pic>
        <p:nvPicPr>
          <p:cNvPr id="28679" name="Picture 2">
            <a:extLst>
              <a:ext uri="{FF2B5EF4-FFF2-40B4-BE49-F238E27FC236}">
                <a16:creationId xmlns:a16="http://schemas.microsoft.com/office/drawing/2014/main" id="{4F5AAA4D-9746-AEF2-77B1-F913CE5A6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287838"/>
            <a:ext cx="4938713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367497C-A867-C458-18CE-D4526A867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3C9BCB21-CE73-1220-74CC-A215369D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320C37-25CE-4AD8-923C-702B215AD53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4D73309-D49B-C073-0B99-025B0CC6DE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EEE4D7DB-ED92-48E2-2CAC-2FF90CA9A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D40C60F0-4429-5374-865B-24EA7D70E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40624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Task: Classify audio samples into speech or music categories.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Dataset: Collect a sample audio dataset containing speech and music recordings.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Steps: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Preprocess the audio data using </a:t>
            </a:r>
            <a:r>
              <a:rPr lang="en-US" altLang="en-US" sz="1800" dirty="0" err="1"/>
              <a:t>Librosa</a:t>
            </a:r>
            <a:r>
              <a:rPr lang="en-US" altLang="en-US" sz="1800" dirty="0"/>
              <a:t>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Extract auditory features (e.g., MFCC) from the audio files.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Build and train a machine learning model (e.g., SVM) for classification.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Evaluate the model's performance using accuracy metrics.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597EA339-7988-D657-606E-FE0E9DBAE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EBF5D33B-E168-F061-9BAE-8F38D54E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D9F7BC-74AE-4DF2-99A6-6B3A26FC887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8ABAC2-2654-F292-7514-2EA3608B50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Solution</a:t>
            </a:r>
            <a:endParaRPr lang="vi-VN" altLang="en-US" sz="2000" b="1"/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B8E9C27F-D1F5-B463-CACC-52B692AC2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2">
            <a:extLst>
              <a:ext uri="{FF2B5EF4-FFF2-40B4-BE49-F238E27FC236}">
                <a16:creationId xmlns:a16="http://schemas.microsoft.com/office/drawing/2014/main" id="{3815577C-4378-98A4-30F7-0F8A17D3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2050"/>
            <a:ext cx="55626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F2D7B088-72E1-610F-3C05-6024AF587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EFB6149B-6C7D-CAB1-7533-3264A683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89F827-09A4-4094-BC1D-678C2400CE7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E4DBA81-4C4B-D23C-BCED-D94FB02044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Solution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71D9EFBC-B667-872E-7B6C-CD415901C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4">
            <a:extLst>
              <a:ext uri="{FF2B5EF4-FFF2-40B4-BE49-F238E27FC236}">
                <a16:creationId xmlns:a16="http://schemas.microsoft.com/office/drawing/2014/main" id="{DE5218DE-836F-F844-2D16-856E86BD2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62213"/>
            <a:ext cx="7162800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49B5D91-BDDA-1EAC-D4FD-7E1422D8EA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Speech Perception</a:t>
            </a:r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BAF3EA2C-EE8E-0555-B4AF-A97F696F3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97F51AAE-E200-5217-C5E9-69FD2995E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39C911F3-A5D2-58D2-5E06-89BC9BC6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75134B-BC8F-4669-AB28-65A7E062041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891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A59B5DB-FA46-21EA-681A-12A8017DD8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Basics of Speech Perception</a:t>
            </a:r>
            <a:endParaRPr lang="vi-VN" altLang="en-US" sz="2000" b="1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2F58D78C-B07E-7D84-7A62-10588B9D2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576A034E-63B9-6CD0-3937-2CE6D8274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50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Speech perception involves the process of interpreting and understanding spoken language.</a:t>
            </a:r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The human auditory system plays a crucial role in recognizing and processing speech sounds.</a:t>
            </a:r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Phonetics studies speech sounds and linguistic units such as phonemes (distinct units of sound) and prosody (intonation, rhythm, and stress in speech).</a:t>
            </a: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1F40B19-C235-02CF-BD88-D620DF120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48C5E9A6-80C5-B88C-0385-935E818D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EC12AB-FAFA-4C7F-BD4F-CF36EAA6218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096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147F9C3-6A00-7369-C368-16D1ACF6078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Feature Extraction</a:t>
            </a:r>
            <a:endParaRPr lang="vi-VN" altLang="en-US" sz="2000" b="1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1096CFFA-FF8C-A5DF-06B7-B784FE46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471C712D-56D0-44A0-918A-F917DC7B4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694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/>
              <a:t>Mel-Frequency Cepstral Coefficients (MFCCs)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Represent the short-term power spectrum of sound, capturing phonetic information compactly.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/>
              <a:t>Prosodic Features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Pitch: Frequency of speech waveform, indicative of voice tone and emotion.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Intensity: Amplitude of speech signal, providing information about stress and emphasis.</a:t>
            </a:r>
          </a:p>
          <a:p>
            <a:pPr marL="28575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/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Duration: Timing of speech segments, influencing rhythm and timing perception.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782246F2-F2D5-76D4-8EBD-D3D6891CB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D90AB145-EBB9-C7E7-9408-2624D4FC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9DC08A-B8E1-49F6-A73A-468BB6C3E14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B1BD53-EFD9-73C1-9E5F-6342A5660B3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Recognition Models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068F0B24-78DE-BD14-9B5D-1A021B652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A1854C90-83E8-9768-5EB2-6F2977133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Hidden Markov Models (HMMs)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Used for acoustic modeling and sequence alignment in traditional speech recognition systems.</a:t>
            </a: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Deep Learning Models (e.g., LSTM, Transformers)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End-to-end neural network architectures that directly map audio features to text sequences, achieving state-of-the-art performance in automatic speech recognition (ASR).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Training Pipelines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Acoustic modeling: Capture phonetic information from audio features.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Language modeling: Incorporate linguistic context to improve recognition accuracy.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Decoding: Align audio features to the most likely sequence of words or phonemes.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A8BED94B-743E-68F2-2572-35AE75B5E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50FE2A69-C862-EBB6-C359-E2F3BDFA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FCE4A6-6789-4EF7-9A9D-7E4C5559FF3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9FD3A16-D602-8EB2-4996-6D62E5BFF0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Building Speech Perception Models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74118775-FF64-5E13-76DE-997126825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2">
            <a:extLst>
              <a:ext uri="{FF2B5EF4-FFF2-40B4-BE49-F238E27FC236}">
                <a16:creationId xmlns:a16="http://schemas.microsoft.com/office/drawing/2014/main" id="{76B3EBE9-C82E-D1FF-7833-90394F27D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Implementation in Python: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Load and preprocess audio files, extracting MFCCs and prosodic features.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Visualize and analyze extracted speech features to understand their significance.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Example code snippets for feature extraction and transformation into input data suitable for machine learning models.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30FE8154-E19E-0555-D27C-2191434D8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51E5674F-EE48-A0F7-2FB5-131B573B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8ACA7F-CBA1-4D74-A71A-2F98380DEA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C457D5A-D363-7CF6-5212-F80741D6BC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Integration of Speech Features with ML Models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99894382-E071-ECC7-5391-D814D8A58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TextBox 2">
            <a:extLst>
              <a:ext uri="{FF2B5EF4-FFF2-40B4-BE49-F238E27FC236}">
                <a16:creationId xmlns:a16="http://schemas.microsoft.com/office/drawing/2014/main" id="{5A0A4E63-98D5-2617-2CF8-1377578FB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Implementation in Python: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Transform audio features (MFCCs, prosodic features) into input vectors for neural networks or other classifiers.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Train and optimize machine learning models (e.g., LSTM, CNN) using labeled speech data.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Evaluate model performance using metrics like accuracy, Word Error Rate (WER), and Confusion Matrix.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1CC91A82-4317-A12F-16DE-E956E1BF7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7A532688-89B4-B571-DDC3-1B9D05B9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8A8D03-4A0E-4AED-8E1B-5A6BBFAD127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915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4B054D6-BB04-6742-939E-827A719BFF6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432B32A3-BCFC-A379-A456-8C6DA0DBE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2">
            <a:extLst>
              <a:ext uri="{FF2B5EF4-FFF2-40B4-BE49-F238E27FC236}">
                <a16:creationId xmlns:a16="http://schemas.microsoft.com/office/drawing/2014/main" id="{80B61814-13FA-272F-75B1-4BE3DE739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Task: </a:t>
            </a:r>
            <a:r>
              <a:rPr lang="en-US" altLang="en-US" sz="1800"/>
              <a:t>Develop a speech recognition system using a provided speech dataset.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Dataset: </a:t>
            </a:r>
            <a:r>
              <a:rPr lang="en-US" altLang="en-US" sz="1800"/>
              <a:t>Include audio recordings with corresponding transcriptions or labels.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Steps: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Preprocess audio data: Extract MFCCs and prosodic features from audio files.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Implement a speech recognition model: Choose an appropriate ML algorithm (e.g., LSTM) and train it on the dataset.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Evaluate model performance: Use test data to assess recognition accuracy and analyze error patterns.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Discuss potential improvements: Explore ways to enhance model robustness and accuracy.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960E9A58-B54A-683B-13F1-7FDCBE222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8A150A10-C1A3-FF8B-59EF-D01A6615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CC09B4-966E-4384-84A2-EDEF4B0AB12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98A3F3F-4639-D757-F501-195CBB05C04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 (Solution)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A131A819-51D1-05BD-D248-53B2DB61C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3">
            <a:extLst>
              <a:ext uri="{FF2B5EF4-FFF2-40B4-BE49-F238E27FC236}">
                <a16:creationId xmlns:a16="http://schemas.microsoft.com/office/drawing/2014/main" id="{439D7DC5-79B7-E0DD-A017-5A750DC64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6499225" cy="402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652F0ED0-07F7-CB0F-CAD0-6E9FAF6BE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C50C9F57-D3AA-5DB1-1A82-6D4688C0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27474A-3534-4AD6-8308-F681B45D31E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5325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EFD5A0-E8FE-D9F1-194D-088BE07662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 (Solution)</a:t>
            </a:r>
            <a:endParaRPr lang="vi-VN" altLang="en-US" sz="2000" b="1"/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3EAB6B38-8BAF-19B4-6738-076D11D2E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2">
            <a:extLst>
              <a:ext uri="{FF2B5EF4-FFF2-40B4-BE49-F238E27FC236}">
                <a16:creationId xmlns:a16="http://schemas.microsoft.com/office/drawing/2014/main" id="{8BD7E682-C27E-89BC-2E54-106BB0E8B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2228850"/>
            <a:ext cx="664845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804E9D75-C90E-53B4-2CE8-03C870530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55299" name="Slide Number Placeholder 6">
            <a:extLst>
              <a:ext uri="{FF2B5EF4-FFF2-40B4-BE49-F238E27FC236}">
                <a16:creationId xmlns:a16="http://schemas.microsoft.com/office/drawing/2014/main" id="{C19EDB3C-654E-7208-8FF3-69D41BEC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1C3E53-26DC-47E2-AAED-6BACA9DECE5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pic>
        <p:nvPicPr>
          <p:cNvPr id="55300" name="Picture 3">
            <a:extLst>
              <a:ext uri="{FF2B5EF4-FFF2-40B4-BE49-F238E27FC236}">
                <a16:creationId xmlns:a16="http://schemas.microsoft.com/office/drawing/2014/main" id="{99886448-9D5F-BD88-5871-5D8B30BA9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4765</TotalTime>
  <Words>1148</Words>
  <Application>Microsoft Office PowerPoint</Application>
  <PresentationFormat>On-screen Show (4:3)</PresentationFormat>
  <Paragraphs>212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Tahoma</vt:lpstr>
      <vt:lpstr>MS PGothic</vt:lpstr>
      <vt:lpstr>Arial</vt:lpstr>
      <vt:lpstr>Wingdings</vt:lpstr>
      <vt:lpstr>Times New Roman</vt:lpstr>
      <vt:lpstr>Blueprint</vt:lpstr>
      <vt:lpstr>Human Speech Production</vt:lpstr>
      <vt:lpstr>Contents</vt:lpstr>
      <vt:lpstr>Hearing</vt:lpstr>
      <vt:lpstr>Hearing</vt:lpstr>
      <vt:lpstr>Hearing</vt:lpstr>
      <vt:lpstr>Hearing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Speech Perception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vu.khoi</cp:lastModifiedBy>
  <cp:revision>182</cp:revision>
  <dcterms:created xsi:type="dcterms:W3CDTF">2022-10-28T07:26:15Z</dcterms:created>
  <dcterms:modified xsi:type="dcterms:W3CDTF">2026-05-17T13:44:35Z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