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9"/>
  </p:notesMasterIdLst>
  <p:handoutMasterIdLst>
    <p:handoutMasterId r:id="rId30"/>
  </p:handoutMasterIdLst>
  <p:sldIdLst>
    <p:sldId id="256" r:id="rId2"/>
    <p:sldId id="363" r:id="rId3"/>
    <p:sldId id="449" r:id="rId4"/>
    <p:sldId id="453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50" r:id="rId15"/>
    <p:sldId id="454" r:id="rId16"/>
    <p:sldId id="465" r:id="rId17"/>
    <p:sldId id="466" r:id="rId18"/>
    <p:sldId id="467" r:id="rId19"/>
    <p:sldId id="451" r:id="rId20"/>
    <p:sldId id="455" r:id="rId21"/>
    <p:sldId id="468" r:id="rId22"/>
    <p:sldId id="469" r:id="rId23"/>
    <p:sldId id="470" r:id="rId24"/>
    <p:sldId id="471" r:id="rId25"/>
    <p:sldId id="472" r:id="rId26"/>
    <p:sldId id="473" r:id="rId27"/>
    <p:sldId id="347" r:id="rId28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145" d="100"/>
          <a:sy n="145" d="100"/>
        </p:scale>
        <p:origin x="108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338809-D953-94D1-9754-11D8F8D1C3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60D7658-0531-EA58-117C-2F8ED94E389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1D5360A-863D-5697-4AA7-A59810F38E1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E3809DC-76A2-C1B7-EE0D-0EB62B04AD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D81A1F29-67CC-443F-8363-D88C901589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CE4AF9-3319-8C3E-4843-6ACC3315141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D813330-DC16-EC4B-3DFA-D311F7666C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E33F0FA-D85F-3D30-DEA4-6BAE68E22F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1AF8B5-D074-95AB-A91A-7927878F882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46D5D-DCE0-FE1A-13AF-03D03E30CD8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C38221B-9593-FFDE-FE9A-2F9DAF1737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C6BAAAC6-C646-422F-865A-3CB97DC27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05BD963B-31A8-E2CB-8F81-0EEBC8A3D7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07E3EE4A-1F56-C3DC-AFFA-1882F884A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6A803A6-DEA9-BEC5-9126-4ABFD559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C884AD6-AD12-4D1A-ADF9-0742BB71028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31611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910407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47861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022815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800738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89760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776970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668668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089440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700950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98880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22731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7312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256863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9296062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0298356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4F40A2A-E09F-4BBA-BFFC-BDE5B11EF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AE70AEE3-8A0F-7E4E-755C-E119D27D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C7C08437-BECC-C996-AA7A-7B3473544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F966042-ACDA-4A08-9885-267FF8077AA1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49457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73990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431134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14158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9231250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9863159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34980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>
            <a:extLst>
              <a:ext uri="{FF2B5EF4-FFF2-40B4-BE49-F238E27FC236}">
                <a16:creationId xmlns:a16="http://schemas.microsoft.com/office/drawing/2014/main" id="{24C0A858-B7F6-2F02-B94D-4B4779BA4D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>
            <a:extLst>
              <a:ext uri="{FF2B5EF4-FFF2-40B4-BE49-F238E27FC236}">
                <a16:creationId xmlns:a16="http://schemas.microsoft.com/office/drawing/2014/main" id="{44DDFB9E-068A-FEBD-95DD-8B611B306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D137F8D0-5010-C2F1-CCDC-9297C30FB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74719A-019E-44E6-949F-7733243B0495}" type="slidenum">
              <a:rPr lang="en-US" altLang="en-US" sz="1300" smtClean="0"/>
              <a:pPr/>
              <a:t>26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54904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05BF9D-1CAD-9CDB-C0CF-13BCE1C17ED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78A5B79-600D-770B-CAB6-12A5D199F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09E70B30-CA00-6BA8-083C-A00541DB0270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88DCCA53-F812-0B67-E237-BF2E126B1A24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BB9907D4-8B67-ABB2-6A25-82B218372D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374977C9-7A2B-8F94-DE66-5A322CCC50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420CBAD2-8D75-2592-8F51-F96327ED10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A0A86779-9127-21EB-52A0-B5818A424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6EC6A224-8B2B-38E7-3CDC-3245A0D21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162B50A8-F175-F0D1-63B6-C076387DF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3BF02FD9-926D-6A18-37E3-3AFA0F4B1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B80AE387-4B4D-2C74-D102-6287DA7EC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6B36E532-5614-B444-C0C7-49411DD25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031C863B-16E2-411E-8BBF-DC31B16346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19773588-FFC9-CAAB-5738-0723DCA892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73A52314-2D74-9198-A6D6-8047C1F0C1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DBD03CAF-0BCF-B83E-1C7F-EC2D6816E7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BB888EEA-9C41-6670-F661-E0DF5609B4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F68756E8-3BBF-AB45-21D8-1FD837B6DC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FE8BE401-B82F-6266-F755-88126CAE8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E717D8F4-17A3-C507-FA3D-2AB421C58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2FCBCE48-0F8B-A384-6B4B-5A62E42D0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51088338-752C-8D9B-1C77-C02639203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FE635CE8-F02A-97C3-234A-7704BC0B98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03338E54-4ACC-BB57-FB46-F7A181DAF7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A8C8DBA3-A962-2AD7-D640-9A2F6D446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F9DAB08E-C07C-F3D7-7D69-E97664983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80DBF8CD-A19B-7273-71D7-E1FE7AC22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B75966A-F0F6-23E9-C08E-F85E09257F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2B5C2A31-4650-5576-3164-694B6E2B50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26896B17-2548-D3BC-E2CB-C55B2D5521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4BB5DD60-1568-20B9-522C-2652C0756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F950ED97-1420-A567-1B20-508C64FB2C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E575431C-4EBD-7619-E30A-7E4A1D9D9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3B6D6372-285F-E867-1207-37144DC301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CD673BBA-3EC0-AEA5-0BC3-61D4DF56F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0A3F5B1C-FC65-AC9F-7FD0-04334DF491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C992FDDD-B9FA-E9A4-1919-97492D1CB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AB234D90-28D3-2ECD-8543-821C599B4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17EDCD38-160E-7762-3B79-0B27C6BF0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E68FB73D-F6F9-8DC1-4704-BBF1FED989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EFFEB4AC-6F38-B201-C2D3-8E5406CEDD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1CE656A7-7BD6-0C05-8D2F-0053E6C6DC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EECBC487-0532-545D-37C2-84DBB3F97A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9225A15E-0F6F-FA48-F427-8F3531E5D4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A5B2B30A-9AD7-D605-8B09-DCFE871950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555DD737-E11D-4C51-70EE-27AC7C37FB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EAED3068-F655-ED98-ADF0-6FE7BEBB5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03666052-4ADF-8765-DFB0-D3CEA9FE4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4520ED50-F65B-D7A4-0845-C503AEE39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1DCC8380-F0D2-0A68-F3D4-915801119C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89ABAD5D-5F50-843E-83EF-12F5A8DE96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8F852292-6C3C-0B75-C148-7C9241446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E1EED364-8DA9-7C7A-0300-DF7EADB357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0AEAABE9-E1A2-18C4-2D04-A556C5B81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884BBF0F-60F1-2551-129A-A30CFFA590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92E4AAC7-5788-A205-88CF-4F2B8FD47B0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0F3B3BD4-0003-4BDA-0BE9-1336D177282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1372FDB0-78C5-491E-2F45-C33B8EA59666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DA024641-F8D9-165D-3888-033E12851725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E40F633D-C1A9-550B-4733-EB99257DA204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9066DAE1-55E7-BD92-6366-7FA050A7F01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63934C55-9380-D92A-741F-B8D9D0DB3EC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D1CD5841-9E9C-C21E-74C5-E044FBE94740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961B3C1-09A1-F1F1-6D55-B2576A3E59BD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FFCCE934-96A2-F9D0-2F63-CBF36CF58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001EE-FDD7-4DD0-8CE8-EA13B02ED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78A7AA9B-471E-4EE1-8B3E-C81DFA2BD57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222FBD0F-9B1D-F073-5357-468E537DC7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39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EC72FA63-EEE1-107E-8244-96085DB15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049F9C0F-418B-A591-E7CB-D10DB09231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7F9EC19F-6F67-0EE0-C410-B690C9D39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22AC6-743D-4A62-8DD6-E89D666BC2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08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A4F51AC9-32F0-51C8-819C-D7D1351D72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3DB377C3-671C-DF66-D3F6-D28CF2E73F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D73BD7AB-93CA-56CA-5347-0978FA326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9798A-CA2C-4B61-A073-6FA905A894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151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9D968E50-2B68-8C1C-325F-EB8E91084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55669D85-C340-04E5-EF17-B78BCF9721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73C79451-4E88-9E97-A6C9-FD8811E30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45755-27E2-46D9-A862-C82E6B591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369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3303B33D-ED38-F85D-103C-39A369831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5A238568-30E9-98EA-C841-C2038245A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C0FF610D-4B49-E672-ECF3-CE73DAEE1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78848-B890-4020-AEA5-CD1823E3CF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89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488EA1A5-F554-A684-87F8-B42F68A1F3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76B86998-D216-E9CB-37BF-DCF43B475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F637E61-01C7-05A6-2447-B345DC4DDB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551FA-E5D8-469C-A723-91FE985B2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8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501ACF22-A11D-25EE-DB34-3E66E61DDDD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A491BC4B-A628-FF35-9CB2-902E26C553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A190FA09-657B-D3A8-5CA9-461A043B3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A745D7D6-EB99-4318-ADBE-C94CCD71F2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7427DA50-FD75-FE4B-E538-50B2B3AC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DC954FB5-56D5-9104-B9CE-EACC8F35AF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835E22B7-E77A-ABA0-D492-1E1D9A07C6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9C76AF6-EB22-12B9-68E2-67C4F1697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E20EDDF3-CEB1-57B2-3803-986BDFD41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1817BAF3-F193-E300-DD0A-EE0A7CC689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FBB200E5-57B1-449D-E1E5-B782EF4E4C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722232C1-D722-EB8E-D850-F8703C6FB3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917A9AFB-C3AF-BCE9-3E8A-EE45578AF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CD37EE5-14DF-4C9C-0E92-7744CBAF59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185EB9C9-B0EC-6D8F-504D-14E1BC59DD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20BA0776-71FA-8F75-114F-60892C5573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E7EC8B2F-1E55-A5E5-A8BE-D1916AB16E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8B45F6C2-9B44-8EC1-076D-C5078E7E2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015A45AB-F4A6-3077-6311-6F3EC5EA7E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0E976C64-2463-1A00-874F-FF9B129B31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02380B28-DAB3-C87C-26B3-7E74A3AF2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024D99AC-6056-074B-2459-D869B55B51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23C02827-8F9F-8B82-3B1A-EC3EFA7D7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071BE3BE-9B15-A252-A022-4F731630F5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1ADEB2AD-C646-4FBB-D3E4-8644CD320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C304B4E-0ECF-71C9-FBD4-248728FF11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24E6F50-A584-99A9-7575-8996F83962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3B021655-965F-7834-946F-BF17305D74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A75137A7-EFBC-E262-262D-ECDD4BA7B1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CC5FBEAE-E916-F01C-661C-A3920ADC9F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3A09F0E7-2B38-3FC9-0838-A0D66FD9D3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5828D131-DF33-918E-7687-0D3821606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934EA5A6-2659-98A4-66A7-67298FF6E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08A6CFCF-A471-C32E-ECE7-4F60A565A1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89E24D60-5C00-D4DF-7B0C-1907A9B75E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950520D2-8632-0F9F-1560-A6200FEC34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356C7CEA-551B-BE8B-D315-938F1F251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400654BE-B422-5C07-8F58-67D804C3AF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BD478EEE-71C1-6275-0DE5-686061C9D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FF5C9E54-C240-053F-C73E-4C8A3A3F85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1C445ADE-C6B5-BA54-ADF1-B4BE07E47B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4472DAE4-E86F-EEE7-9672-F351FA637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299A8844-B72C-C5C2-1D9C-222C7C9A2E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790DD25B-9028-7A5B-BF98-31377A8ED3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8DD985B4-1F40-BD7E-63FF-B438CF5793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DD248198-6F0F-AE02-457D-B9A39698B6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D511DF9E-21FE-1C12-5822-026AA587E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72BB8A8F-55F0-2A90-0258-0CF528604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86023951-E5EF-25A3-4DDA-F5C058124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9D45C009-9CCF-BABE-EE52-B6D1079124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AB79D75B-DC5C-9FB5-B149-9F0E80F63C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5F6B997A-049A-8071-DAC3-B1DD6AA56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7535E12D-4881-CBA8-7AAE-B881C586E2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4622E829-896E-1F43-9A7D-AF6D78220C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B7B41A9D-6D63-CC55-3757-EC9795D090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A8D41896-970D-3ADC-BDDC-6C22FBB2C0D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6FB4A5C8-543B-2E53-0E0F-683990AC04C5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0AE3F6A8-99F3-7648-6A1E-9ECC99843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C9635BCA-58DD-79E3-A148-433301A05B7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8878C500-21D7-9847-DD3A-AE315E5FE3EB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239D3C34-430A-FF55-4521-257D4C89AC2A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48B033D0-6B95-C156-10E4-B7E3D8EE80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CFBA7DF-E70B-620A-7A70-E94B82B6C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F58F68BE-E7F2-5101-B957-4AE2560600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04A2A8A7-AC18-9148-04AD-6FE3C24CFF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0441F0AD-35C2-478C-2552-2160848995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B4EDF35-4156-4157-8F78-173A9E0C32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1" r:id="rId2"/>
    <p:sldLayoutId id="2147483922" r:id="rId3"/>
    <p:sldLayoutId id="2147483923" r:id="rId4"/>
    <p:sldLayoutId id="2147483924" r:id="rId5"/>
    <p:sldLayoutId id="2147483925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198E221-F1E6-A956-CA06-74077F6C681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Automatic Speech Recognition and NLU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B18B84D7-9F93-BAAC-0C55-21D8D9A7D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1AA2BCF-2B9E-5BFB-EA48-573837CF9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65030FB-F616-6617-DF9A-CFAF33681CF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 dirty="0"/>
              <a:t>Basic ASR Formulation</a:t>
            </a:r>
          </a:p>
          <a:p>
            <a:r>
              <a:rPr lang="en-US" altLang="en-US" sz="2000" dirty="0"/>
              <a:t>Overall Speech Recognition Process</a:t>
            </a:r>
          </a:p>
          <a:p>
            <a:r>
              <a:rPr lang="en-US" altLang="en-US" sz="2000" dirty="0"/>
              <a:t>User Interfaces (UI) and </a:t>
            </a:r>
            <a:r>
              <a:rPr lang="en-US" altLang="en-US" sz="2000" dirty="0" err="1"/>
              <a:t>Multimodel</a:t>
            </a:r>
            <a:r>
              <a:rPr lang="en-US" altLang="en-US" sz="2000" dirty="0"/>
              <a:t> UI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F295A456-3B49-F086-5085-0BDBE5EC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CDAE40-05BD-4BA0-B8F7-A5411AD3F4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63BB578E-D9D5-64B8-929E-B805FCF5C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/>
              <a:t>Basic ASR Formulation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0306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Automatic Speech Recognition (ASR) is converting spoken language into text.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ASR systems typically consist of acoustic modeling, language modeling, and decoding components.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74D3CC-E8BE-EC07-4CD9-1420EBE1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010978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Key Points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Formulation of ASR involves modeling acoustic features and language structure.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ASR systems play a crucial role in Natural Language Understanding (NLU) tasks.</a:t>
            </a:r>
          </a:p>
        </p:txBody>
      </p:sp>
    </p:spTree>
    <p:extLst>
      <p:ext uri="{BB962C8B-B14F-4D97-AF65-F5344CB8AC3E}">
        <p14:creationId xmlns:p14="http://schemas.microsoft.com/office/powerpoint/2010/main" val="1813952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Acoustic Modeling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Acoustic modeling involves representing the relationship between acoustic features and phonemes.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Common techniques include Hidden Markov Models (HMMs), Deep Neural Networks (DNNs), and Convolutional Neural Networks (CNNs).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74D3CC-E8BE-EC07-4CD9-1420EBE13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287976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Acoustic features such as Mel-Frequency Cepstral Coefficients (MFCCs) are extracted from audio signals.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Models learn to map acoustic features to phonetic units (e.g., phonemes, sub-word units).</a:t>
            </a:r>
          </a:p>
        </p:txBody>
      </p:sp>
    </p:spTree>
    <p:extLst>
      <p:ext uri="{BB962C8B-B14F-4D97-AF65-F5344CB8AC3E}">
        <p14:creationId xmlns:p14="http://schemas.microsoft.com/office/powerpoint/2010/main" val="211682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Acoustic Modeling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23083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Equations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Hidden Markov Model (HMM) state transition probability: </a:t>
                </a: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1800" i="1" dirty="0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Observation probability: </a:t>
                </a:r>
                <a:endParaRPr lang="en-US" altLang="en-US" sz="18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18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en-US" sz="18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1800" i="1" dirty="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en-US" sz="1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en-US" sz="1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dirty="0"/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en-US" sz="1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en-US" sz="1800" dirty="0"/>
                  <a:t> represents the observed acoustic features at time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en-US" sz="1800" dirty="0"/>
                  <a:t>.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2308324"/>
              </a:xfrm>
              <a:prstGeom prst="rect">
                <a:avLst/>
              </a:prstGeom>
              <a:blipFill>
                <a:blip r:embed="rId4"/>
                <a:stretch>
                  <a:fillRect l="-699" t="-1587" b="-3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148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Language Modeling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0E49E0-EBE3-6A06-BE79-2C9DF69BC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Language modeling captures the statistical properties of spoken language.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N-gram models, recurrent neural networks (RNNs), and transformer models are commonly used.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Language models estimate the probability of word sequences.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They incorporate syntactic and semantic constraints to improve recognition accuracy.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2259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Language Modeling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1754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Equations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Unigram probability: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dirty="0"/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Bigram probability: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en-US" sz="18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dirty="0"/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N-gram probability: 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/>
                  <a:t>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en-US" sz="1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altLang="en-US" sz="1800" b="0" i="0" dirty="0" smtClean="0">
                        <a:latin typeface="Cambria Math" panose="02040503050406030204" pitchFamily="18" charset="0"/>
                      </a:rPr>
                      <m:t>,..,</m:t>
                    </m:r>
                    <m:sSub>
                      <m:sSubPr>
                        <m:ctrlPr>
                          <a:rPr lang="en-US" alt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en-US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sz="1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en-US" sz="1800" dirty="0"/>
                  <a:t>)</a:t>
                </a:r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1754326"/>
              </a:xfrm>
              <a:prstGeom prst="rect">
                <a:avLst/>
              </a:prstGeom>
              <a:blipFill>
                <a:blip r:embed="rId4"/>
                <a:stretch>
                  <a:fillRect l="-699" t="-2083" b="-45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33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Decoding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Formulation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Decoding involves finding the most likely word sequence given the acoustic and language models.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Common algorithms include Viterbi decoding and beam search.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Decoding combines acoustic scores from the acoustic model and language scores from the language model.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The best hypothesis is selected based on the combined scores.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68752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Decoding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2333625"/>
                <a:ext cx="7848600" cy="1754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/>
                  <a:t>Equations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Acoustic model score: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Language model score: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endParaRPr lang="en-US" altLang="en-US" sz="1800" dirty="0"/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altLang="en-US" sz="1800" dirty="0"/>
                  <a:t>Combined score: </a:t>
                </a:r>
                <a14:m>
                  <m:oMath xmlns:m="http://schemas.openxmlformats.org/officeDocument/2006/math"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)×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en-US" sz="1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1800" dirty="0"/>
              </a:p>
            </p:txBody>
          </p:sp>
        </mc:Choice>
        <mc:Fallback xmlns="">
          <p:sp>
            <p:nvSpPr>
              <p:cNvPr id="77830" name="TextBox 1">
                <a:extLst>
                  <a:ext uri="{FF2B5EF4-FFF2-40B4-BE49-F238E27FC236}">
                    <a16:creationId xmlns:a16="http://schemas.microsoft.com/office/drawing/2014/main" id="{353DF27E-4444-4483-CFE0-5577F9016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333625"/>
                <a:ext cx="7848600" cy="1754326"/>
              </a:xfrm>
              <a:prstGeom prst="rect">
                <a:avLst/>
              </a:prstGeom>
              <a:blipFill>
                <a:blip r:embed="rId4"/>
                <a:stretch>
                  <a:fillRect l="-699" t="-2083" b="-45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993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ASR System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Objective: </a:t>
            </a:r>
            <a:r>
              <a:rPr lang="en-US" altLang="en-US" sz="1800" dirty="0"/>
              <a:t>Develop a simple ASR system to recognize spoken digits.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Steps: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Collect audio data of spoken digits (0-9).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Extract MFCC features from the audio recordings.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Train a simple ASR model using the collected data.</a:t>
            </a:r>
          </a:p>
          <a:p>
            <a:pPr marL="342900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800" dirty="0"/>
              <a:t>Implement decoding to recognize spoken digits.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Input: </a:t>
            </a:r>
            <a:r>
              <a:rPr lang="en-US" altLang="en-US" sz="1800" dirty="0"/>
              <a:t>Audio recording of spoken digits.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Output: </a:t>
            </a:r>
            <a:r>
              <a:rPr lang="en-US" altLang="en-US" sz="1800" dirty="0"/>
              <a:t>Recognized digit sequence.</a:t>
            </a:r>
          </a:p>
        </p:txBody>
      </p:sp>
    </p:spTree>
    <p:extLst>
      <p:ext uri="{BB962C8B-B14F-4D97-AF65-F5344CB8AC3E}">
        <p14:creationId xmlns:p14="http://schemas.microsoft.com/office/powerpoint/2010/main" val="2129380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Implementing a Basic ASR System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0356EE-42CA-3153-9C6E-841F7816C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329294"/>
            <a:ext cx="4739979" cy="413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545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Basic ASR Formulation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 dirty="0"/>
              <a:t>Summary</a:t>
            </a:r>
            <a:endParaRPr lang="vi-VN" altLang="en-US" sz="2000" b="1" dirty="0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B65F51-440E-26EB-7722-4C40D4E88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Basic ASR formulation involves acoustic modeling, language modeling, and decoding components.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dirty="0"/>
              <a:t>ASR systems play a crucial role in various NLU tasks, enabling machines to understand spoken language.</a:t>
            </a:r>
          </a:p>
        </p:txBody>
      </p:sp>
    </p:spTree>
    <p:extLst>
      <p:ext uri="{BB962C8B-B14F-4D97-AF65-F5344CB8AC3E}">
        <p14:creationId xmlns:p14="http://schemas.microsoft.com/office/powerpoint/2010/main" val="31047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Overall Speech Recognition Process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9117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Overall Speech Recognition Process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to Speech Recognition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Speech recognition is the process of converting spoken language into text.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It involves multiple stages: preprocessing, feature extraction, acoustic modeling, language modeling, and decoding.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E8C0E-A67F-85D6-BBBC-57137E71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14800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points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Speech recognition enables various applications such as virtual assistants, transcription services, and more.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Integrating ASR with Natural Language Understanding (NLU) enhances user interaction with systems.</a:t>
            </a:r>
          </a:p>
        </p:txBody>
      </p:sp>
    </p:spTree>
    <p:extLst>
      <p:ext uri="{BB962C8B-B14F-4D97-AF65-F5344CB8AC3E}">
        <p14:creationId xmlns:p14="http://schemas.microsoft.com/office/powerpoint/2010/main" val="2418351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Overall Speech Recognition Process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Preprocessing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Preprocessing involves cleaning and preparing the audio signal for further analysis.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Key steps include noise reduction, normalization, and segmentation.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E8C0E-A67F-85D6-BBBC-57137E71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581400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Noise reduction: Remove background noise to enhance speech clarity.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Normalization: Adjust the audio signal to a standard level.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Segmentation: Divide the audio signal into manageable chunks.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A7D42C-DC6B-FA21-A7B0-DC0254413F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5010636"/>
                <a:ext cx="7848600" cy="8105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Equations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fr-FR" altLang="en-US" sz="1800"/>
                  <a:t>Signal normalization: </a:t>
                </a:r>
                <a14:m>
                  <m:oMath xmlns:m="http://schemas.openxmlformats.org/officeDocument/2006/math">
                    <m:r>
                      <a:rPr lang="fr-FR" altLang="en-US" sz="18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altLang="en-US" sz="180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fr-FR" altLang="en-US" sz="18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altLang="en-US" sz="180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fr-FR" alt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en-US" sz="18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⁡(|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)|)</m:t>
                        </m:r>
                      </m:den>
                    </m:f>
                    <m:r>
                      <a:rPr lang="fr-FR" altLang="en-US" sz="1800" i="1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altLang="en-US" sz="18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A7D42C-DC6B-FA21-A7B0-DC0254413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010636"/>
                <a:ext cx="7848600" cy="810543"/>
              </a:xfrm>
              <a:prstGeom prst="rect">
                <a:avLst/>
              </a:prstGeom>
              <a:blipFill>
                <a:blip r:embed="rId4"/>
                <a:stretch>
                  <a:fillRect l="-699" t="-4511" b="-37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201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Overall Speech Recognition Process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Feature Extraction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Extract relevant features from the audio signal that represent the speech content.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Common features include Mel-Frequency Cepstral Coefficients (MFCCs), Linear Predictive Coding (LPC), and spectrograms.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E8C0E-A67F-85D6-BBBC-57137E71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938713"/>
            <a:ext cx="7848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Explanation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 MFCCs capture the short-term power spectrum of the sound.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LPC models the vocal tract.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A7D42C-DC6B-FA21-A7B0-DC0254413F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8200" y="5010636"/>
                <a:ext cx="7848600" cy="923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q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95000"/>
                  <a:buFont typeface="Wingdings" panose="05000000000000000000" pitchFamily="2" charset="2"/>
                  <a:buChar char="w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/>
                  <a:t>Equations</a:t>
                </a:r>
              </a:p>
              <a:p>
                <a:pPr lvl="1">
                  <a:spcBef>
                    <a:spcPct val="0"/>
                  </a:spcBef>
                  <a:buClrTx/>
                  <a:buSzTx/>
                  <a:buFont typeface="Wingdings" panose="05000000000000000000" pitchFamily="2" charset="2"/>
                  <a:buChar char="§"/>
                </a:pPr>
                <a:r>
                  <a:rPr lang="en-US" sz="1800"/>
                  <a:t>MFCC calculation</a:t>
                </a:r>
              </a:p>
              <a:p>
                <a:pPr marL="457200" lvl="1" indent="0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𝑀𝐹𝐶𝐶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𝐷𝐶𝑇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80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𝑀𝑒𝑙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𝐹𝐹𝑇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)))))</m:t>
                      </m:r>
                    </m:oMath>
                  </m:oMathPara>
                </a14:m>
                <a:endParaRPr lang="en-US" altLang="en-US" sz="180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A7D42C-DC6B-FA21-A7B0-DC0254413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5010636"/>
                <a:ext cx="7848600" cy="923330"/>
              </a:xfrm>
              <a:prstGeom prst="rect">
                <a:avLst/>
              </a:prstGeom>
              <a:blipFill>
                <a:blip r:embed="rId4"/>
                <a:stretch>
                  <a:fillRect l="-699" t="-3974" b="-596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738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200"/>
              <a:t>Overall Speech Recognition Process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Conclusion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Summary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 overall speech recognition process involves preprocessing, feature extraction, acoustic modeling, language modeling, and decoding.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Each stage plays a crucial role in converting spoken language into text accurately.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E8C0E-A67F-85D6-BBBC-57137E711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495800"/>
            <a:ext cx="784860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Future Directions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Continued advancements in deep learning and neural network architectures.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Integration with other NLU components for enhanced understanding and interaction.</a:t>
            </a:r>
          </a:p>
        </p:txBody>
      </p:sp>
    </p:spTree>
    <p:extLst>
      <p:ext uri="{BB962C8B-B14F-4D97-AF65-F5344CB8AC3E}">
        <p14:creationId xmlns:p14="http://schemas.microsoft.com/office/powerpoint/2010/main" val="3448537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483C7D1-FA87-7304-703E-CE70E8D618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7010400" cy="1143000"/>
          </a:xfrm>
        </p:spPr>
        <p:txBody>
          <a:bodyPr/>
          <a:lstStyle/>
          <a:p>
            <a:r>
              <a:rPr lang="en-US" altLang="en-US" sz="4000"/>
              <a:t>User Interfaces (UI) and Multimodel UI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ED33C091-CF8A-5E14-B91C-FA4E61DED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003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User Interfaces (UI) and Multimodel UI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User Interfaces (UI) are the means through which users interact with systems and applications.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UIs in the context of ASR involve voice commands, visual feedback, and interactive elements.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Points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ASR-enabled UIs enhance user experience by allowing natural language interactions.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Effective UIs are intuitive, responsive, and provide clear feedback.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526921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User Interfaces (UI) and Multimodel UI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Types of User Interfaces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TextBox 1">
            <a:extLst>
              <a:ext uri="{FF2B5EF4-FFF2-40B4-BE49-F238E27FC236}">
                <a16:creationId xmlns:a16="http://schemas.microsoft.com/office/drawing/2014/main" id="{353DF27E-4444-4483-CFE0-5577F901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Graphical User Interface (GUI)</a:t>
            </a:r>
            <a:r>
              <a:rPr lang="en-US" altLang="en-US" sz="1800"/>
              <a:t>: Traditional interface with visual elements like buttons, icons, and menus. GUIs are widely used in desktop and mobile applications.</a:t>
            </a:r>
          </a:p>
          <a:p>
            <a:pPr marL="457200" lvl="1" indent="0">
              <a:spcBef>
                <a:spcPct val="0"/>
              </a:spcBef>
              <a:buClrTx/>
              <a:buSzTx/>
              <a:buNone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Voice User Interface (VUI)</a:t>
            </a:r>
            <a:r>
              <a:rPr lang="en-US" altLang="en-US" sz="1800"/>
              <a:t>: Interface that allows users to interact using voice commands. VUIs are integral to voice assistants and smart devices.</a:t>
            </a:r>
          </a:p>
          <a:p>
            <a:pPr marL="457200" lvl="1" indent="0">
              <a:spcBef>
                <a:spcPct val="0"/>
              </a:spcBef>
              <a:buClrTx/>
              <a:buSzTx/>
              <a:buNone/>
            </a:pPr>
            <a:endParaRPr lang="en-US" altLang="en-US" sz="1800"/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 b="1"/>
              <a:t>Multimodal User Interface</a:t>
            </a:r>
            <a:r>
              <a:rPr lang="en-US" altLang="en-US" sz="1800"/>
              <a:t>: This type of interface combines multiple modes of interaction, such as voice, touch, and gestures. It provides a more flexible and natural interaction experience.</a:t>
            </a:r>
          </a:p>
        </p:txBody>
      </p:sp>
    </p:spTree>
    <p:extLst>
      <p:ext uri="{BB962C8B-B14F-4D97-AF65-F5344CB8AC3E}">
        <p14:creationId xmlns:p14="http://schemas.microsoft.com/office/powerpoint/2010/main" val="1952107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User Interfaces (UI) and Multimodel UI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Multimodal User Interface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7E9922-DD33-0FED-A827-82A39718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Overview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Multimodal UIs integrate multiple input methods, such as voice, touch, and gestures.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They use sensor fusion to combine data from different input modalities.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Key Points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Enhances accessibility and user experience by providing flexible interaction options.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Example: Using voice commands to control a device while providing touch-based feedback on a screen.</a:t>
            </a:r>
          </a:p>
          <a:p>
            <a:pPr lvl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091331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User Interfaces (UI) and Multimodel UI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Developing a Simple Voice User Interface (VUI)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7E9922-DD33-0FED-A827-82A39718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3625"/>
            <a:ext cx="7848600" cy="307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Objective: </a:t>
            </a:r>
            <a:r>
              <a:rPr lang="en-US" altLang="en-US" sz="1800"/>
              <a:t>Develop a simple VUI to control basic operations (e.g., turning on/off a virtual device).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Steps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700"/>
              <a:t>Record voice commands for actions (e.g., "turn on", "turn off").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700"/>
              <a:t>Implement ASR to convert speech to text.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700"/>
              <a:t>Use simple NLU to interpret commands.</a:t>
            </a:r>
          </a:p>
          <a:p>
            <a:pPr marL="1085850" lvl="1" indent="-342900">
              <a:spcBef>
                <a:spcPct val="0"/>
              </a:spcBef>
              <a:buClrTx/>
              <a:buSzTx/>
              <a:buFont typeface="+mj-lt"/>
              <a:buAutoNum type="arabicPeriod"/>
            </a:pPr>
            <a:r>
              <a:rPr lang="en-US" altLang="en-US" sz="1700"/>
              <a:t>Perform actions based on recognized commands.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Input: </a:t>
            </a:r>
            <a:r>
              <a:rPr lang="en-US" altLang="en-US" sz="1800"/>
              <a:t>Voice commands.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Output: </a:t>
            </a:r>
            <a:r>
              <a:rPr lang="en-US" altLang="en-US" sz="1800"/>
              <a:t>Actions such as turning on/off a virtual device.</a:t>
            </a:r>
          </a:p>
        </p:txBody>
      </p:sp>
    </p:spTree>
    <p:extLst>
      <p:ext uri="{BB962C8B-B14F-4D97-AF65-F5344CB8AC3E}">
        <p14:creationId xmlns:p14="http://schemas.microsoft.com/office/powerpoint/2010/main" val="4279498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User Interfaces (UI) and Multimodel UI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Developing a Simple Voice User Interface (VUI)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AA6181-0BDE-B622-A977-D1C4941BC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514600"/>
            <a:ext cx="5505974" cy="311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80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User Interfaces (UI) and Multimodel UI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Developing a Simple Voice User Interface (VUI)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508424-A46C-52B5-26CB-E300DFE36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34014"/>
            <a:ext cx="5505974" cy="312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96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B0F061B2-38D5-324A-4365-AF5065D6C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3600"/>
              <a:t>User Interfaces (UI) and Multimodel UI</a:t>
            </a:r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23BC39A7-2092-9E59-F1AB-E3A2AEE2C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8B823E-F4EC-461C-91F9-5C01FFA9DA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778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D15EDB2-0760-4762-F8E4-3189BF86BCD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Summary</a:t>
            </a:r>
            <a:endParaRPr lang="vi-VN" altLang="en-US" sz="2000" b="1"/>
          </a:p>
        </p:txBody>
      </p:sp>
      <p:pic>
        <p:nvPicPr>
          <p:cNvPr id="77829" name="Picture 5">
            <a:extLst>
              <a:ext uri="{FF2B5EF4-FFF2-40B4-BE49-F238E27FC236}">
                <a16:creationId xmlns:a16="http://schemas.microsoft.com/office/drawing/2014/main" id="{FEC82F1D-9FFC-278B-3FA7-B74272EF4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82CA30-F38D-C323-125A-C7CAC1A86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209800"/>
            <a:ext cx="66294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User Interfaces (UI) and Multimodal UIs are crucial for effective human-computer interaction.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VUIs leverage ASR and NLU to interpret and respond to voice commands.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Multimodal UIs combine various input methods for a flexible interaction experience.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Enhanced natural language processing for more accurate intent recognition.</a:t>
            </a:r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800"/>
              <a:t>Improved multimodal integration for seamless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587433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EC62E08C-C8B1-4633-D085-1F570E4C6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79875" name="Slide Number Placeholder 6">
            <a:extLst>
              <a:ext uri="{FF2B5EF4-FFF2-40B4-BE49-F238E27FC236}">
                <a16:creationId xmlns:a16="http://schemas.microsoft.com/office/drawing/2014/main" id="{89337DEC-FDB4-3202-1B3A-95A1E642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41EC34-4426-4967-85B1-0430E653E9B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pic>
        <p:nvPicPr>
          <p:cNvPr id="79876" name="Picture 3">
            <a:extLst>
              <a:ext uri="{FF2B5EF4-FFF2-40B4-BE49-F238E27FC236}">
                <a16:creationId xmlns:a16="http://schemas.microsoft.com/office/drawing/2014/main" id="{F769647B-93E8-A6AE-7F94-FA05521B7A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5139</TotalTime>
  <Words>1290</Words>
  <Application>Microsoft Office PowerPoint</Application>
  <PresentationFormat>On-screen Show (4:3)</PresentationFormat>
  <Paragraphs>227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Cambria Math</vt:lpstr>
      <vt:lpstr>Tahoma</vt:lpstr>
      <vt:lpstr>Times New Roman</vt:lpstr>
      <vt:lpstr>Wingdings</vt:lpstr>
      <vt:lpstr>Blueprint</vt:lpstr>
      <vt:lpstr>Automatic Speech Recognition and NLU</vt:lpstr>
      <vt:lpstr>Contents</vt:lpstr>
      <vt:lpstr>Basic ASR Formulation</vt:lpstr>
      <vt:lpstr>Basic ASR Formulation</vt:lpstr>
      <vt:lpstr>Basic ASR Formulation</vt:lpstr>
      <vt:lpstr>Basic ASR Formulation</vt:lpstr>
      <vt:lpstr>Basic ASR Formulation</vt:lpstr>
      <vt:lpstr>Basic ASR Formulation</vt:lpstr>
      <vt:lpstr>Basic ASR Formulation</vt:lpstr>
      <vt:lpstr>Basic ASR Formulation</vt:lpstr>
      <vt:lpstr>Basic ASR Formulation</vt:lpstr>
      <vt:lpstr>Basic ASR Formulation</vt:lpstr>
      <vt:lpstr>Basic ASR Formulation</vt:lpstr>
      <vt:lpstr>Overall Speech Recognition Process</vt:lpstr>
      <vt:lpstr>Overall Speech Recognition Process</vt:lpstr>
      <vt:lpstr>Overall Speech Recognition Process</vt:lpstr>
      <vt:lpstr>Overall Speech Recognition Process</vt:lpstr>
      <vt:lpstr>Overall Speech Recognition Process</vt:lpstr>
      <vt:lpstr>User Interfaces (UI) and Multimodel UI</vt:lpstr>
      <vt:lpstr>User Interfaces (UI) and Multimodel UI</vt:lpstr>
      <vt:lpstr>User Interfaces (UI) and Multimodel UI</vt:lpstr>
      <vt:lpstr>User Interfaces (UI) and Multimodel UI</vt:lpstr>
      <vt:lpstr>User Interfaces (UI) and Multimodel UI</vt:lpstr>
      <vt:lpstr>User Interfaces (UI) and Multimodel UI</vt:lpstr>
      <vt:lpstr>User Interfaces (UI) and Multimodel UI</vt:lpstr>
      <vt:lpstr>User Interfaces (UI) and Multimodel UI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Nguyen Luong Vuong (FE FPTU DN)</cp:lastModifiedBy>
  <cp:revision>276</cp:revision>
  <dcterms:created xsi:type="dcterms:W3CDTF">2022-10-28T07:26:15Z</dcterms:created>
  <dcterms:modified xsi:type="dcterms:W3CDTF">2024-05-17T14:15:26Z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