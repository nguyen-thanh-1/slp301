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8"/>
  </p:notesMasterIdLst>
  <p:handoutMasterIdLst>
    <p:handoutMasterId r:id="rId39"/>
  </p:handoutMasterIdLst>
  <p:sldIdLst>
    <p:sldId id="256" r:id="rId2"/>
    <p:sldId id="363" r:id="rId3"/>
    <p:sldId id="376" r:id="rId4"/>
    <p:sldId id="391" r:id="rId5"/>
    <p:sldId id="395" r:id="rId6"/>
    <p:sldId id="396" r:id="rId7"/>
    <p:sldId id="397" r:id="rId8"/>
    <p:sldId id="398" r:id="rId9"/>
    <p:sldId id="399" r:id="rId10"/>
    <p:sldId id="400" r:id="rId11"/>
    <p:sldId id="401" r:id="rId12"/>
    <p:sldId id="402" r:id="rId13"/>
    <p:sldId id="403" r:id="rId14"/>
    <p:sldId id="404" r:id="rId15"/>
    <p:sldId id="407" r:id="rId16"/>
    <p:sldId id="405" r:id="rId17"/>
    <p:sldId id="408" r:id="rId18"/>
    <p:sldId id="392" r:id="rId19"/>
    <p:sldId id="409" r:id="rId20"/>
    <p:sldId id="410" r:id="rId21"/>
    <p:sldId id="411" r:id="rId22"/>
    <p:sldId id="412" r:id="rId23"/>
    <p:sldId id="413" r:id="rId24"/>
    <p:sldId id="414" r:id="rId25"/>
    <p:sldId id="393" r:id="rId26"/>
    <p:sldId id="415" r:id="rId27"/>
    <p:sldId id="416" r:id="rId28"/>
    <p:sldId id="417" r:id="rId29"/>
    <p:sldId id="418" r:id="rId30"/>
    <p:sldId id="419" r:id="rId31"/>
    <p:sldId id="420" r:id="rId32"/>
    <p:sldId id="394" r:id="rId33"/>
    <p:sldId id="421" r:id="rId34"/>
    <p:sldId id="422" r:id="rId35"/>
    <p:sldId id="423" r:id="rId36"/>
    <p:sldId id="347" r:id="rId37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B2B"/>
    <a:srgbClr val="F8F0D0"/>
    <a:srgbClr val="F2E4AA"/>
    <a:srgbClr val="000000"/>
    <a:srgbClr val="E4B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9"/>
    <p:restoredTop sz="94751"/>
  </p:normalViewPr>
  <p:slideViewPr>
    <p:cSldViewPr>
      <p:cViewPr varScale="1">
        <p:scale>
          <a:sx n="88" d="100"/>
          <a:sy n="88" d="100"/>
        </p:scale>
        <p:origin x="28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531528B-3A90-6659-EAF6-4A89955B4E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7D75F7E-90EE-788B-63D2-7B45C0A1C68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6632A3FD-B976-D0ED-B67B-0872174E097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CF221C25-E2B0-4B89-FD4E-434D6A3569D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8A826A20-2012-429F-B359-A8CCD5F819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A782820-E97A-7CD3-4EA5-3EDD052AAD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3344159-DE25-09FF-3699-292F7940F54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34A97AB-04CF-D906-D319-ACEFCF562CA9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1DE52E2-73C6-6847-9F8A-2BF02080077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EFD3014-F386-8FC3-3C0A-6EE3B526E09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2B51331-909A-177A-1863-89AB4C6D33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6E7B2712-02EA-43D4-ABD8-797B123F85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870CB46B-9F71-0E28-1300-008AFB278B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E2AB36F5-31D1-C556-6270-EB32C86C9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F15283E1-B051-1517-8B72-D2D42DEAD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24F4F2-2AC0-4099-BDDC-25B121A4C6DC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9AC31F40-2F69-0801-5994-B1351B6B8F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BC1FEE59-45ED-8FFA-EA29-EFCFDC594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150CDAC1-01B9-24E5-1E0F-6BFE35AF1A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32785D4-12AB-4D08-8F47-71BF1AE810D3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714DA0C0-61A3-7754-6051-9C9715664F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20949810-6D40-3EC7-7CF1-C50D021D7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043C5122-BEC3-77CD-5B85-3C06A5007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536EFD8-BDEB-4F66-8779-0D1AF4A2425C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C014A654-447C-D2DD-5657-1C434BA378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B770C222-82CC-2C90-5532-9FAFD7993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061F9215-81E2-A949-1304-7FA47FB683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B86F16-4E3B-4D07-AE89-FC4B1CD2C609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C1AA7B41-7628-5FD1-5DDA-E42F4A160B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481AFD82-DA3E-6AE5-8992-4E8582940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8FC13582-B4D4-3CDB-4645-EDDFFCEBC3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126BB1A-CB9F-468C-A32E-A02DF2B1EA23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1F217A12-08EF-717C-F589-02E0B147EA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9E70EC16-C6E5-CAEB-A2DE-AC233CA12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D1993C49-F095-E57A-7962-385E509FE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EED119-BD56-4905-8C5C-2255450571A5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5755C867-8085-D1F7-8735-F0865A8B2C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8DF4609E-D82C-13F2-46E7-30CBE092A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DB6AE30D-E5A0-82DD-6475-0CF06E20C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077D29D-29D5-4E91-B6A1-2A69178A020E}" type="slidenum">
              <a:rPr lang="en-US" altLang="en-US" sz="1300" smtClean="0"/>
              <a:pPr/>
              <a:t>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D21AC412-8126-F177-B65B-30EDBF68A2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8CE41BAA-8A6C-4C18-B612-A4225DA71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05CE8150-2897-C6B8-C64C-93E75A373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406453-A2C4-4C26-A16F-023EF9863DFD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DE6CC50A-B431-EFE4-A40A-2C63E541DF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D48A1929-BA7C-E9E5-F17A-D65F1F0BD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7ACB7096-F93C-B021-232E-EC7CADC0E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2BFB683-C020-420E-BFE1-AAADCD7614DF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B0700562-C079-16EC-799B-CE612DB65F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9E86A131-C78E-63B3-18AA-1C3B8F156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5D97F243-0154-418A-6551-1870BA9406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4D84233-94A6-4C5D-BBC7-86BF17F5CC44}" type="slidenum">
              <a:rPr lang="en-US" altLang="en-US" sz="1300" smtClean="0"/>
              <a:pPr/>
              <a:t>11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74A84E4A-BE92-2125-693E-FFD3D46C29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2B714489-A081-0EAC-D751-92C30BD43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4904FBE7-8E1B-7314-BBD5-FDAE66683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8895C4B-FDDB-478A-91BA-6C7160F1C400}" type="slidenum">
              <a:rPr lang="en-US" altLang="en-US" sz="1300" smtClean="0"/>
              <a:pPr/>
              <a:t>12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E5856AE4-F819-737B-26C1-7D74E448C3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B909BE88-9F20-E43F-BEA7-E47983133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45945FDE-A17C-5FE6-A941-DE8F019D3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1996F74-6F5F-4F07-812D-8E4B5DA5AB4E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89B1FEE4-15D4-F03F-038B-EE8A02BB2C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9D471EFB-CC81-02F4-653E-E33CE0B7E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0EA071D2-A214-3772-4AC4-3EB86091B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1031874-C8B5-4490-9D06-6441698541F0}" type="slidenum">
              <a:rPr lang="en-US" altLang="en-US" sz="1300" smtClean="0"/>
              <a:pPr/>
              <a:t>14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646DB22D-1F46-5EA1-E725-28A9168D03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94209F09-DA6C-F914-F5D1-E0EDF77DF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5AC1BD9C-F1CB-41C1-5214-EAEB80214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71BC054-1F6E-4243-B22F-EE3FA29CE0F9}" type="slidenum">
              <a:rPr lang="en-US" altLang="en-US" sz="1300" smtClean="0"/>
              <a:pPr/>
              <a:t>15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C7F78CF1-CC31-5AEF-04D7-6C8FB4DAE8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7212EC78-7BA6-F588-7755-EE62AC7AE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3D1F7931-CD31-7868-E79E-22014DE06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9856377-F9EB-4688-BB83-641B710C25B8}" type="slidenum">
              <a:rPr lang="en-US" altLang="en-US" sz="1300" smtClean="0"/>
              <a:pPr/>
              <a:t>16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8CFC6978-AE8D-8A0B-DD5D-E4EC68144E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D1FE22D4-CF20-3A1A-0699-432163288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FFD084B0-0D3A-4919-5C1D-012BFF572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5151CEF-3669-451C-929B-A33354EC7E26}" type="slidenum">
              <a:rPr lang="en-US" altLang="en-US" sz="1300" smtClean="0"/>
              <a:pPr/>
              <a:t>17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8B1462A6-47C9-E4F5-B54E-238A921F53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F9D8ADBA-8AA9-D90F-767B-1C91F201C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CD846500-0898-0659-D495-C99307CAA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3A8B53-EFF5-4604-95E4-2737D875F4EF}" type="slidenum">
              <a:rPr lang="en-US" altLang="en-US" sz="1300" smtClean="0"/>
              <a:pPr/>
              <a:t>18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6F4C71F8-8532-BCFE-5CE3-15193BFFB1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E605372F-65A4-C56F-84D9-BA416A6BB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E51BB134-15A7-E406-23C7-371A40C46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C6644D-A1E5-49C2-A6F0-D22F9871619C}" type="slidenum">
              <a:rPr lang="en-US" altLang="en-US" sz="1300" smtClean="0"/>
              <a:pPr/>
              <a:t>19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1AD57585-DC3D-A716-4468-18CF05F9A2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3ED09332-F5C4-9934-4B20-2F615C388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164ED961-C657-08FC-2877-BA7355B60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7FE94B2-C370-4688-9F61-3D0DA7EB7296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4C5FA14E-FF3D-4FCC-07BB-4028698AF0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99D3DEEC-7BD7-73B4-86C6-F28C78BB2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4C86D791-C13B-3AFE-A97E-02B394BBA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EB14CC1-6237-43B5-A404-05BA8604B924}" type="slidenum">
              <a:rPr lang="en-US" altLang="en-US" sz="1300" smtClean="0"/>
              <a:pPr/>
              <a:t>21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C2DF3646-1839-6C56-E736-B295D03291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C2F9D04E-4D31-3E92-47AD-4BEE81478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D1C7D8F3-B75C-D05D-8FB5-90914900A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133026C-93F1-473F-9FD4-CA831C0D36CF}" type="slidenum">
              <a:rPr lang="en-US" altLang="en-US" sz="1300" smtClean="0"/>
              <a:pPr/>
              <a:t>22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03DEA119-E23E-0825-9D80-CF9B792868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0563B460-BD2E-54F5-8CFE-FAAA5ECB4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E725E41F-0F64-2D0B-EF0B-1B19BC102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7E2F5B3-6D1B-4CDF-A285-B0D2750876D0}" type="slidenum">
              <a:rPr lang="en-US" altLang="en-US" sz="1300" smtClean="0"/>
              <a:pPr/>
              <a:t>23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2391AE59-E637-543F-DAA5-CBE1756851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CF4A3225-071E-6585-0703-4C0FDEFF2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CCCCF458-809A-EE16-DB04-D2FB1E000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4D81C74-E56A-4299-B424-3FE4F53ACDE6}" type="slidenum">
              <a:rPr lang="en-US" altLang="en-US" sz="1300" smtClean="0"/>
              <a:pPr/>
              <a:t>24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D13094E0-2E11-9252-6616-4B7153BCF7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54556606-5976-1736-59B8-F13A9F24C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44C15A03-7EE1-1E5E-5E59-AD4A6AFF8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66FE0A9-97D5-4828-8F8E-15251B8BD31B}" type="slidenum">
              <a:rPr lang="en-US" altLang="en-US" sz="1300" smtClean="0"/>
              <a:pPr/>
              <a:t>25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29455B9E-9049-9449-76B5-2EEA4A9538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59D6500F-B468-F71B-D982-0883E7663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0305EB89-4E33-64BE-4221-8D3FD9CC04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A7F0B33-6CE1-4138-8500-E93040441F9B}" type="slidenum">
              <a:rPr lang="en-US" altLang="en-US" sz="1300" smtClean="0"/>
              <a:pPr/>
              <a:t>26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CC3FB531-C5D4-EC93-E722-274FAB41DA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8364B956-C99E-40EE-B842-FB4E12544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4C7F2A09-4578-1B30-DBE2-AAE893F85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5CFAB05-F9C8-4B7B-91A2-40D09B40A6DE}" type="slidenum">
              <a:rPr lang="en-US" altLang="en-US" sz="1300" smtClean="0"/>
              <a:pPr/>
              <a:t>27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>
            <a:extLst>
              <a:ext uri="{FF2B5EF4-FFF2-40B4-BE49-F238E27FC236}">
                <a16:creationId xmlns:a16="http://schemas.microsoft.com/office/drawing/2014/main" id="{27FE29EA-FD5D-6615-A24C-C05A18DB20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>
            <a:extLst>
              <a:ext uri="{FF2B5EF4-FFF2-40B4-BE49-F238E27FC236}">
                <a16:creationId xmlns:a16="http://schemas.microsoft.com/office/drawing/2014/main" id="{3B271203-1174-74BE-7F1E-A6383B3DE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14C5B50C-E104-A81D-4C4E-93001A191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EE71125-5BC7-4D7B-9B55-57971BF03094}" type="slidenum">
              <a:rPr lang="en-US" altLang="en-US" sz="1300" smtClean="0"/>
              <a:pPr/>
              <a:t>28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>
            <a:extLst>
              <a:ext uri="{FF2B5EF4-FFF2-40B4-BE49-F238E27FC236}">
                <a16:creationId xmlns:a16="http://schemas.microsoft.com/office/drawing/2014/main" id="{9A4290D3-AB30-F913-4F64-CF41BB3F7E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>
            <a:extLst>
              <a:ext uri="{FF2B5EF4-FFF2-40B4-BE49-F238E27FC236}">
                <a16:creationId xmlns:a16="http://schemas.microsoft.com/office/drawing/2014/main" id="{F73DC927-B33D-3042-355F-3DBE17142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AC6A7232-9F59-2D9B-EC81-C962683EC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FD4F7F-7AE3-4609-A748-C08495B6D1A2}" type="slidenum">
              <a:rPr lang="en-US" altLang="en-US" sz="1300" smtClean="0"/>
              <a:pPr/>
              <a:t>29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095AF758-003B-0F0D-8707-D9AF2D4A9D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F87F8CEB-8FB4-A0C8-8C99-8D336D75C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14AC1178-1F0E-82D5-3A74-4CC4DFAA8F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34097C-49B7-4BB6-BB34-40E3C0B56151}" type="slidenum">
              <a:rPr lang="en-US" altLang="en-US" sz="1300" smtClean="0"/>
              <a:pPr/>
              <a:t>30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6E778A29-0D73-D546-C5B1-92B3C77B8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A6C5A18A-B895-086A-439F-A763FC0C8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1BEBD68F-345A-5D96-1ED0-A4B0833A53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74ECC0C-AA79-4F5C-A5A4-2B35ACF90664}" type="slidenum">
              <a:rPr lang="en-US" altLang="en-US" sz="1300" smtClean="0"/>
              <a:pPr/>
              <a:t>31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>
            <a:extLst>
              <a:ext uri="{FF2B5EF4-FFF2-40B4-BE49-F238E27FC236}">
                <a16:creationId xmlns:a16="http://schemas.microsoft.com/office/drawing/2014/main" id="{018BCA3B-078A-CAE4-4679-505A414687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>
            <a:extLst>
              <a:ext uri="{FF2B5EF4-FFF2-40B4-BE49-F238E27FC236}">
                <a16:creationId xmlns:a16="http://schemas.microsoft.com/office/drawing/2014/main" id="{F6C5299B-13F0-9965-AAF9-494D5F6D8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3359C4D0-9072-C132-103C-CAE2102AF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AF6BA69-70CC-46A3-9E4D-2B7432FC34E4}" type="slidenum">
              <a:rPr lang="en-US" altLang="en-US" sz="1300" smtClean="0"/>
              <a:pPr/>
              <a:t>32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>
            <a:extLst>
              <a:ext uri="{FF2B5EF4-FFF2-40B4-BE49-F238E27FC236}">
                <a16:creationId xmlns:a16="http://schemas.microsoft.com/office/drawing/2014/main" id="{CB5ABA04-EE93-8FF8-2670-F655080135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>
            <a:extLst>
              <a:ext uri="{FF2B5EF4-FFF2-40B4-BE49-F238E27FC236}">
                <a16:creationId xmlns:a16="http://schemas.microsoft.com/office/drawing/2014/main" id="{0AFF478B-61EB-EC99-23FA-39B035844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3CE64080-3BC1-AD3A-3EA6-5D316A8FB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8688318-9A38-4B7B-816A-45187BA616EF}" type="slidenum">
              <a:rPr lang="en-US" altLang="en-US" sz="1300" smtClean="0"/>
              <a:pPr/>
              <a:t>33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>
            <a:extLst>
              <a:ext uri="{FF2B5EF4-FFF2-40B4-BE49-F238E27FC236}">
                <a16:creationId xmlns:a16="http://schemas.microsoft.com/office/drawing/2014/main" id="{5CA32EB5-3FE9-112F-7B86-464A47EE10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>
            <a:extLst>
              <a:ext uri="{FF2B5EF4-FFF2-40B4-BE49-F238E27FC236}">
                <a16:creationId xmlns:a16="http://schemas.microsoft.com/office/drawing/2014/main" id="{42A2F163-9599-F164-3526-177199FA5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97CD6EA4-AE44-890B-FF10-644CBAE20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D8646AD-89DE-471A-BEA6-21E03B41C8C6}" type="slidenum">
              <a:rPr lang="en-US" altLang="en-US" sz="1300" smtClean="0"/>
              <a:pPr/>
              <a:t>34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E81A4010-6EC5-3BF0-5968-2FF1A825D5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00429318-7E8C-206E-A733-BA252FFA2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3E66ED53-5366-BC32-992F-BA320D414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BF1D905-9D85-42E6-96B7-85C30C66E218}" type="slidenum">
              <a:rPr lang="en-US" altLang="en-US" sz="1300" smtClean="0"/>
              <a:pPr/>
              <a:t>35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63C78AA-5A64-FF7E-6058-1F95608FB3A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8069F638-B5AA-A7EA-9E39-EB7ABE0627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E1D62D23-C1CA-BA22-A6DA-FF0F4D56D381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4" name="Group 5">
                <a:extLst>
                  <a:ext uri="{FF2B5EF4-FFF2-40B4-BE49-F238E27FC236}">
                    <a16:creationId xmlns:a16="http://schemas.microsoft.com/office/drawing/2014/main" id="{9E73396D-BC0E-8A21-114B-C247E2752E57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FEB39322-E934-E5F7-5EFC-F51EAC36CD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B896A3B9-FAD6-CECD-8466-4793B47DFE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8869CAB9-A213-4C4D-BB88-0AD4969F8A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6DCCD414-8765-400A-361D-DCE9C4AB9D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EF66FC89-F851-FFD1-C4B2-ED92C8B66D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E2AAF5F7-E427-3363-DBF3-FD200ADE4A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F3CC07A2-3D8B-DFB0-B5CC-F3B1287E2F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C1F4F93E-2E17-63B5-6E9A-D7CEE9D98B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DCB52083-4FCE-A588-B4BD-C9D2ABD880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5" name="Line 15">
                  <a:extLst>
                    <a:ext uri="{FF2B5EF4-FFF2-40B4-BE49-F238E27FC236}">
                      <a16:creationId xmlns:a16="http://schemas.microsoft.com/office/drawing/2014/main" id="{6940B217-6C4C-5F75-23C5-75AA3D41C6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E32E53B5-A43B-47CF-E2A8-EB72DF3133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7" name="Line 17">
                  <a:extLst>
                    <a:ext uri="{FF2B5EF4-FFF2-40B4-BE49-F238E27FC236}">
                      <a16:creationId xmlns:a16="http://schemas.microsoft.com/office/drawing/2014/main" id="{6F6C622F-352D-2FB1-A24D-A3A80ECE81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8" name="Line 18">
                  <a:extLst>
                    <a:ext uri="{FF2B5EF4-FFF2-40B4-BE49-F238E27FC236}">
                      <a16:creationId xmlns:a16="http://schemas.microsoft.com/office/drawing/2014/main" id="{1B00301A-4325-D52E-18E0-7F5ACF6863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DCBD9FA2-B08B-627A-5B32-A65D2E5EB8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0" name="Line 20">
                  <a:extLst>
                    <a:ext uri="{FF2B5EF4-FFF2-40B4-BE49-F238E27FC236}">
                      <a16:creationId xmlns:a16="http://schemas.microsoft.com/office/drawing/2014/main" id="{B98DC5AE-0962-7308-2322-E2D5A0EECD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1" name="Line 21">
                  <a:extLst>
                    <a:ext uri="{FF2B5EF4-FFF2-40B4-BE49-F238E27FC236}">
                      <a16:creationId xmlns:a16="http://schemas.microsoft.com/office/drawing/2014/main" id="{97192DCF-6289-4C38-858F-D208467DB5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2" name="Line 22">
                  <a:extLst>
                    <a:ext uri="{FF2B5EF4-FFF2-40B4-BE49-F238E27FC236}">
                      <a16:creationId xmlns:a16="http://schemas.microsoft.com/office/drawing/2014/main" id="{1705AB47-726C-DB31-B28B-2B250B943B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3" name="Line 23">
                  <a:extLst>
                    <a:ext uri="{FF2B5EF4-FFF2-40B4-BE49-F238E27FC236}">
                      <a16:creationId xmlns:a16="http://schemas.microsoft.com/office/drawing/2014/main" id="{88A1DD81-D58B-268B-2F9F-8A0996B607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4" name="Line 24">
                  <a:extLst>
                    <a:ext uri="{FF2B5EF4-FFF2-40B4-BE49-F238E27FC236}">
                      <a16:creationId xmlns:a16="http://schemas.microsoft.com/office/drawing/2014/main" id="{9201B4BD-AA1B-5A95-AF59-990CC8BC31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5" name="Line 25">
                  <a:extLst>
                    <a:ext uri="{FF2B5EF4-FFF2-40B4-BE49-F238E27FC236}">
                      <a16:creationId xmlns:a16="http://schemas.microsoft.com/office/drawing/2014/main" id="{0E025037-ADAB-990D-5F4C-F982FE1EB3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910656E6-D570-EA10-EAD4-74A145098B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2B298781-1008-AB3F-B89B-6F8FC5BCC8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8" name="Line 28">
                  <a:extLst>
                    <a:ext uri="{FF2B5EF4-FFF2-40B4-BE49-F238E27FC236}">
                      <a16:creationId xmlns:a16="http://schemas.microsoft.com/office/drawing/2014/main" id="{27FD864F-09C6-769E-F115-D0B272FF0C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9" name="Line 29">
                  <a:extLst>
                    <a:ext uri="{FF2B5EF4-FFF2-40B4-BE49-F238E27FC236}">
                      <a16:creationId xmlns:a16="http://schemas.microsoft.com/office/drawing/2014/main" id="{45501E96-652C-22CA-0720-26F6BC4AB7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0" name="Line 30">
                  <a:extLst>
                    <a:ext uri="{FF2B5EF4-FFF2-40B4-BE49-F238E27FC236}">
                      <a16:creationId xmlns:a16="http://schemas.microsoft.com/office/drawing/2014/main" id="{AF15F1E2-5FB1-8389-AF0F-DC0E3BD1F4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F39AEDFB-D38E-5C7B-AA60-E3BC9D6B9B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BD820140-7FF2-891A-2E08-EFFF8859F7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3" name="Line 33">
                  <a:extLst>
                    <a:ext uri="{FF2B5EF4-FFF2-40B4-BE49-F238E27FC236}">
                      <a16:creationId xmlns:a16="http://schemas.microsoft.com/office/drawing/2014/main" id="{D1B1B9E0-3929-9DFB-C7C9-CCD1381038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9F169926-25B4-DCE0-57C1-5F87463C8B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5" name="Line 35">
                  <a:extLst>
                    <a:ext uri="{FF2B5EF4-FFF2-40B4-BE49-F238E27FC236}">
                      <a16:creationId xmlns:a16="http://schemas.microsoft.com/office/drawing/2014/main" id="{BE7EB30F-6D5D-229B-2A9D-536237F04E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6" name="Line 36">
                  <a:extLst>
                    <a:ext uri="{FF2B5EF4-FFF2-40B4-BE49-F238E27FC236}">
                      <a16:creationId xmlns:a16="http://schemas.microsoft.com/office/drawing/2014/main" id="{13E008CE-084A-DE4E-FE09-95E99DE3C6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7" name="Line 37">
                  <a:extLst>
                    <a:ext uri="{FF2B5EF4-FFF2-40B4-BE49-F238E27FC236}">
                      <a16:creationId xmlns:a16="http://schemas.microsoft.com/office/drawing/2014/main" id="{8694B04B-C0E3-2CC9-6A49-61986950DA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8" name="Line 38">
                  <a:extLst>
                    <a:ext uri="{FF2B5EF4-FFF2-40B4-BE49-F238E27FC236}">
                      <a16:creationId xmlns:a16="http://schemas.microsoft.com/office/drawing/2014/main" id="{AC4069F3-402D-FF08-E5C6-1E43C8E10D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9" name="Line 39">
                  <a:extLst>
                    <a:ext uri="{FF2B5EF4-FFF2-40B4-BE49-F238E27FC236}">
                      <a16:creationId xmlns:a16="http://schemas.microsoft.com/office/drawing/2014/main" id="{3B69865F-1F9E-0365-085B-52DBC37DCF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0" name="Line 40">
                  <a:extLst>
                    <a:ext uri="{FF2B5EF4-FFF2-40B4-BE49-F238E27FC236}">
                      <a16:creationId xmlns:a16="http://schemas.microsoft.com/office/drawing/2014/main" id="{DCAEC505-5331-4B27-48E3-CD35C2703C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1" name="Line 41">
                  <a:extLst>
                    <a:ext uri="{FF2B5EF4-FFF2-40B4-BE49-F238E27FC236}">
                      <a16:creationId xmlns:a16="http://schemas.microsoft.com/office/drawing/2014/main" id="{9C4B58C2-A07D-35B4-21FC-43D14A5FA4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2" name="Line 42">
                  <a:extLst>
                    <a:ext uri="{FF2B5EF4-FFF2-40B4-BE49-F238E27FC236}">
                      <a16:creationId xmlns:a16="http://schemas.microsoft.com/office/drawing/2014/main" id="{0FD63171-2C71-CCE5-24A6-AE7B9B9AA2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3" name="Line 43">
                  <a:extLst>
                    <a:ext uri="{FF2B5EF4-FFF2-40B4-BE49-F238E27FC236}">
                      <a16:creationId xmlns:a16="http://schemas.microsoft.com/office/drawing/2014/main" id="{8576998D-22CB-DC6A-B731-6EDD87323C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4" name="Line 44">
                  <a:extLst>
                    <a:ext uri="{FF2B5EF4-FFF2-40B4-BE49-F238E27FC236}">
                      <a16:creationId xmlns:a16="http://schemas.microsoft.com/office/drawing/2014/main" id="{B3F1F168-04D0-73A3-7D0E-09E9BB43A3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E8CB7443-E56E-72E5-20B2-2149ADC647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C3B2A4FA-DA9A-599B-CBD3-C81A132436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79E2CD47-5E43-0A23-2303-D2BE1E82A9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8" name="Line 48">
                  <a:extLst>
                    <a:ext uri="{FF2B5EF4-FFF2-40B4-BE49-F238E27FC236}">
                      <a16:creationId xmlns:a16="http://schemas.microsoft.com/office/drawing/2014/main" id="{0658A9E6-3C31-081C-19F1-749098DBDC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9" name="Line 49">
                  <a:extLst>
                    <a:ext uri="{FF2B5EF4-FFF2-40B4-BE49-F238E27FC236}">
                      <a16:creationId xmlns:a16="http://schemas.microsoft.com/office/drawing/2014/main" id="{FB4CE6C5-4D6B-0871-7F0A-605C78EA4D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60" name="Line 50">
                  <a:extLst>
                    <a:ext uri="{FF2B5EF4-FFF2-40B4-BE49-F238E27FC236}">
                      <a16:creationId xmlns:a16="http://schemas.microsoft.com/office/drawing/2014/main" id="{8B8164FF-6CC5-0DC1-CE70-ADB976ECFA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A7F23ED1-7A5E-345D-CC4A-5FC33DDB27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62" name="Line 52">
                  <a:extLst>
                    <a:ext uri="{FF2B5EF4-FFF2-40B4-BE49-F238E27FC236}">
                      <a16:creationId xmlns:a16="http://schemas.microsoft.com/office/drawing/2014/main" id="{5D4E8820-02C9-CCBF-4B1C-C6D8F24DC1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63" name="Line 53">
                  <a:extLst>
                    <a:ext uri="{FF2B5EF4-FFF2-40B4-BE49-F238E27FC236}">
                      <a16:creationId xmlns:a16="http://schemas.microsoft.com/office/drawing/2014/main" id="{565BF7CC-EF87-F522-824B-5BA7C1EA22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184" name="Line 54">
                  <a:extLst>
                    <a:ext uri="{FF2B5EF4-FFF2-40B4-BE49-F238E27FC236}">
                      <a16:creationId xmlns:a16="http://schemas.microsoft.com/office/drawing/2014/main" id="{3C4DBA07-AEDE-A136-2D68-940D8A30D6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185" name="Line 55">
                  <a:extLst>
                    <a:ext uri="{FF2B5EF4-FFF2-40B4-BE49-F238E27FC236}">
                      <a16:creationId xmlns:a16="http://schemas.microsoft.com/office/drawing/2014/main" id="{F61139CE-C03D-F0FF-E19E-136A9EA005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186" name="Line 56">
                  <a:extLst>
                    <a:ext uri="{FF2B5EF4-FFF2-40B4-BE49-F238E27FC236}">
                      <a16:creationId xmlns:a16="http://schemas.microsoft.com/office/drawing/2014/main" id="{56B3A93F-9209-6654-7A1C-C5637FFE54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</p:grpSp>
          <p:sp>
            <p:nvSpPr>
              <p:cNvPr id="15" name="Line 57">
                <a:extLst>
                  <a:ext uri="{FF2B5EF4-FFF2-40B4-BE49-F238E27FC236}">
                    <a16:creationId xmlns:a16="http://schemas.microsoft.com/office/drawing/2014/main" id="{2E4DF08A-ECD8-8F9C-E0E2-2EAF902B9C22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grpSp>
          <p:nvGrpSpPr>
            <p:cNvPr id="4" name="Group 58">
              <a:extLst>
                <a:ext uri="{FF2B5EF4-FFF2-40B4-BE49-F238E27FC236}">
                  <a16:creationId xmlns:a16="http://schemas.microsoft.com/office/drawing/2014/main" id="{303A825D-ADF6-638A-2193-E72C4340D27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59">
                <a:extLst>
                  <a:ext uri="{FF2B5EF4-FFF2-40B4-BE49-F238E27FC236}">
                    <a16:creationId xmlns:a16="http://schemas.microsoft.com/office/drawing/2014/main" id="{8D254CDD-8D03-1F1B-A1CB-223406B51321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0" name="Line 60">
                <a:extLst>
                  <a:ext uri="{FF2B5EF4-FFF2-40B4-BE49-F238E27FC236}">
                    <a16:creationId xmlns:a16="http://schemas.microsoft.com/office/drawing/2014/main" id="{107F6EB8-7DAF-43F3-A4AC-9A4E80161B31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1" name="Line 61">
                <a:extLst>
                  <a:ext uri="{FF2B5EF4-FFF2-40B4-BE49-F238E27FC236}">
                    <a16:creationId xmlns:a16="http://schemas.microsoft.com/office/drawing/2014/main" id="{9A42A108-8EA2-249E-84B5-5BBFCC771972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2" name="Arc 62">
                <a:extLst>
                  <a:ext uri="{FF2B5EF4-FFF2-40B4-BE49-F238E27FC236}">
                    <a16:creationId xmlns:a16="http://schemas.microsoft.com/office/drawing/2014/main" id="{E29CE4C3-EAFE-9695-E059-14A734694B18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grpSp>
          <p:nvGrpSpPr>
            <p:cNvPr id="5" name="Group 63">
              <a:extLst>
                <a:ext uri="{FF2B5EF4-FFF2-40B4-BE49-F238E27FC236}">
                  <a16:creationId xmlns:a16="http://schemas.microsoft.com/office/drawing/2014/main" id="{CFEEAE73-513A-D56D-1935-20DF7DDFE45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4">
                <a:extLst>
                  <a:ext uri="{FF2B5EF4-FFF2-40B4-BE49-F238E27FC236}">
                    <a16:creationId xmlns:a16="http://schemas.microsoft.com/office/drawing/2014/main" id="{4A43E79F-D77B-968C-5867-197E9C01DC3C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6405CBF9-2EAF-EC2A-88EC-8672DCFFA67D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8" name="Arc 66">
                <a:extLst>
                  <a:ext uri="{FF2B5EF4-FFF2-40B4-BE49-F238E27FC236}">
                    <a16:creationId xmlns:a16="http://schemas.microsoft.com/office/drawing/2014/main" id="{07067CB8-838F-C5BB-0378-3B4B7BE1374E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89" name="Slide Number Placeholder 73">
            <a:extLst>
              <a:ext uri="{FF2B5EF4-FFF2-40B4-BE49-F238E27FC236}">
                <a16:creationId xmlns:a16="http://schemas.microsoft.com/office/drawing/2014/main" id="{28045451-E43A-2519-748A-34BA528092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F78E6E-B20B-487A-81CE-319B8937DC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190" name="Rectangle 65">
            <a:extLst>
              <a:ext uri="{FF2B5EF4-FFF2-40B4-BE49-F238E27FC236}">
                <a16:creationId xmlns:a16="http://schemas.microsoft.com/office/drawing/2014/main" id="{C9956333-41D2-21E8-9BB1-14DDC41D253F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191" name="Rectangle 66">
            <a:extLst>
              <a:ext uri="{FF2B5EF4-FFF2-40B4-BE49-F238E27FC236}">
                <a16:creationId xmlns:a16="http://schemas.microsoft.com/office/drawing/2014/main" id="{BF8E8BEB-957E-D5E5-E034-A4E6EE0EAD8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 sz="14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62812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D4F031CE-D381-D26B-7DA5-110957896E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49AF9DBF-9ED2-2E02-9885-8CBC627E4D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09351DFD-D79E-C147-AEBB-5CAB6227F4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0A0566-2CD0-467B-A82E-9FE02977A0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5516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B7968931-13F9-12DE-7B16-B315F0B177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CB9DD6D5-FA46-ED17-7BDC-B9A62B0843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4FDD9FAB-2911-77FA-3E63-07DDCD0B09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6D78EC-548F-43E0-8CCC-84265F8E22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0255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C132A2AE-B313-8ADB-5C8E-0799749423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D75BD0AA-9191-4375-6249-C679B2D0B8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63032895-5C4E-E946-644D-692CE1C0D7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EC6066-DEA6-46A3-ACCE-51320D9D0D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4807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640B1A11-4228-EB4A-7AA4-D358ADA3DA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331BA180-3214-5810-0271-A279CD1C45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8BF18F9A-F4A6-50F6-48E6-1C4FE70C1F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A94B4-EBF2-49EE-9AF9-B1C7DCF208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357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960D1D6E-E47C-8666-FEF9-9AC0FCADC5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57043345-D28A-40AC-69B3-0839443181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1F77D62B-8196-BB45-C012-A22E66A1E4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F605DE-D552-4461-9690-782B22F96E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862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1D417531-292C-84CF-30DA-099E84DC9A4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A66A3362-8244-4144-6BA1-E6670F0BEA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D20B2190-4C23-8A8C-7A6A-E2C537D5D5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9E0C63F4-137B-8D08-7E10-0E85DFBE39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C56EDA4A-F745-D33C-883A-10F2647550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4AF6C6EA-C5AC-4678-6BAF-829EC9FB7F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D65A560E-74A3-12C2-CAD6-B0F8921BF4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9B5B5748-7EA5-A106-0807-73EC52B59F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890AA655-33C4-AAD5-5448-0F389175E9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F54C2388-1FC0-1F70-8C19-FC7A0FB57C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071F652F-2E9A-B708-2485-086D0BD03B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C48F3373-A3F2-F8AF-278D-1BABD1AB86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813BB76B-5E12-DD1B-7373-09CCF1AE7D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D50196B2-7399-E077-9621-3322D51EE7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C3326782-E01E-3E4C-33BC-28F1613280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3E4FF9CB-5948-6C3E-5957-0F7000FF30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0C88CE05-A622-75F7-F70D-B031AB30B3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DDBE0CDE-F456-A74F-4E2F-B27D6D7848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2386F4F3-A0F9-F97C-82AE-8E7CB2147E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6D5E69C4-5A26-918E-6597-543D75BC19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80786C26-A1CF-ACF3-34E7-60EA66C6DA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2FCC2E4E-4E90-B57C-C242-867EC47EE2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FD5D5887-9662-BE8A-82E1-B9FD34706D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25A9C936-2778-8B72-849C-18508F74D7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CF60DBCD-E64C-4B4C-C292-51EFF669A8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EC366CA4-5939-6FB5-0B02-3F384F5CC4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4C2629A4-A5EC-9CD9-F2BE-21EF7D1CA7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94045C86-9E38-F8A0-A5E4-6BF234D7D8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E4E4A7F5-5035-2A20-CB47-8074783D2B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885B3291-C3A3-0283-04F5-70BA22883B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C7F5F173-9403-CD1A-0AA1-931BC1460D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1E62321D-3421-BBB1-53FF-460C0CE2A3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35EA6B53-004D-B359-CA4E-C47D3855B7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5F71BD87-490C-C307-1AA1-50FB7393A5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6862E474-9A80-BC9F-4E26-A1CBDF86DE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35CF17D9-77EF-1E16-1D1D-D86B8C7DB0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2461CC13-2496-0EB9-BF1F-2A7848E389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53CD3A58-1893-BDF1-BD7D-3615A678BF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150A8362-DAA7-B796-06D0-2BA01D0EB9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C0292402-63AA-FF5E-3A85-47DABC6C51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9514E0F8-A686-31BC-805A-D7B504807F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1D5EECA2-C9A0-66B3-C619-BBB4957901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3AEDDCB0-8623-641A-85A4-5FA82AF13E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C3C306A3-DF9F-6E96-A993-A9890A3E20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08845E0D-014B-1980-62E4-CB4946A7C0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30367925-AA62-9F98-461B-D464307738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2DBF5EF2-24EC-E358-DED0-E12861F2B1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0C9F3149-0C29-55A0-FF57-858EA43D14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1D6297FA-253B-35A1-FCD8-7821DCA427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DCFDA677-0C7D-5E11-67CD-A22DE42496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FFBB720B-B943-9592-B0A6-6951BE62F3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466F654C-289A-D450-07A9-A3AC47444A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D17921D7-0D68-8E4D-A47B-D2442B666E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B1C1852A-7B0C-3AC6-31A5-B8AED4B927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47537D29-F131-4DD0-9084-A5043BED19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2F6006AE-4CDA-A9F2-0080-55F8CA010F9B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6FD39957-AC73-8A13-CE8B-542FC26CBF75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C5BABA57-2EEB-3F01-088E-25FFD4A832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242E3C9A-BF4C-1BCF-D050-CD97871997A7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C886AC4D-4515-8826-E9A7-AD81CF0B7423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F1DB2458-AD0E-7215-825E-B24560A00A6A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B6CC0A11-708E-8F4C-CA23-0EA07877FD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3907AB2-692D-01B3-32EC-C841CB1F8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>
            <a:extLst>
              <a:ext uri="{FF2B5EF4-FFF2-40B4-BE49-F238E27FC236}">
                <a16:creationId xmlns:a16="http://schemas.microsoft.com/office/drawing/2014/main" id="{331B1FC7-215B-AFB6-EFC3-2D70B1AB663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4162" name="Rectangle 66">
            <a:extLst>
              <a:ext uri="{FF2B5EF4-FFF2-40B4-BE49-F238E27FC236}">
                <a16:creationId xmlns:a16="http://schemas.microsoft.com/office/drawing/2014/main" id="{9F489F8D-F0BB-3995-1AC1-772BA4D1E4C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652758DA-CC6D-485E-57ED-BFE2A517507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28B5809-EEAE-4D40-A7A5-4457F67CA0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2" r:id="rId2"/>
    <p:sldLayoutId id="2147483873" r:id="rId3"/>
    <p:sldLayoutId id="2147483874" r:id="rId4"/>
    <p:sldLayoutId id="2147483875" r:id="rId5"/>
    <p:sldLayoutId id="2147483876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q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26A574C-5AD5-0624-D173-230F2998344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Review of Fundamentals of DSP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B4CA9989-DBB1-2EDD-6952-26F57E4051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788290B6-E83F-9113-7164-6A2B11587B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Contents</a:t>
            </a:r>
          </a:p>
        </p:txBody>
      </p:sp>
      <p:sp>
        <p:nvSpPr>
          <p:cNvPr id="717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D0E4CC0-2935-5DA9-39D9-A441999FB42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r>
              <a:rPr lang="en-US" altLang="en-US" sz="2000"/>
              <a:t>Discrete-Time Signals and Systems</a:t>
            </a:r>
          </a:p>
          <a:p>
            <a:r>
              <a:rPr lang="en-US" altLang="en-US" sz="2000"/>
              <a:t>Transform Representation of Signals and Systems</a:t>
            </a:r>
          </a:p>
          <a:p>
            <a:r>
              <a:rPr lang="en-US" altLang="en-US" sz="2000"/>
              <a:t>Fundamentals of Digital Filters</a:t>
            </a:r>
          </a:p>
          <a:p>
            <a:r>
              <a:rPr lang="en-US" altLang="en-US" sz="2000"/>
              <a:t>Sampling and Summary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489519A6-B426-6AF2-54F9-E1CEFD14E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DFBCEF-CDDE-4713-89F7-309A34C4554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pic>
        <p:nvPicPr>
          <p:cNvPr id="7173" name="Picture 4">
            <a:extLst>
              <a:ext uri="{FF2B5EF4-FFF2-40B4-BE49-F238E27FC236}">
                <a16:creationId xmlns:a16="http://schemas.microsoft.com/office/drawing/2014/main" id="{53D049B3-EAAA-EEB3-7E4A-2B2787288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CCA4574-93BD-8F63-78B5-BE5C359F96F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Discrete-Time Signals and Systems</a:t>
            </a:r>
          </a:p>
        </p:txBody>
      </p:sp>
      <p:pic>
        <p:nvPicPr>
          <p:cNvPr id="8195" name="Picture 3">
            <a:extLst>
              <a:ext uri="{FF2B5EF4-FFF2-40B4-BE49-F238E27FC236}">
                <a16:creationId xmlns:a16="http://schemas.microsoft.com/office/drawing/2014/main" id="{AD7E2D3D-393D-AC0E-111C-A6103EF263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E7A9AE41-E757-F868-BE7E-47BF176C39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22285AE3-F6E7-9DA6-B8C7-97C42F75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49EB95-02DF-41A5-9DF6-C749C981E20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1024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4B6AD73-7E38-5AF6-7676-E5D88A76685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 to Discrete-Time Signals</a:t>
            </a:r>
            <a:endParaRPr lang="vi-VN" altLang="en-US" sz="2000" b="1"/>
          </a:p>
        </p:txBody>
      </p:sp>
      <p:pic>
        <p:nvPicPr>
          <p:cNvPr id="10245" name="Picture 5">
            <a:extLst>
              <a:ext uri="{FF2B5EF4-FFF2-40B4-BE49-F238E27FC236}">
                <a16:creationId xmlns:a16="http://schemas.microsoft.com/office/drawing/2014/main" id="{39949F61-0987-EA97-0C47-82E1BADD38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2">
            <a:extLst>
              <a:ext uri="{FF2B5EF4-FFF2-40B4-BE49-F238E27FC236}">
                <a16:creationId xmlns:a16="http://schemas.microsoft.com/office/drawing/2014/main" id="{191855DF-1F68-EECF-C636-49FAA6DFC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209800"/>
            <a:ext cx="7720012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Signals: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Explanation of discrete-time signals in digital signal processing.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Types of Discrete-Time Signals: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Unit impulse, unit step, exponential, sinusoidal, and random signals.</a:t>
            </a:r>
            <a:endParaRPr lang="en-US" altLang="en-US" sz="100"/>
          </a:p>
        </p:txBody>
      </p:sp>
      <p:pic>
        <p:nvPicPr>
          <p:cNvPr id="10247" name="Picture 2">
            <a:extLst>
              <a:ext uri="{FF2B5EF4-FFF2-40B4-BE49-F238E27FC236}">
                <a16:creationId xmlns:a16="http://schemas.microsoft.com/office/drawing/2014/main" id="{153B65B9-4F6F-56DB-D5AB-1DDD47729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3886200"/>
            <a:ext cx="54483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BF63BF63-6AF2-89A7-2164-EE5C6A226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12291" name="Slide Number Placeholder 5">
            <a:extLst>
              <a:ext uri="{FF2B5EF4-FFF2-40B4-BE49-F238E27FC236}">
                <a16:creationId xmlns:a16="http://schemas.microsoft.com/office/drawing/2014/main" id="{E159BD4D-0186-BE66-2E8A-FF53EE36D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FFA277-A371-41C3-AC3B-FB6054C1487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229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69D069F-5DBF-9199-3AA2-83AC27A36E4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Signal Sequences</a:t>
            </a:r>
            <a:endParaRPr lang="vi-VN" altLang="en-US" sz="2000" b="1"/>
          </a:p>
        </p:txBody>
      </p:sp>
      <p:pic>
        <p:nvPicPr>
          <p:cNvPr id="12293" name="Picture 5">
            <a:extLst>
              <a:ext uri="{FF2B5EF4-FFF2-40B4-BE49-F238E27FC236}">
                <a16:creationId xmlns:a16="http://schemas.microsoft.com/office/drawing/2014/main" id="{C0838642-65FB-AA54-92D0-FC0827E015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6BE0C345-4636-A346-4CE7-7F1A0297CDF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14388" y="2209800"/>
            <a:ext cx="7567612" cy="2585323"/>
          </a:xfrm>
          <a:prstGeom prst="rect">
            <a:avLst/>
          </a:prstGeom>
          <a:blipFill>
            <a:blip r:embed="rId4"/>
            <a:stretch>
              <a:fillRect l="-725" t="-1415" r="-1370" b="-2594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12295" name="Picture 3">
            <a:extLst>
              <a:ext uri="{FF2B5EF4-FFF2-40B4-BE49-F238E27FC236}">
                <a16:creationId xmlns:a16="http://schemas.microsoft.com/office/drawing/2014/main" id="{C039C0B1-42C8-321F-449E-F6BB38B95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513" y="4953000"/>
            <a:ext cx="4473575" cy="134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0A917DE1-154A-A941-0F69-28A03DD77B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E64B052E-25D4-EC63-B3D8-2C1C57D24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C87107-EF48-4A16-951C-530F566EE75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434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4A3A626-AC4F-BE01-FC8B-A0963FAADA0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Classification of Systems</a:t>
            </a:r>
            <a:endParaRPr lang="vi-VN" altLang="en-US" sz="2000" b="1"/>
          </a:p>
        </p:txBody>
      </p:sp>
      <p:pic>
        <p:nvPicPr>
          <p:cNvPr id="14341" name="Picture 5">
            <a:extLst>
              <a:ext uri="{FF2B5EF4-FFF2-40B4-BE49-F238E27FC236}">
                <a16:creationId xmlns:a16="http://schemas.microsoft.com/office/drawing/2014/main" id="{581AEB3E-9E9C-4E72-0F32-BF30E1E326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TextBox 2">
            <a:extLst>
              <a:ext uri="{FF2B5EF4-FFF2-40B4-BE49-F238E27FC236}">
                <a16:creationId xmlns:a16="http://schemas.microsoft.com/office/drawing/2014/main" id="{1D92DDF4-DFE9-BA55-220B-3A878316E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2633663"/>
            <a:ext cx="7567612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Classification Based on Properties: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Linearity, time-invariance, causality, and stability.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Types of Systems: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Difference equations, convolutional systems, and finite impulse response (FIR)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E919E664-CFEA-DAE8-1AF5-A5E16AC15F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BEC3A501-9B0B-399E-736A-5D37E56D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4F82B6-0919-4FB5-8A9C-28707E48C97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638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74C44D1-602D-DFB6-08E8-198B806C31B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Impulse Response and Convolution</a:t>
            </a:r>
            <a:endParaRPr lang="vi-VN" altLang="en-US" sz="2000" b="1"/>
          </a:p>
        </p:txBody>
      </p:sp>
      <p:pic>
        <p:nvPicPr>
          <p:cNvPr id="16389" name="Picture 5">
            <a:extLst>
              <a:ext uri="{FF2B5EF4-FFF2-40B4-BE49-F238E27FC236}">
                <a16:creationId xmlns:a16="http://schemas.microsoft.com/office/drawing/2014/main" id="{C9136CE1-17DE-75CF-36FE-E2BB8CC310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3C2B8C2E-300D-48AA-4C32-31637E1F155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209800"/>
            <a:ext cx="7567612" cy="2031325"/>
          </a:xfrm>
          <a:prstGeom prst="rect">
            <a:avLst/>
          </a:prstGeom>
          <a:blipFill>
            <a:blip r:embed="rId4"/>
            <a:stretch>
              <a:fillRect l="-725" t="-1802" b="-3604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16391" name="Picture 2">
            <a:extLst>
              <a:ext uri="{FF2B5EF4-FFF2-40B4-BE49-F238E27FC236}">
                <a16:creationId xmlns:a16="http://schemas.microsoft.com/office/drawing/2014/main" id="{BCA68F1A-6ACD-ED8E-BC03-7E59EECB2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572000"/>
            <a:ext cx="4957763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40B369A8-4429-7F72-A7BA-79FBB71E8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15DF31A0-4A09-00F0-93A9-0660C8317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A81634-CCD4-4ECD-A764-064070E2F25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843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28FAE34-30EE-836F-E90E-7ED3A7EDDB1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System Properties</a:t>
            </a:r>
            <a:endParaRPr lang="vi-VN" altLang="en-US" sz="2000" b="1"/>
          </a:p>
        </p:txBody>
      </p:sp>
      <p:pic>
        <p:nvPicPr>
          <p:cNvPr id="18437" name="Picture 5">
            <a:extLst>
              <a:ext uri="{FF2B5EF4-FFF2-40B4-BE49-F238E27FC236}">
                <a16:creationId xmlns:a16="http://schemas.microsoft.com/office/drawing/2014/main" id="{F9AAC715-6042-1A27-D821-533847C0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8381FCB5-1975-208B-17BF-196964670C5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209800"/>
            <a:ext cx="5105400" cy="3385542"/>
          </a:xfrm>
          <a:prstGeom prst="rect">
            <a:avLst/>
          </a:prstGeom>
          <a:blipFill>
            <a:blip r:embed="rId4"/>
            <a:stretch>
              <a:fillRect l="-1075" t="-1081" b="-901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18439" name="Picture 3">
            <a:extLst>
              <a:ext uri="{FF2B5EF4-FFF2-40B4-BE49-F238E27FC236}">
                <a16:creationId xmlns:a16="http://schemas.microsoft.com/office/drawing/2014/main" id="{1B908D40-98C6-94DF-7006-AF150582F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048000"/>
            <a:ext cx="27432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FE8EF816-7D3E-3221-C8BC-0724D0D817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20483" name="Slide Number Placeholder 5">
            <a:extLst>
              <a:ext uri="{FF2B5EF4-FFF2-40B4-BE49-F238E27FC236}">
                <a16:creationId xmlns:a16="http://schemas.microsoft.com/office/drawing/2014/main" id="{FE6B2436-E11D-FF15-24A0-A17E3102B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A9C863-35D0-4EBA-99EA-7AF68C0A08F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2048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D54C2CD-EDE6-7B56-0047-BED9A8D34CC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Discrete-Time Fourier Transform (DTFT)</a:t>
            </a:r>
            <a:endParaRPr lang="vi-VN" altLang="en-US" sz="2000" b="1"/>
          </a:p>
        </p:txBody>
      </p:sp>
      <p:pic>
        <p:nvPicPr>
          <p:cNvPr id="20485" name="Picture 5">
            <a:extLst>
              <a:ext uri="{FF2B5EF4-FFF2-40B4-BE49-F238E27FC236}">
                <a16:creationId xmlns:a16="http://schemas.microsoft.com/office/drawing/2014/main" id="{A761D4AE-0798-D0A4-18E3-84B3CE3754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C84D9B35-8DFF-88A2-765A-23BF7FADA5E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209800"/>
            <a:ext cx="7567612" cy="1466620"/>
          </a:xfrm>
          <a:prstGeom prst="rect">
            <a:avLst/>
          </a:prstGeom>
          <a:blipFill>
            <a:blip r:embed="rId4"/>
            <a:stretch>
              <a:fillRect l="-725" t="-2500" b="-5833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20487" name="Picture 3" descr="A group of graphs and diagrams&#10;&#10;Description automatically generated">
            <a:extLst>
              <a:ext uri="{FF2B5EF4-FFF2-40B4-BE49-F238E27FC236}">
                <a16:creationId xmlns:a16="http://schemas.microsoft.com/office/drawing/2014/main" id="{9AC6F591-D284-0ECB-F1D0-6A1EA7969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0" y="3832225"/>
            <a:ext cx="4000500" cy="237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26B2E8CE-AE27-FAD1-2E2D-15D26C10C0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22531" name="Slide Number Placeholder 5">
            <a:extLst>
              <a:ext uri="{FF2B5EF4-FFF2-40B4-BE49-F238E27FC236}">
                <a16:creationId xmlns:a16="http://schemas.microsoft.com/office/drawing/2014/main" id="{DE6EA515-2933-0936-02E4-789AA4CD6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661368-93F0-46AC-A387-FC9875D6D76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2253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186A67C-6620-467F-6AD4-BFE5CEC291A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Z-Transform</a:t>
            </a:r>
            <a:endParaRPr lang="vi-VN" altLang="en-US" sz="2000" b="1"/>
          </a:p>
        </p:txBody>
      </p:sp>
      <p:pic>
        <p:nvPicPr>
          <p:cNvPr id="22533" name="Picture 5">
            <a:extLst>
              <a:ext uri="{FF2B5EF4-FFF2-40B4-BE49-F238E27FC236}">
                <a16:creationId xmlns:a16="http://schemas.microsoft.com/office/drawing/2014/main" id="{FB0662FA-D223-51AC-CD4B-5D82F8227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AFF716A8-432F-EBD1-C747-C42D50FC02B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209800"/>
            <a:ext cx="7567612" cy="2862322"/>
          </a:xfrm>
          <a:prstGeom prst="rect">
            <a:avLst/>
          </a:prstGeom>
          <a:blipFill>
            <a:blip r:embed="rId4"/>
            <a:stretch>
              <a:fillRect l="-725" t="-5544" b="-2345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22535" name="Picture 2">
            <a:extLst>
              <a:ext uri="{FF2B5EF4-FFF2-40B4-BE49-F238E27FC236}">
                <a16:creationId xmlns:a16="http://schemas.microsoft.com/office/drawing/2014/main" id="{E5E1F943-6B38-89E4-780A-921689E02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0" y="2992438"/>
            <a:ext cx="3814763" cy="325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95540ED1-C0B3-F8D7-CC35-DA5E530133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24579" name="Slide Number Placeholder 5">
            <a:extLst>
              <a:ext uri="{FF2B5EF4-FFF2-40B4-BE49-F238E27FC236}">
                <a16:creationId xmlns:a16="http://schemas.microsoft.com/office/drawing/2014/main" id="{6D5A29E6-62E4-9740-FE9F-A67D0DD19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70C3B9-6508-4EE1-9926-B49E25E28E0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2458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21B91E8-9ACC-521E-8327-846FD81F3F8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Analysis of Stability</a:t>
            </a:r>
            <a:endParaRPr lang="vi-VN" altLang="en-US" sz="2000" b="1"/>
          </a:p>
        </p:txBody>
      </p:sp>
      <p:pic>
        <p:nvPicPr>
          <p:cNvPr id="24581" name="Picture 5">
            <a:extLst>
              <a:ext uri="{FF2B5EF4-FFF2-40B4-BE49-F238E27FC236}">
                <a16:creationId xmlns:a16="http://schemas.microsoft.com/office/drawing/2014/main" id="{289A6153-2556-D2DC-1AF4-0E6C76EBB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67FD67B8-19A4-E7BE-9752-640C3C1350D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209800"/>
            <a:ext cx="7696200" cy="2585323"/>
          </a:xfrm>
          <a:prstGeom prst="rect">
            <a:avLst/>
          </a:prstGeom>
          <a:blipFill>
            <a:blip r:embed="rId4"/>
            <a:stretch>
              <a:fillRect l="-713" b="-2594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B4DED811-CE52-CA4E-D04D-B147B73CA6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26627" name="Slide Number Placeholder 5">
            <a:extLst>
              <a:ext uri="{FF2B5EF4-FFF2-40B4-BE49-F238E27FC236}">
                <a16:creationId xmlns:a16="http://schemas.microsoft.com/office/drawing/2014/main" id="{D18EFE00-864F-8840-956B-E4D9EFB8C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2269D1-C06C-4D3D-8A5A-7F638F1981D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266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B91264E-6F37-B121-4009-50E4AACB7CF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Frequency Response Analysis</a:t>
            </a:r>
            <a:endParaRPr lang="vi-VN" altLang="en-US" sz="2000" b="1"/>
          </a:p>
        </p:txBody>
      </p:sp>
      <p:pic>
        <p:nvPicPr>
          <p:cNvPr id="26629" name="Picture 5">
            <a:extLst>
              <a:ext uri="{FF2B5EF4-FFF2-40B4-BE49-F238E27FC236}">
                <a16:creationId xmlns:a16="http://schemas.microsoft.com/office/drawing/2014/main" id="{AFC5F374-DB77-652F-3E1B-0EB7E2C28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0A047582-EB72-0ADB-13DB-59A716512FE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209800"/>
            <a:ext cx="7696200" cy="2367251"/>
          </a:xfrm>
          <a:prstGeom prst="rect">
            <a:avLst/>
          </a:prstGeom>
          <a:blipFill>
            <a:blip r:embed="rId4"/>
            <a:stretch>
              <a:fillRect l="-713" b="-3093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F39FADAB-76AA-896D-1B0B-815E9DED29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28675" name="Slide Number Placeholder 5">
            <a:extLst>
              <a:ext uri="{FF2B5EF4-FFF2-40B4-BE49-F238E27FC236}">
                <a16:creationId xmlns:a16="http://schemas.microsoft.com/office/drawing/2014/main" id="{F8D770D0-CC8A-3094-46D8-B9D85A657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E30373-291B-4376-B23F-CB1C5E1E8F8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2867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C8149BD-708F-7F89-D172-BBE8FFD190D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Sampling and Reconstruction</a:t>
            </a:r>
            <a:endParaRPr lang="vi-VN" altLang="en-US" sz="2000" b="1"/>
          </a:p>
        </p:txBody>
      </p:sp>
      <p:pic>
        <p:nvPicPr>
          <p:cNvPr id="28677" name="Picture 5">
            <a:extLst>
              <a:ext uri="{FF2B5EF4-FFF2-40B4-BE49-F238E27FC236}">
                <a16:creationId xmlns:a16="http://schemas.microsoft.com/office/drawing/2014/main" id="{C94B5001-4735-C77A-ED2E-01F7B52108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1A5320A4-92C6-9071-16C0-B29C95411F6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209800"/>
            <a:ext cx="7696200" cy="2074158"/>
          </a:xfrm>
          <a:prstGeom prst="rect">
            <a:avLst/>
          </a:prstGeom>
          <a:blipFill>
            <a:blip r:embed="rId4"/>
            <a:stretch>
              <a:fillRect l="-713" b="-1471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5D879CE8-3C9C-5A3A-050E-DD7F451AD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30723" name="Slide Number Placeholder 5">
            <a:extLst>
              <a:ext uri="{FF2B5EF4-FFF2-40B4-BE49-F238E27FC236}">
                <a16:creationId xmlns:a16="http://schemas.microsoft.com/office/drawing/2014/main" id="{2795DBBF-FEB8-C613-9272-C258C545A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1A95E3D-25BC-45DD-96B0-66BBE2DB1C5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3072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EF85EBD-AC51-6819-F57C-D9242BF490C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Implementation Assignment</a:t>
            </a:r>
            <a:endParaRPr lang="vi-VN" altLang="en-US" sz="2000" b="1"/>
          </a:p>
        </p:txBody>
      </p:sp>
      <p:pic>
        <p:nvPicPr>
          <p:cNvPr id="30725" name="Picture 5">
            <a:extLst>
              <a:ext uri="{FF2B5EF4-FFF2-40B4-BE49-F238E27FC236}">
                <a16:creationId xmlns:a16="http://schemas.microsoft.com/office/drawing/2014/main" id="{4F00F6DE-466C-20E3-23C1-A39BB5A650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81773876-C7C0-2CD0-C19C-B24D6DBAB6A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209800"/>
            <a:ext cx="7696200" cy="4524315"/>
          </a:xfrm>
          <a:prstGeom prst="rect">
            <a:avLst/>
          </a:prstGeom>
          <a:blipFill>
            <a:blip r:embed="rId4"/>
            <a:stretch>
              <a:fillRect l="-713" t="-809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209FDB43-311B-01FD-73D0-45CECFF79D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32771" name="Slide Number Placeholder 5">
            <a:extLst>
              <a:ext uri="{FF2B5EF4-FFF2-40B4-BE49-F238E27FC236}">
                <a16:creationId xmlns:a16="http://schemas.microsoft.com/office/drawing/2014/main" id="{E2F1C0BD-6F56-C5B0-91F9-0BD64F6CA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96B399-CB20-4F59-8290-DDC8F986DEA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3277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9A92A36-8B8C-D482-899B-760A3827C1F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Implementation Assignment</a:t>
            </a:r>
            <a:endParaRPr lang="vi-VN" altLang="en-US" sz="2000" b="1"/>
          </a:p>
        </p:txBody>
      </p:sp>
      <p:pic>
        <p:nvPicPr>
          <p:cNvPr id="32773" name="Picture 5">
            <a:extLst>
              <a:ext uri="{FF2B5EF4-FFF2-40B4-BE49-F238E27FC236}">
                <a16:creationId xmlns:a16="http://schemas.microsoft.com/office/drawing/2014/main" id="{6554CC89-BFDD-6368-CA1C-1391E1716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TextBox 2">
            <a:extLst>
              <a:ext uri="{FF2B5EF4-FFF2-40B4-BE49-F238E27FC236}">
                <a16:creationId xmlns:a16="http://schemas.microsoft.com/office/drawing/2014/main" id="{60A8E4B2-76CA-E122-346B-6C0EAC673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09800"/>
            <a:ext cx="7696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Task 1: Signal Generation and Plotting - Solution</a:t>
            </a:r>
            <a:endParaRPr lang="en-US" altLang="en-US" sz="1800"/>
          </a:p>
        </p:txBody>
      </p:sp>
      <p:pic>
        <p:nvPicPr>
          <p:cNvPr id="32775" name="Picture 2">
            <a:extLst>
              <a:ext uri="{FF2B5EF4-FFF2-40B4-BE49-F238E27FC236}">
                <a16:creationId xmlns:a16="http://schemas.microsoft.com/office/drawing/2014/main" id="{C4C41BF5-A408-17C0-18FD-1B15C9305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655888"/>
            <a:ext cx="4062413" cy="394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B8E89F56-516F-E733-6833-DFFFD9B555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34819" name="Slide Number Placeholder 5">
            <a:extLst>
              <a:ext uri="{FF2B5EF4-FFF2-40B4-BE49-F238E27FC236}">
                <a16:creationId xmlns:a16="http://schemas.microsoft.com/office/drawing/2014/main" id="{5BD89A1E-8F3D-9E42-A86A-E3BF7DDDA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C1F039-821D-44E6-BA84-7E8C7E793BB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3482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22341E6-E917-6B97-4B41-05613D1B6D2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Implementation Assignment</a:t>
            </a:r>
            <a:endParaRPr lang="vi-VN" altLang="en-US" sz="2000" b="1"/>
          </a:p>
        </p:txBody>
      </p:sp>
      <p:pic>
        <p:nvPicPr>
          <p:cNvPr id="34821" name="Picture 5">
            <a:extLst>
              <a:ext uri="{FF2B5EF4-FFF2-40B4-BE49-F238E27FC236}">
                <a16:creationId xmlns:a16="http://schemas.microsoft.com/office/drawing/2014/main" id="{65AAE15D-3A94-E7EC-9B51-83AFD58E84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FEA95638-B237-8F27-870F-E65AAFDE77A1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209800"/>
            <a:ext cx="7696200" cy="3693319"/>
          </a:xfrm>
          <a:prstGeom prst="rect">
            <a:avLst/>
          </a:prstGeom>
          <a:blipFill>
            <a:blip r:embed="rId4"/>
            <a:stretch>
              <a:fillRect l="-713" t="-992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894BD24B-8457-D72A-0AE2-823A481AA9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36867" name="Slide Number Placeholder 5">
            <a:extLst>
              <a:ext uri="{FF2B5EF4-FFF2-40B4-BE49-F238E27FC236}">
                <a16:creationId xmlns:a16="http://schemas.microsoft.com/office/drawing/2014/main" id="{B06DE2B6-9228-771C-CC3E-F543E6D2D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CD90B0-EBD8-4E5D-BC52-C5330DC9637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3686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83B4F96-ADF9-26DD-E1B6-7378765AE38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Implementation Assignment</a:t>
            </a:r>
            <a:endParaRPr lang="vi-VN" altLang="en-US" sz="2000" b="1"/>
          </a:p>
        </p:txBody>
      </p:sp>
      <p:pic>
        <p:nvPicPr>
          <p:cNvPr id="36869" name="Picture 5">
            <a:extLst>
              <a:ext uri="{FF2B5EF4-FFF2-40B4-BE49-F238E27FC236}">
                <a16:creationId xmlns:a16="http://schemas.microsoft.com/office/drawing/2014/main" id="{7FBE7101-F973-EB57-DE49-E00D06EBE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0" name="TextBox 2">
            <a:extLst>
              <a:ext uri="{FF2B5EF4-FFF2-40B4-BE49-F238E27FC236}">
                <a16:creationId xmlns:a16="http://schemas.microsoft.com/office/drawing/2014/main" id="{4EA654E9-AA65-19CD-563B-99668C77A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09800"/>
            <a:ext cx="7696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Task 2: Signal Processing Operations - Solution</a:t>
            </a:r>
          </a:p>
        </p:txBody>
      </p:sp>
      <p:pic>
        <p:nvPicPr>
          <p:cNvPr id="36871" name="Picture 2">
            <a:extLst>
              <a:ext uri="{FF2B5EF4-FFF2-40B4-BE49-F238E27FC236}">
                <a16:creationId xmlns:a16="http://schemas.microsoft.com/office/drawing/2014/main" id="{9C7B38BB-B4D2-591E-785F-4B3D0E870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743200"/>
            <a:ext cx="4529138" cy="294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6FF64C1-820E-025D-BE3F-6251AF84B4E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934200" cy="1143000"/>
          </a:xfrm>
        </p:spPr>
        <p:txBody>
          <a:bodyPr/>
          <a:lstStyle/>
          <a:p>
            <a:pPr eaLnBrk="1" hangingPunct="1"/>
            <a:r>
              <a:rPr lang="en-US" altLang="en-US"/>
              <a:t>Transform Representation of Signals and Systems</a:t>
            </a:r>
          </a:p>
        </p:txBody>
      </p:sp>
      <p:pic>
        <p:nvPicPr>
          <p:cNvPr id="38915" name="Picture 3">
            <a:extLst>
              <a:ext uri="{FF2B5EF4-FFF2-40B4-BE49-F238E27FC236}">
                <a16:creationId xmlns:a16="http://schemas.microsoft.com/office/drawing/2014/main" id="{17951631-3441-72BD-FBF5-AFC9E0F50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78D63E60-C86B-1E46-641C-E932BC68FC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Transform Representation of Signals and Systems</a:t>
            </a:r>
          </a:p>
        </p:txBody>
      </p:sp>
      <p:sp>
        <p:nvSpPr>
          <p:cNvPr id="40963" name="Slide Number Placeholder 5">
            <a:extLst>
              <a:ext uri="{FF2B5EF4-FFF2-40B4-BE49-F238E27FC236}">
                <a16:creationId xmlns:a16="http://schemas.microsoft.com/office/drawing/2014/main" id="{F9A9377E-59B8-B570-6163-61D628E00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D94432-057B-4D62-A94D-5CB494DDA77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4096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C331F09-4073-EC0A-3A07-D851474F317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Fourier Series (Continuous-Time)</a:t>
            </a:r>
            <a:endParaRPr lang="vi-VN" altLang="en-US" sz="2000" b="1"/>
          </a:p>
        </p:txBody>
      </p:sp>
      <p:pic>
        <p:nvPicPr>
          <p:cNvPr id="40965" name="Picture 5">
            <a:extLst>
              <a:ext uri="{FF2B5EF4-FFF2-40B4-BE49-F238E27FC236}">
                <a16:creationId xmlns:a16="http://schemas.microsoft.com/office/drawing/2014/main" id="{1F95A5E4-43D8-CD37-3A92-C61F0466FF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E6DEE812-5383-F883-1207-1AD1D8F79BD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43682" y="2551837"/>
            <a:ext cx="7696200" cy="2713820"/>
          </a:xfrm>
          <a:prstGeom prst="rect">
            <a:avLst/>
          </a:prstGeom>
          <a:blipFill>
            <a:blip r:embed="rId4"/>
            <a:stretch>
              <a:fillRect l="-633" t="-1348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0FCF7BA4-7066-EA3B-9F00-D6C3ED093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Transform Representation of Signals and Systems</a:t>
            </a:r>
          </a:p>
        </p:txBody>
      </p:sp>
      <p:sp>
        <p:nvSpPr>
          <p:cNvPr id="43011" name="Slide Number Placeholder 5">
            <a:extLst>
              <a:ext uri="{FF2B5EF4-FFF2-40B4-BE49-F238E27FC236}">
                <a16:creationId xmlns:a16="http://schemas.microsoft.com/office/drawing/2014/main" id="{6C468050-961E-CB01-E71D-E3C7D8254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9EA4AC-B4CA-46DA-9797-C87A726F1DE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4301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50802F8-36B5-B367-D48A-D96690D7B18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Fourier Transform (Continuous-Time)</a:t>
            </a:r>
            <a:endParaRPr lang="vi-VN" altLang="en-US" sz="2000" b="1"/>
          </a:p>
        </p:txBody>
      </p:sp>
      <p:pic>
        <p:nvPicPr>
          <p:cNvPr id="43013" name="Picture 5">
            <a:extLst>
              <a:ext uri="{FF2B5EF4-FFF2-40B4-BE49-F238E27FC236}">
                <a16:creationId xmlns:a16="http://schemas.microsoft.com/office/drawing/2014/main" id="{0493897D-1733-38C3-7CB2-06A912D97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283EA033-30AD-C62A-D28F-A16BB614329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43682" y="2551837"/>
            <a:ext cx="7696200" cy="2074927"/>
          </a:xfrm>
          <a:prstGeom prst="rect">
            <a:avLst/>
          </a:prstGeom>
          <a:blipFill>
            <a:blip r:embed="rId4"/>
            <a:stretch>
              <a:fillRect l="-633" t="-1765" b="-3824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9F3E2D91-72BA-C562-0180-BE3203835E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Transform Representation of Signals and Systems</a:t>
            </a:r>
          </a:p>
        </p:txBody>
      </p:sp>
      <p:sp>
        <p:nvSpPr>
          <p:cNvPr id="45059" name="Slide Number Placeholder 5">
            <a:extLst>
              <a:ext uri="{FF2B5EF4-FFF2-40B4-BE49-F238E27FC236}">
                <a16:creationId xmlns:a16="http://schemas.microsoft.com/office/drawing/2014/main" id="{8E6FCFAF-29E4-5076-2057-AFCBEB3CB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BF7F5D-9B60-49C2-AE31-3D8871C1707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4506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BC7BEFD-EDE7-343C-216C-381B89014AA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Properties of Fourier Transform</a:t>
            </a:r>
            <a:endParaRPr lang="vi-VN" altLang="en-US" sz="2000" b="1"/>
          </a:p>
        </p:txBody>
      </p:sp>
      <p:pic>
        <p:nvPicPr>
          <p:cNvPr id="45061" name="Picture 5">
            <a:extLst>
              <a:ext uri="{FF2B5EF4-FFF2-40B4-BE49-F238E27FC236}">
                <a16:creationId xmlns:a16="http://schemas.microsoft.com/office/drawing/2014/main" id="{C341FE5C-C6C2-5A37-D6DB-A05E9E11BB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2" name="TextBox 2">
            <a:extLst>
              <a:ext uri="{FF2B5EF4-FFF2-40B4-BE49-F238E27FC236}">
                <a16:creationId xmlns:a16="http://schemas.microsoft.com/office/drawing/2014/main" id="{543E20FD-F3D9-E392-9258-7BE16E715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2633663"/>
            <a:ext cx="7567612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Key Properties: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Linearity, Time Shifting, Time Scaling, Convolution Theorem.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Illustrative Examples: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Demonstrations using mathematical expressions and graphical representations of transformed signals.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2C8D6D13-22C1-5C5E-11DF-11DAE61C83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Transform Representation of Signals and Systems</a:t>
            </a:r>
          </a:p>
        </p:txBody>
      </p:sp>
      <p:sp>
        <p:nvSpPr>
          <p:cNvPr id="47107" name="Slide Number Placeholder 5">
            <a:extLst>
              <a:ext uri="{FF2B5EF4-FFF2-40B4-BE49-F238E27FC236}">
                <a16:creationId xmlns:a16="http://schemas.microsoft.com/office/drawing/2014/main" id="{549A12E1-0180-29AD-4711-24E857D27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8CF479-C990-4230-9BBB-C606B6909E6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4710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6B8CF31-9601-E9F0-DD0D-52B088ED54C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Laplace Transform</a:t>
            </a:r>
            <a:endParaRPr lang="vi-VN" altLang="en-US" sz="2000" b="1"/>
          </a:p>
        </p:txBody>
      </p:sp>
      <p:pic>
        <p:nvPicPr>
          <p:cNvPr id="47109" name="Picture 5">
            <a:extLst>
              <a:ext uri="{FF2B5EF4-FFF2-40B4-BE49-F238E27FC236}">
                <a16:creationId xmlns:a16="http://schemas.microsoft.com/office/drawing/2014/main" id="{F6F016E6-F88F-DAEA-044D-D6B89E6CF0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3CC3F701-4B28-DAA4-01F1-8174AD7ECE7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6613" y="2633663"/>
            <a:ext cx="7567612" cy="2353658"/>
          </a:xfrm>
          <a:prstGeom prst="rect">
            <a:avLst/>
          </a:prstGeom>
          <a:blipFill>
            <a:blip r:embed="rId4"/>
            <a:stretch>
              <a:fillRect l="-644" t="-1295" b="-3109"/>
            </a:stretch>
          </a:blipFill>
          <a:ln>
            <a:noFill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5DE795ED-A652-D14C-68E3-64BB66374C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Transform Representation of Signals and Systems</a:t>
            </a:r>
          </a:p>
        </p:txBody>
      </p:sp>
      <p:sp>
        <p:nvSpPr>
          <p:cNvPr id="49155" name="Slide Number Placeholder 5">
            <a:extLst>
              <a:ext uri="{FF2B5EF4-FFF2-40B4-BE49-F238E27FC236}">
                <a16:creationId xmlns:a16="http://schemas.microsoft.com/office/drawing/2014/main" id="{8DB73FC7-6177-87D5-E1A3-2E1DF97F9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E7672A8-C6DB-41F3-93FC-119ECA9A5EE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4915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BE3A840-FAE6-FC27-0AB9-2314E72A570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Laplace Transform Properties</a:t>
            </a:r>
            <a:endParaRPr lang="vi-VN" altLang="en-US" sz="2000" b="1"/>
          </a:p>
        </p:txBody>
      </p:sp>
      <p:pic>
        <p:nvPicPr>
          <p:cNvPr id="49157" name="Picture 5">
            <a:extLst>
              <a:ext uri="{FF2B5EF4-FFF2-40B4-BE49-F238E27FC236}">
                <a16:creationId xmlns:a16="http://schemas.microsoft.com/office/drawing/2014/main" id="{953ED220-8BF9-21DC-61A9-FB9F1FA09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8" name="TextBox 2">
            <a:extLst>
              <a:ext uri="{FF2B5EF4-FFF2-40B4-BE49-F238E27FC236}">
                <a16:creationId xmlns:a16="http://schemas.microsoft.com/office/drawing/2014/main" id="{3800767C-D942-A5D3-6A9C-40B448FC0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2633663"/>
            <a:ext cx="7567612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Properties and Concepts: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Region of Convergence (ROC), Linearity, Time Shifting, Time Scaling.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Importance in System Analysis: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Transfer functions, system stability, response analysis.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00730A02-EE53-8EF5-1A8D-AF644AC19A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Transform Representation of Signals and Systems</a:t>
            </a:r>
          </a:p>
        </p:txBody>
      </p:sp>
      <p:sp>
        <p:nvSpPr>
          <p:cNvPr id="51203" name="Slide Number Placeholder 5">
            <a:extLst>
              <a:ext uri="{FF2B5EF4-FFF2-40B4-BE49-F238E27FC236}">
                <a16:creationId xmlns:a16="http://schemas.microsoft.com/office/drawing/2014/main" id="{4B280F7B-D936-8530-1A3B-C6C88FF78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D0EB90-17E4-46EB-8076-C23D8996E11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5120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68EC7BD-2283-E223-5173-2755B122032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Relationship between Transforms</a:t>
            </a:r>
            <a:endParaRPr lang="vi-VN" altLang="en-US" sz="2000" b="1"/>
          </a:p>
        </p:txBody>
      </p:sp>
      <p:pic>
        <p:nvPicPr>
          <p:cNvPr id="51205" name="Picture 5">
            <a:extLst>
              <a:ext uri="{FF2B5EF4-FFF2-40B4-BE49-F238E27FC236}">
                <a16:creationId xmlns:a16="http://schemas.microsoft.com/office/drawing/2014/main" id="{FFCA50CD-A261-5C9E-CF09-92FEB871C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6" name="TextBox 2">
            <a:extLst>
              <a:ext uri="{FF2B5EF4-FFF2-40B4-BE49-F238E27FC236}">
                <a16:creationId xmlns:a16="http://schemas.microsoft.com/office/drawing/2014/main" id="{CAA3ACCD-E80F-213A-BF8D-513043DB2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2633663"/>
            <a:ext cx="7567612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Connections and Relationships: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Linking Fourier Transform, Laplace Transform, and Z-Transform.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Unified Perspective: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How transforms provide a unified signal and system analysis framework across continuous-time and discrete-time domains.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C2445E77-C0CA-7FB7-C873-D9442460596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Fundamentals of Digital Filters</a:t>
            </a:r>
          </a:p>
        </p:txBody>
      </p:sp>
      <p:pic>
        <p:nvPicPr>
          <p:cNvPr id="53251" name="Picture 3">
            <a:extLst>
              <a:ext uri="{FF2B5EF4-FFF2-40B4-BE49-F238E27FC236}">
                <a16:creationId xmlns:a16="http://schemas.microsoft.com/office/drawing/2014/main" id="{673718E9-24C8-3959-A852-BADDC03DD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A2AD19DD-8A2A-8DA6-D1DA-9BCDB60FA3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Fundamentals of Digital Filters</a:t>
            </a:r>
          </a:p>
        </p:txBody>
      </p:sp>
      <p:sp>
        <p:nvSpPr>
          <p:cNvPr id="55299" name="Slide Number Placeholder 5">
            <a:extLst>
              <a:ext uri="{FF2B5EF4-FFF2-40B4-BE49-F238E27FC236}">
                <a16:creationId xmlns:a16="http://schemas.microsoft.com/office/drawing/2014/main" id="{6828F3BA-D051-5A14-C15E-644D16E4C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EDE589-4A8F-4051-B1CE-68411E66B39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5530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40EBBA8-485F-CDF3-4353-9857CB3265E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 </a:t>
            </a:r>
            <a:endParaRPr lang="vi-VN" altLang="en-US" sz="2000" b="1"/>
          </a:p>
        </p:txBody>
      </p:sp>
      <p:pic>
        <p:nvPicPr>
          <p:cNvPr id="55301" name="Picture 5">
            <a:extLst>
              <a:ext uri="{FF2B5EF4-FFF2-40B4-BE49-F238E27FC236}">
                <a16:creationId xmlns:a16="http://schemas.microsoft.com/office/drawing/2014/main" id="{7605F719-778F-25A1-4023-7D9A5EE12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6AEC20B5-B2F4-1B29-567F-C1D8B382F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0"/>
            <a:ext cx="7567613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Digital Filters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Filters that operate on digital signals to modify or enhance specific frequency components.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Importance of Digital Filters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Signal conditioning, noise reduction, and signal enhancement in various applications.</a:t>
            </a:r>
          </a:p>
        </p:txBody>
      </p:sp>
      <p:pic>
        <p:nvPicPr>
          <p:cNvPr id="55303" name="Picture 3">
            <a:extLst>
              <a:ext uri="{FF2B5EF4-FFF2-40B4-BE49-F238E27FC236}">
                <a16:creationId xmlns:a16="http://schemas.microsoft.com/office/drawing/2014/main" id="{25271B97-7351-3524-E497-F23B9F019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318000"/>
            <a:ext cx="5976938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7913BD26-0CBA-437F-5A85-C09FF36FC3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Fundamentals of Digital Filters</a:t>
            </a:r>
          </a:p>
        </p:txBody>
      </p:sp>
      <p:sp>
        <p:nvSpPr>
          <p:cNvPr id="57347" name="Slide Number Placeholder 5">
            <a:extLst>
              <a:ext uri="{FF2B5EF4-FFF2-40B4-BE49-F238E27FC236}">
                <a16:creationId xmlns:a16="http://schemas.microsoft.com/office/drawing/2014/main" id="{7E4C49E1-ADD9-347D-4BBB-F00E78B83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2A8427-D1E8-4361-B576-6457DCEC52F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5734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387947C-2B78-7A9E-9ABE-187717456B1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Classification  </a:t>
            </a:r>
            <a:endParaRPr lang="vi-VN" altLang="en-US" sz="2000" b="1"/>
          </a:p>
        </p:txBody>
      </p:sp>
      <p:pic>
        <p:nvPicPr>
          <p:cNvPr id="57349" name="Picture 5">
            <a:extLst>
              <a:ext uri="{FF2B5EF4-FFF2-40B4-BE49-F238E27FC236}">
                <a16:creationId xmlns:a16="http://schemas.microsoft.com/office/drawing/2014/main" id="{E9675D10-433F-58FA-284C-659D2D3EBC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50" name="TextBox 2">
            <a:extLst>
              <a:ext uri="{FF2B5EF4-FFF2-40B4-BE49-F238E27FC236}">
                <a16:creationId xmlns:a16="http://schemas.microsoft.com/office/drawing/2014/main" id="{84269D07-D82B-C436-3908-469BD55D2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0"/>
            <a:ext cx="7567613" cy="387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FIR (Finite Impulse Response) Filters: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/>
              <a:t>Characteristics</a:t>
            </a:r>
            <a:r>
              <a:rPr lang="en-US" altLang="en-US" sz="1600"/>
              <a:t>: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600"/>
              <a:t>Have a finite duration impulse response.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600"/>
              <a:t>Provide linear phase response, making them suitable for applications requiring phase linearity.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/>
              <a:t>Applications in Speech Processing</a:t>
            </a:r>
            <a:r>
              <a:rPr lang="en-US" altLang="en-US" sz="1600"/>
              <a:t>: Ideal for implementing linear-phase filters for applications like signal equalization and echo cancellation.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IIR (Infinite Impulse Response) Filters: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/>
              <a:t>Characteristics</a:t>
            </a:r>
            <a:r>
              <a:rPr lang="en-US" altLang="en-US" sz="1600"/>
              <a:t>: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600"/>
              <a:t>Include feedback in their structure, resulting in potentially infinite-duration impulse response.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600"/>
              <a:t>Generally more computationally efficient compared to FIR filters.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/>
              <a:t>Applications in Speech Processing</a:t>
            </a:r>
            <a:r>
              <a:rPr lang="en-US" altLang="en-US" sz="1600"/>
              <a:t>: Used for applications requiring efficient real-time processing, such as voice communication systems.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5F086458-9B6B-609B-B33B-46544CA787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Fundamentals of Digital Filters</a:t>
            </a:r>
          </a:p>
        </p:txBody>
      </p:sp>
      <p:sp>
        <p:nvSpPr>
          <p:cNvPr id="59395" name="Slide Number Placeholder 5">
            <a:extLst>
              <a:ext uri="{FF2B5EF4-FFF2-40B4-BE49-F238E27FC236}">
                <a16:creationId xmlns:a16="http://schemas.microsoft.com/office/drawing/2014/main" id="{6C8BC9F6-ABBF-EA1D-0146-7C35EF9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65B3DF-5A58-4879-8724-C69A651E903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5939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B39D22B-94C2-C56B-ECD4-2D00D575C00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FIR Filters  </a:t>
            </a:r>
            <a:endParaRPr lang="vi-VN" altLang="en-US" sz="2000" b="1"/>
          </a:p>
        </p:txBody>
      </p:sp>
      <p:pic>
        <p:nvPicPr>
          <p:cNvPr id="59397" name="Picture 5">
            <a:extLst>
              <a:ext uri="{FF2B5EF4-FFF2-40B4-BE49-F238E27FC236}">
                <a16:creationId xmlns:a16="http://schemas.microsoft.com/office/drawing/2014/main" id="{8D8483C7-EF2A-B12A-65E3-6061FDFF3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TextBox 2">
            <a:extLst>
              <a:ext uri="{FF2B5EF4-FFF2-40B4-BE49-F238E27FC236}">
                <a16:creationId xmlns:a16="http://schemas.microsoft.com/office/drawing/2014/main" id="{F9368FFC-6F53-2222-3089-33C3AD7BE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136775"/>
            <a:ext cx="75660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Structure of FIR Filters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Represented by a feedforward structure without feedback loops.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Each output sample is computed as a weighted sum of input samples.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Advantages in Speech Processing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Linear phase response preserves the phase information of speech signals, which is crucial for maintaining signal integrity in filtering applications.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F3BF2AAC-BDA2-B995-D784-2E04807831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Fundamentals of Digital Filters</a:t>
            </a:r>
          </a:p>
        </p:txBody>
      </p:sp>
      <p:sp>
        <p:nvSpPr>
          <p:cNvPr id="61443" name="Slide Number Placeholder 5">
            <a:extLst>
              <a:ext uri="{FF2B5EF4-FFF2-40B4-BE49-F238E27FC236}">
                <a16:creationId xmlns:a16="http://schemas.microsoft.com/office/drawing/2014/main" id="{FE389080-3A31-70D4-FFA6-951CA5CB2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093D8D-6116-4EF0-830D-C4128966134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6144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E2BB152-9DD8-2D8A-0AF8-BC296D4C21E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Design Methods for FIR Filters</a:t>
            </a:r>
            <a:endParaRPr lang="vi-VN" altLang="en-US" sz="2000" b="1"/>
          </a:p>
        </p:txBody>
      </p:sp>
      <p:pic>
        <p:nvPicPr>
          <p:cNvPr id="61445" name="Picture 5">
            <a:extLst>
              <a:ext uri="{FF2B5EF4-FFF2-40B4-BE49-F238E27FC236}">
                <a16:creationId xmlns:a16="http://schemas.microsoft.com/office/drawing/2014/main" id="{42829574-F403-EACC-0083-4FD65174AA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6" name="TextBox 2">
            <a:extLst>
              <a:ext uri="{FF2B5EF4-FFF2-40B4-BE49-F238E27FC236}">
                <a16:creationId xmlns:a16="http://schemas.microsoft.com/office/drawing/2014/main" id="{A6D4F745-A24F-6D2A-1A62-D2830ED1A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136775"/>
            <a:ext cx="756602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Windowing Techniques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Hamming, Blackman, and Kaiser windows are used to design low-pass, high-pass, or band-pass FIR filters.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Frequency Sampling Method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Directly specify the desired frequency response at specific points and interpolate between them to obtain filter coefficients.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Parks-McClellan Algorithm (Remez Exchange Algorithm)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Optimal design method for FIR filters that minimizes the maximum error between the desired and actual frequency responses.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2C60BE81-4209-A0BD-FCF3-F07085760E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Fundamentals of Digital Filters</a:t>
            </a:r>
          </a:p>
        </p:txBody>
      </p:sp>
      <p:sp>
        <p:nvSpPr>
          <p:cNvPr id="63491" name="Slide Number Placeholder 5">
            <a:extLst>
              <a:ext uri="{FF2B5EF4-FFF2-40B4-BE49-F238E27FC236}">
                <a16:creationId xmlns:a16="http://schemas.microsoft.com/office/drawing/2014/main" id="{F2298D08-066F-E2BE-A481-4040B567C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EE28AB-64BD-44D0-818A-D0057EA8378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6349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A122B00-4CA9-E3CC-C2C1-8A17D779456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IIR Filters  </a:t>
            </a:r>
            <a:endParaRPr lang="vi-VN" altLang="en-US" sz="2000" b="1"/>
          </a:p>
        </p:txBody>
      </p:sp>
      <p:pic>
        <p:nvPicPr>
          <p:cNvPr id="63493" name="Picture 5">
            <a:extLst>
              <a:ext uri="{FF2B5EF4-FFF2-40B4-BE49-F238E27FC236}">
                <a16:creationId xmlns:a16="http://schemas.microsoft.com/office/drawing/2014/main" id="{C4549170-391E-47B1-BFEB-3BE43B2F2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4" name="TextBox 2">
            <a:extLst>
              <a:ext uri="{FF2B5EF4-FFF2-40B4-BE49-F238E27FC236}">
                <a16:creationId xmlns:a16="http://schemas.microsoft.com/office/drawing/2014/main" id="{538C08BD-1CA4-4AD3-B70E-4F1C92B5E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136775"/>
            <a:ext cx="756602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Structure of IIR Filters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Incorporate feedback loops in addition to feedforward components.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recursive nature allows for more compact filter designs.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Advantages in Speech Processing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More computationally efficient compared to FIR filters for achieving similar frequency responses..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036EA738-D6AF-8EC3-F1C1-F32FF29FA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Fundamentals of Digital Filters</a:t>
            </a:r>
          </a:p>
        </p:txBody>
      </p:sp>
      <p:sp>
        <p:nvSpPr>
          <p:cNvPr id="65539" name="Slide Number Placeholder 5">
            <a:extLst>
              <a:ext uri="{FF2B5EF4-FFF2-40B4-BE49-F238E27FC236}">
                <a16:creationId xmlns:a16="http://schemas.microsoft.com/office/drawing/2014/main" id="{88D7C4C6-8DF9-31D9-EC0A-E39BEB745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EA6B05-89B0-4C42-B827-5C15A54A999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6554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8804152-6367-625F-D5B3-FFB36C95E87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Design Methods for IIR Filters</a:t>
            </a:r>
            <a:endParaRPr lang="vi-VN" altLang="en-US" sz="2000" b="1"/>
          </a:p>
        </p:txBody>
      </p:sp>
      <p:pic>
        <p:nvPicPr>
          <p:cNvPr id="65541" name="Picture 5">
            <a:extLst>
              <a:ext uri="{FF2B5EF4-FFF2-40B4-BE49-F238E27FC236}">
                <a16:creationId xmlns:a16="http://schemas.microsoft.com/office/drawing/2014/main" id="{168FDB19-DFC5-07B9-7D33-0DC51CA7C4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2" name="TextBox 2">
            <a:extLst>
              <a:ext uri="{FF2B5EF4-FFF2-40B4-BE49-F238E27FC236}">
                <a16:creationId xmlns:a16="http://schemas.microsoft.com/office/drawing/2014/main" id="{E48EDF5F-F3BA-4BA9-5CC0-25D4432DE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Butterworth, Chebyshev, and Elliptic (Cauer) Filter Designs: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Specify filter characteristics such as passband ripple, stopband attenuation, and transition width to design IIR filters with specific performance requirements.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Impulse Invariant Method and Bilinear Transformation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Techniques for transforming analog filter designs into digital IIR filters while preserving critical characteristics like stability and frequency response.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A7B56F1B-DFEB-336C-1589-2AA3A3F0C69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Sampling and Summary</a:t>
            </a:r>
          </a:p>
        </p:txBody>
      </p:sp>
      <p:pic>
        <p:nvPicPr>
          <p:cNvPr id="67587" name="Picture 3">
            <a:extLst>
              <a:ext uri="{FF2B5EF4-FFF2-40B4-BE49-F238E27FC236}">
                <a16:creationId xmlns:a16="http://schemas.microsoft.com/office/drawing/2014/main" id="{9D407413-4F1F-48B4-2C06-AED991D06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72C43DB7-3B2D-65A9-14F0-B58A48E519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Sampling and Summary</a:t>
            </a:r>
          </a:p>
        </p:txBody>
      </p:sp>
      <p:sp>
        <p:nvSpPr>
          <p:cNvPr id="69635" name="Slide Number Placeholder 5">
            <a:extLst>
              <a:ext uri="{FF2B5EF4-FFF2-40B4-BE49-F238E27FC236}">
                <a16:creationId xmlns:a16="http://schemas.microsoft.com/office/drawing/2014/main" id="{69F71B89-8CA4-7DF4-F9E1-ACCF3981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8FE843-2662-4887-856E-4B4A94D2A10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6963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4771413-2560-13FB-90FF-84ECBACBB80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 </a:t>
            </a:r>
            <a:endParaRPr lang="vi-VN" altLang="en-US" sz="2000" b="1"/>
          </a:p>
        </p:txBody>
      </p:sp>
      <p:pic>
        <p:nvPicPr>
          <p:cNvPr id="69637" name="Picture 5">
            <a:extLst>
              <a:ext uri="{FF2B5EF4-FFF2-40B4-BE49-F238E27FC236}">
                <a16:creationId xmlns:a16="http://schemas.microsoft.com/office/drawing/2014/main" id="{2E51932B-1B53-FB60-A427-147E14D31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8" name="TextBox 2">
            <a:extLst>
              <a:ext uri="{FF2B5EF4-FFF2-40B4-BE49-F238E27FC236}">
                <a16:creationId xmlns:a16="http://schemas.microsoft.com/office/drawing/2014/main" id="{EA2FC422-D315-4B58-8004-945631649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Sampling is the process of converting a continuous-time speech signal into a discrete-time signal by extracting samples at regular intervals..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Sampling Theorem (Nyquist-Shannon Theorem)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States that to accurately reconstruct a continuous signal from its samples, the sampling rate must be at least twice the highest frequency component in the signal (Nyquist rate).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38266BB8-CC82-3EE4-36ED-28B8693287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Sampling and Summary</a:t>
            </a:r>
          </a:p>
        </p:txBody>
      </p:sp>
      <p:sp>
        <p:nvSpPr>
          <p:cNvPr id="71683" name="Slide Number Placeholder 5">
            <a:extLst>
              <a:ext uri="{FF2B5EF4-FFF2-40B4-BE49-F238E27FC236}">
                <a16:creationId xmlns:a16="http://schemas.microsoft.com/office/drawing/2014/main" id="{35962DC3-10AA-6A31-26E4-B9F3DCC20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2D984F-017E-48BE-A449-66933808B03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7168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B598B90-2B78-C1E2-A5B4-83AF0F42A2B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Sampling Rate and Nyquist Frequency </a:t>
            </a:r>
            <a:endParaRPr lang="vi-VN" altLang="en-US" sz="2000" b="1"/>
          </a:p>
        </p:txBody>
      </p:sp>
      <p:pic>
        <p:nvPicPr>
          <p:cNvPr id="71685" name="Picture 5">
            <a:extLst>
              <a:ext uri="{FF2B5EF4-FFF2-40B4-BE49-F238E27FC236}">
                <a16:creationId xmlns:a16="http://schemas.microsoft.com/office/drawing/2014/main" id="{E03E169D-35BC-F3BC-EC69-4010441F0F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6" name="TextBox 2">
            <a:extLst>
              <a:ext uri="{FF2B5EF4-FFF2-40B4-BE49-F238E27FC236}">
                <a16:creationId xmlns:a16="http://schemas.microsoft.com/office/drawing/2014/main" id="{93D66358-B77C-FE9C-9C14-AFACCEDD9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21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3144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Determined by the number of samples taken per second (measured in Hz or samples per second, sps).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Common sampling rates for speech processing: 8 kHz (telephony), 16 kHz (voice communication), 44.1 kHz (CD audio quality).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Sampling Theorem (Nyquist-Shannon Theorem)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Half of the sampling rate (Fs/2), which defines the maximum frequency that can be accurately represented without aliasing.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590F0AFE-BF50-CB33-AB16-A5A64DB42E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Sampling and Summary</a:t>
            </a:r>
          </a:p>
        </p:txBody>
      </p:sp>
      <p:sp>
        <p:nvSpPr>
          <p:cNvPr id="73731" name="Slide Number Placeholder 5">
            <a:extLst>
              <a:ext uri="{FF2B5EF4-FFF2-40B4-BE49-F238E27FC236}">
                <a16:creationId xmlns:a16="http://schemas.microsoft.com/office/drawing/2014/main" id="{D3B58430-9966-2190-F91A-6544948DC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47746A-3196-43AC-A7FE-0E441980E79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7373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D636026-DD0F-4CF8-E9CA-A1F1B259171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Aliasing and Anti-Aliasing Filters </a:t>
            </a:r>
            <a:endParaRPr lang="vi-VN" altLang="en-US" sz="2000" b="1"/>
          </a:p>
        </p:txBody>
      </p:sp>
      <p:pic>
        <p:nvPicPr>
          <p:cNvPr id="73733" name="Picture 5">
            <a:extLst>
              <a:ext uri="{FF2B5EF4-FFF2-40B4-BE49-F238E27FC236}">
                <a16:creationId xmlns:a16="http://schemas.microsoft.com/office/drawing/2014/main" id="{7F1B0DD9-AEF8-4CFF-EA6D-64F3B2285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4" name="TextBox 2">
            <a:extLst>
              <a:ext uri="{FF2B5EF4-FFF2-40B4-BE49-F238E27FC236}">
                <a16:creationId xmlns:a16="http://schemas.microsoft.com/office/drawing/2014/main" id="{A5608E0A-0AB3-439B-EF85-04AD4BE0D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3144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Aliasing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Occurs when high-frequency components in the speech signal fold back into lower frequencies due to insufficient sampling rate.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Anti-Aliasing Filters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Used to remove high-frequency components (above the Nyquist frequency) prior to sampling to prevent aliasing.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Commonly implemented as low-pass filters.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F9602F31-68A2-65C9-D1A8-5C3343AA90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124200"/>
            <a:ext cx="6705600" cy="1143000"/>
          </a:xfrm>
        </p:spPr>
        <p:txBody>
          <a:bodyPr/>
          <a:lstStyle/>
          <a:p>
            <a:pPr algn="ctr"/>
            <a:r>
              <a:rPr lang="vi-VN" altLang="en-US"/>
              <a:t>Q &amp; A</a:t>
            </a:r>
            <a:endParaRPr lang="en-US" altLang="en-US"/>
          </a:p>
        </p:txBody>
      </p:sp>
      <p:sp>
        <p:nvSpPr>
          <p:cNvPr id="75779" name="Slide Number Placeholder 6">
            <a:extLst>
              <a:ext uri="{FF2B5EF4-FFF2-40B4-BE49-F238E27FC236}">
                <a16:creationId xmlns:a16="http://schemas.microsoft.com/office/drawing/2014/main" id="{66196973-4292-6C45-372D-206A9C67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5BD58E-1ED6-436D-9AE0-0C8B4C01EA1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/>
          </a:p>
        </p:txBody>
      </p:sp>
      <p:pic>
        <p:nvPicPr>
          <p:cNvPr id="75780" name="Picture 3">
            <a:extLst>
              <a:ext uri="{FF2B5EF4-FFF2-40B4-BE49-F238E27FC236}">
                <a16:creationId xmlns:a16="http://schemas.microsoft.com/office/drawing/2014/main" id="{C6312FEB-B8EF-553E-FDEC-82E0264B2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2694</TotalTime>
  <Words>1050</Words>
  <Application>Microsoft Office PowerPoint</Application>
  <PresentationFormat>On-screen Show (4:3)</PresentationFormat>
  <Paragraphs>232</Paragraphs>
  <Slides>36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Tahoma</vt:lpstr>
      <vt:lpstr>MS PGothic</vt:lpstr>
      <vt:lpstr>Arial</vt:lpstr>
      <vt:lpstr>Wingdings</vt:lpstr>
      <vt:lpstr>Times New Roman</vt:lpstr>
      <vt:lpstr>Blueprint</vt:lpstr>
      <vt:lpstr>Review of Fundamentals of DSP</vt:lpstr>
      <vt:lpstr>Contents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Transform Representation of Signals and Systems</vt:lpstr>
      <vt:lpstr>Transform Representation of Signals and Systems</vt:lpstr>
      <vt:lpstr>Transform Representation of Signals and Systems</vt:lpstr>
      <vt:lpstr>Transform Representation of Signals and Systems</vt:lpstr>
      <vt:lpstr>Transform Representation of Signals and Systems</vt:lpstr>
      <vt:lpstr>Transform Representation of Signals and Systems</vt:lpstr>
      <vt:lpstr>Transform Representation of Signals and Systems</vt:lpstr>
      <vt:lpstr>Fundamentals of Digital Filters</vt:lpstr>
      <vt:lpstr>Fundamentals of Digital Filters</vt:lpstr>
      <vt:lpstr>Fundamentals of Digital Filters</vt:lpstr>
      <vt:lpstr>Fundamentals of Digital Filters</vt:lpstr>
      <vt:lpstr>Fundamentals of Digital Filters</vt:lpstr>
      <vt:lpstr>Fundamentals of Digital Filters</vt:lpstr>
      <vt:lpstr>Fundamentals of Digital Filters</vt:lpstr>
      <vt:lpstr>Sampling and Summary</vt:lpstr>
      <vt:lpstr>Sampling and Summary</vt:lpstr>
      <vt:lpstr>Sampling and Summary</vt:lpstr>
      <vt:lpstr>Sampling and Summary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Tittlehere</dc:title>
  <dc:subject/>
  <dc:creator>Microsoft Office User</dc:creator>
  <cp:keywords/>
  <dc:description/>
  <cp:lastModifiedBy>vu.khoi</cp:lastModifiedBy>
  <cp:revision>147</cp:revision>
  <dcterms:created xsi:type="dcterms:W3CDTF">2022-10-28T07:26:15Z</dcterms:created>
  <dcterms:modified xsi:type="dcterms:W3CDTF">2026-05-17T13:43:56Z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