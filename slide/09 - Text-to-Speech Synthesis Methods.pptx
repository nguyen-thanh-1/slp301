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46"/>
  </p:notesMasterIdLst>
  <p:handoutMasterIdLst>
    <p:handoutMasterId r:id="rId47"/>
  </p:handoutMasterIdLst>
  <p:sldIdLst>
    <p:sldId id="256" r:id="rId2"/>
    <p:sldId id="363" r:id="rId3"/>
    <p:sldId id="449" r:id="rId4"/>
    <p:sldId id="453" r:id="rId5"/>
    <p:sldId id="464" r:id="rId6"/>
    <p:sldId id="465" r:id="rId7"/>
    <p:sldId id="466" r:id="rId8"/>
    <p:sldId id="467" r:id="rId9"/>
    <p:sldId id="468" r:id="rId10"/>
    <p:sldId id="469" r:id="rId11"/>
    <p:sldId id="470" r:id="rId12"/>
    <p:sldId id="454" r:id="rId13"/>
    <p:sldId id="455" r:id="rId14"/>
    <p:sldId id="471" r:id="rId15"/>
    <p:sldId id="472" r:id="rId16"/>
    <p:sldId id="473" r:id="rId17"/>
    <p:sldId id="474" r:id="rId18"/>
    <p:sldId id="475" r:id="rId19"/>
    <p:sldId id="476" r:id="rId20"/>
    <p:sldId id="477" r:id="rId21"/>
    <p:sldId id="456" r:id="rId22"/>
    <p:sldId id="457" r:id="rId23"/>
    <p:sldId id="478" r:id="rId24"/>
    <p:sldId id="479" r:id="rId25"/>
    <p:sldId id="480" r:id="rId26"/>
    <p:sldId id="481" r:id="rId27"/>
    <p:sldId id="482" r:id="rId28"/>
    <p:sldId id="483" r:id="rId29"/>
    <p:sldId id="458" r:id="rId30"/>
    <p:sldId id="459" r:id="rId31"/>
    <p:sldId id="484" r:id="rId32"/>
    <p:sldId id="485" r:id="rId33"/>
    <p:sldId id="486" r:id="rId34"/>
    <p:sldId id="487" r:id="rId35"/>
    <p:sldId id="488" r:id="rId36"/>
    <p:sldId id="460" r:id="rId37"/>
    <p:sldId id="461" r:id="rId38"/>
    <p:sldId id="489" r:id="rId39"/>
    <p:sldId id="490" r:id="rId40"/>
    <p:sldId id="491" r:id="rId41"/>
    <p:sldId id="492" r:id="rId42"/>
    <p:sldId id="493" r:id="rId43"/>
    <p:sldId id="494" r:id="rId44"/>
    <p:sldId id="347" r:id="rId45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B2B"/>
    <a:srgbClr val="F8F0D0"/>
    <a:srgbClr val="F2E4AA"/>
    <a:srgbClr val="000000"/>
    <a:srgbClr val="E4BB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9"/>
    <p:restoredTop sz="94751"/>
  </p:normalViewPr>
  <p:slideViewPr>
    <p:cSldViewPr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E338809-D953-94D1-9754-11D8F8D1C3F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60D7658-0531-EA58-117C-2F8ED94E389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81D5360A-863D-5697-4AA7-A59810F38E1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5E3809DC-76A2-C1B7-EE0D-0EB62B04AD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D81A1F29-67CC-443F-8363-D88C901589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9CE4AF9-3319-8C3E-4843-6ACC3315141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D813330-DC16-EC4B-3DFA-D311F7666C1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E33F0FA-D85F-3D30-DEA4-6BAE68E22FC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792662" cy="3594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71AF8B5-D074-95AB-A91A-7927878F882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4538"/>
            <a:ext cx="5356225" cy="431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0A46D5D-DCE0-FE1A-13AF-03D03E30CD8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C38221B-9593-FFDE-FE9A-2F9DAF1737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C6BAAAC6-C646-422F-865A-3CB97DC271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05BD963B-31A8-E2CB-8F81-0EEBC8A3D7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07E3EE4A-1F56-C3DC-AFFA-1882F884A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86A803A6-DEA9-BEC5-9126-4ABFD559D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C884AD6-AD12-4D1A-ADF9-0742BB71028B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04F40A2A-E09F-4BBA-BFFC-BDE5B11EFC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AE70AEE3-8A0F-7E4E-755C-E119D27D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C7C08437-BECC-C996-AA7A-7B3473544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966042-ACDA-4A08-9885-267FF8077AA1}" type="slidenum">
              <a:rPr lang="en-US" altLang="en-US" sz="1300" smtClean="0"/>
              <a:pPr/>
              <a:t>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631611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910407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380824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276580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39545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9985148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9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725379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10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5453546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11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9859203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04F40A2A-E09F-4BBA-BFFC-BDE5B11EFC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AE70AEE3-8A0F-7E4E-755C-E119D27D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C7C08437-BECC-C996-AA7A-7B3473544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966042-ACDA-4A08-9885-267FF8077AA1}" type="slidenum">
              <a:rPr lang="en-US" altLang="en-US" sz="1300" smtClean="0"/>
              <a:pPr/>
              <a:t>12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4903846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627627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4939002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1747701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648768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5197419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8406722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19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97722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20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5394673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04F40A2A-E09F-4BBA-BFFC-BDE5B11EFC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AE70AEE3-8A0F-7E4E-755C-E119D27D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C7C08437-BECC-C996-AA7A-7B3473544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966042-ACDA-4A08-9885-267FF8077AA1}" type="slidenum">
              <a:rPr lang="en-US" altLang="en-US" sz="1300" smtClean="0"/>
              <a:pPr/>
              <a:t>21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0677416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22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9026373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7558166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8989724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5492594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0952724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1953778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7374076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04F40A2A-E09F-4BBA-BFFC-BDE5B11EFC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AE70AEE3-8A0F-7E4E-755C-E119D27D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C7C08437-BECC-C996-AA7A-7B3473544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966042-ACDA-4A08-9885-267FF8077AA1}" type="slidenum">
              <a:rPr lang="en-US" altLang="en-US" sz="1300" smtClean="0"/>
              <a:pPr/>
              <a:t>29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9549965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30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7629980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31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2784199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32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6812984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33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2078543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34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1749209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35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1025315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04F40A2A-E09F-4BBA-BFFC-BDE5B11EFC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AE70AEE3-8A0F-7E4E-755C-E119D27D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C7C08437-BECC-C996-AA7A-7B3473544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966042-ACDA-4A08-9885-267FF8077AA1}" type="slidenum">
              <a:rPr lang="en-US" altLang="en-US" sz="1300" smtClean="0"/>
              <a:pPr/>
              <a:t>36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3264628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37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1433493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38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9164446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39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7242291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40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92298249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41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82284685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42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39256935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43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811180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505BF9D-1CAD-9CDB-C0CF-13BCE1C17ED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378A5B79-600D-770B-CAB6-12A5D199FC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3" name="Rectangle 4">
                <a:extLst>
                  <a:ext uri="{FF2B5EF4-FFF2-40B4-BE49-F238E27FC236}">
                    <a16:creationId xmlns:a16="http://schemas.microsoft.com/office/drawing/2014/main" id="{09E70B30-CA00-6BA8-083C-A00541DB0270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grpSp>
            <p:nvGrpSpPr>
              <p:cNvPr id="14" name="Group 5">
                <a:extLst>
                  <a:ext uri="{FF2B5EF4-FFF2-40B4-BE49-F238E27FC236}">
                    <a16:creationId xmlns:a16="http://schemas.microsoft.com/office/drawing/2014/main" id="{88DCCA53-F812-0B67-E237-BF2E126B1A24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6" name="Line 6">
                  <a:extLst>
                    <a:ext uri="{FF2B5EF4-FFF2-40B4-BE49-F238E27FC236}">
                      <a16:creationId xmlns:a16="http://schemas.microsoft.com/office/drawing/2014/main" id="{BB9907D4-8B67-ABB2-6A25-82B218372D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7">
                  <a:extLst>
                    <a:ext uri="{FF2B5EF4-FFF2-40B4-BE49-F238E27FC236}">
                      <a16:creationId xmlns:a16="http://schemas.microsoft.com/office/drawing/2014/main" id="{374977C9-7A2B-8F94-DE66-5A322CCC50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">
                  <a:extLst>
                    <a:ext uri="{FF2B5EF4-FFF2-40B4-BE49-F238E27FC236}">
                      <a16:creationId xmlns:a16="http://schemas.microsoft.com/office/drawing/2014/main" id="{420CBAD2-8D75-2592-8F51-F96327ED10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9">
                  <a:extLst>
                    <a:ext uri="{FF2B5EF4-FFF2-40B4-BE49-F238E27FC236}">
                      <a16:creationId xmlns:a16="http://schemas.microsoft.com/office/drawing/2014/main" id="{A0A86779-9127-21EB-52A0-B5818A424A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10">
                  <a:extLst>
                    <a:ext uri="{FF2B5EF4-FFF2-40B4-BE49-F238E27FC236}">
                      <a16:creationId xmlns:a16="http://schemas.microsoft.com/office/drawing/2014/main" id="{6EC6A224-8B2B-38E7-3CDC-3245A0D211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11">
                  <a:extLst>
                    <a:ext uri="{FF2B5EF4-FFF2-40B4-BE49-F238E27FC236}">
                      <a16:creationId xmlns:a16="http://schemas.microsoft.com/office/drawing/2014/main" id="{162B50A8-F175-F0D1-63B6-C076387DFA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12">
                  <a:extLst>
                    <a:ext uri="{FF2B5EF4-FFF2-40B4-BE49-F238E27FC236}">
                      <a16:creationId xmlns:a16="http://schemas.microsoft.com/office/drawing/2014/main" id="{3BF02FD9-926D-6A18-37E3-3AFA0F4B11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13">
                  <a:extLst>
                    <a:ext uri="{FF2B5EF4-FFF2-40B4-BE49-F238E27FC236}">
                      <a16:creationId xmlns:a16="http://schemas.microsoft.com/office/drawing/2014/main" id="{B80AE387-4B4D-2C74-D102-6287DA7EC5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14">
                  <a:extLst>
                    <a:ext uri="{FF2B5EF4-FFF2-40B4-BE49-F238E27FC236}">
                      <a16:creationId xmlns:a16="http://schemas.microsoft.com/office/drawing/2014/main" id="{6B36E532-5614-B444-C0C7-49411DD257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15">
                  <a:extLst>
                    <a:ext uri="{FF2B5EF4-FFF2-40B4-BE49-F238E27FC236}">
                      <a16:creationId xmlns:a16="http://schemas.microsoft.com/office/drawing/2014/main" id="{031C863B-16E2-411E-8BBF-DC31B16346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16">
                  <a:extLst>
                    <a:ext uri="{FF2B5EF4-FFF2-40B4-BE49-F238E27FC236}">
                      <a16:creationId xmlns:a16="http://schemas.microsoft.com/office/drawing/2014/main" id="{19773588-FFC9-CAAB-5738-0723DCA892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" name="Line 17">
                  <a:extLst>
                    <a:ext uri="{FF2B5EF4-FFF2-40B4-BE49-F238E27FC236}">
                      <a16:creationId xmlns:a16="http://schemas.microsoft.com/office/drawing/2014/main" id="{73A52314-2D74-9198-A6D6-8047C1F0C1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18">
                  <a:extLst>
                    <a:ext uri="{FF2B5EF4-FFF2-40B4-BE49-F238E27FC236}">
                      <a16:creationId xmlns:a16="http://schemas.microsoft.com/office/drawing/2014/main" id="{DBD03CAF-0BCF-B83E-1C7F-EC2D6816E7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19">
                  <a:extLst>
                    <a:ext uri="{FF2B5EF4-FFF2-40B4-BE49-F238E27FC236}">
                      <a16:creationId xmlns:a16="http://schemas.microsoft.com/office/drawing/2014/main" id="{BB888EEA-9C41-6670-F661-E0DF5609B4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20">
                  <a:extLst>
                    <a:ext uri="{FF2B5EF4-FFF2-40B4-BE49-F238E27FC236}">
                      <a16:creationId xmlns:a16="http://schemas.microsoft.com/office/drawing/2014/main" id="{F68756E8-3BBF-AB45-21D8-1FD837B6DC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21">
                  <a:extLst>
                    <a:ext uri="{FF2B5EF4-FFF2-40B4-BE49-F238E27FC236}">
                      <a16:creationId xmlns:a16="http://schemas.microsoft.com/office/drawing/2014/main" id="{FE8BE401-B82F-6266-F755-88126CAE8B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22">
                  <a:extLst>
                    <a:ext uri="{FF2B5EF4-FFF2-40B4-BE49-F238E27FC236}">
                      <a16:creationId xmlns:a16="http://schemas.microsoft.com/office/drawing/2014/main" id="{E717D8F4-17A3-C507-FA3D-2AB421C584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23">
                  <a:extLst>
                    <a:ext uri="{FF2B5EF4-FFF2-40B4-BE49-F238E27FC236}">
                      <a16:creationId xmlns:a16="http://schemas.microsoft.com/office/drawing/2014/main" id="{2FCBCE48-0F8B-A384-6B4B-5A62E42D07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24">
                  <a:extLst>
                    <a:ext uri="{FF2B5EF4-FFF2-40B4-BE49-F238E27FC236}">
                      <a16:creationId xmlns:a16="http://schemas.microsoft.com/office/drawing/2014/main" id="{51088338-752C-8D9B-1C77-C026392038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25">
                  <a:extLst>
                    <a:ext uri="{FF2B5EF4-FFF2-40B4-BE49-F238E27FC236}">
                      <a16:creationId xmlns:a16="http://schemas.microsoft.com/office/drawing/2014/main" id="{FE635CE8-F02A-97C3-234A-7704BC0B98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26">
                  <a:extLst>
                    <a:ext uri="{FF2B5EF4-FFF2-40B4-BE49-F238E27FC236}">
                      <a16:creationId xmlns:a16="http://schemas.microsoft.com/office/drawing/2014/main" id="{03338E54-4ACC-BB57-FB46-F7A181DAF7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27">
                  <a:extLst>
                    <a:ext uri="{FF2B5EF4-FFF2-40B4-BE49-F238E27FC236}">
                      <a16:creationId xmlns:a16="http://schemas.microsoft.com/office/drawing/2014/main" id="{A8C8DBA3-A962-2AD7-D640-9A2F6D446A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Line 28">
                  <a:extLst>
                    <a:ext uri="{FF2B5EF4-FFF2-40B4-BE49-F238E27FC236}">
                      <a16:creationId xmlns:a16="http://schemas.microsoft.com/office/drawing/2014/main" id="{F9DAB08E-C07C-F3D7-7D69-E976649833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Line 29">
                  <a:extLst>
                    <a:ext uri="{FF2B5EF4-FFF2-40B4-BE49-F238E27FC236}">
                      <a16:creationId xmlns:a16="http://schemas.microsoft.com/office/drawing/2014/main" id="{80DBF8CD-A19B-7273-71D7-E1FE7AC220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Line 30">
                  <a:extLst>
                    <a:ext uri="{FF2B5EF4-FFF2-40B4-BE49-F238E27FC236}">
                      <a16:creationId xmlns:a16="http://schemas.microsoft.com/office/drawing/2014/main" id="{EB75966A-F0F6-23E9-C08E-F85E09257F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Line 31">
                  <a:extLst>
                    <a:ext uri="{FF2B5EF4-FFF2-40B4-BE49-F238E27FC236}">
                      <a16:creationId xmlns:a16="http://schemas.microsoft.com/office/drawing/2014/main" id="{2B5C2A31-4650-5576-3164-694B6E2B50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Line 32">
                  <a:extLst>
                    <a:ext uri="{FF2B5EF4-FFF2-40B4-BE49-F238E27FC236}">
                      <a16:creationId xmlns:a16="http://schemas.microsoft.com/office/drawing/2014/main" id="{26896B17-2548-D3BC-E2CB-C55B2D5521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Line 33">
                  <a:extLst>
                    <a:ext uri="{FF2B5EF4-FFF2-40B4-BE49-F238E27FC236}">
                      <a16:creationId xmlns:a16="http://schemas.microsoft.com/office/drawing/2014/main" id="{4BB5DD60-1568-20B9-522C-2652C0756B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Line 34">
                  <a:extLst>
                    <a:ext uri="{FF2B5EF4-FFF2-40B4-BE49-F238E27FC236}">
                      <a16:creationId xmlns:a16="http://schemas.microsoft.com/office/drawing/2014/main" id="{F950ED97-1420-A567-1B20-508C64FB2C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Line 35">
                  <a:extLst>
                    <a:ext uri="{FF2B5EF4-FFF2-40B4-BE49-F238E27FC236}">
                      <a16:creationId xmlns:a16="http://schemas.microsoft.com/office/drawing/2014/main" id="{E575431C-4EBD-7619-E30A-7E4A1D9D99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Line 36">
                  <a:extLst>
                    <a:ext uri="{FF2B5EF4-FFF2-40B4-BE49-F238E27FC236}">
                      <a16:creationId xmlns:a16="http://schemas.microsoft.com/office/drawing/2014/main" id="{3B6D6372-285F-E867-1207-37144DC301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Line 37">
                  <a:extLst>
                    <a:ext uri="{FF2B5EF4-FFF2-40B4-BE49-F238E27FC236}">
                      <a16:creationId xmlns:a16="http://schemas.microsoft.com/office/drawing/2014/main" id="{CD673BBA-3EC0-AEA5-0BC3-61D4DF56F9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Line 38">
                  <a:extLst>
                    <a:ext uri="{FF2B5EF4-FFF2-40B4-BE49-F238E27FC236}">
                      <a16:creationId xmlns:a16="http://schemas.microsoft.com/office/drawing/2014/main" id="{0A3F5B1C-FC65-AC9F-7FD0-04334DF491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Line 39">
                  <a:extLst>
                    <a:ext uri="{FF2B5EF4-FFF2-40B4-BE49-F238E27FC236}">
                      <a16:creationId xmlns:a16="http://schemas.microsoft.com/office/drawing/2014/main" id="{C992FDDD-B9FA-E9A4-1919-97492D1CBF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Line 40">
                  <a:extLst>
                    <a:ext uri="{FF2B5EF4-FFF2-40B4-BE49-F238E27FC236}">
                      <a16:creationId xmlns:a16="http://schemas.microsoft.com/office/drawing/2014/main" id="{AB234D90-28D3-2ECD-8543-821C599B41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Line 41">
                  <a:extLst>
                    <a:ext uri="{FF2B5EF4-FFF2-40B4-BE49-F238E27FC236}">
                      <a16:creationId xmlns:a16="http://schemas.microsoft.com/office/drawing/2014/main" id="{17EDCD38-160E-7762-3B79-0B27C6BF0B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Line 42">
                  <a:extLst>
                    <a:ext uri="{FF2B5EF4-FFF2-40B4-BE49-F238E27FC236}">
                      <a16:creationId xmlns:a16="http://schemas.microsoft.com/office/drawing/2014/main" id="{E68FB73D-F6F9-8DC1-4704-BBF1FED989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Line 43">
                  <a:extLst>
                    <a:ext uri="{FF2B5EF4-FFF2-40B4-BE49-F238E27FC236}">
                      <a16:creationId xmlns:a16="http://schemas.microsoft.com/office/drawing/2014/main" id="{EFFEB4AC-6F38-B201-C2D3-8E5406CEDD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Line 44">
                  <a:extLst>
                    <a:ext uri="{FF2B5EF4-FFF2-40B4-BE49-F238E27FC236}">
                      <a16:creationId xmlns:a16="http://schemas.microsoft.com/office/drawing/2014/main" id="{1CE656A7-7BD6-0C05-8D2F-0053E6C6DC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Line 45">
                  <a:extLst>
                    <a:ext uri="{FF2B5EF4-FFF2-40B4-BE49-F238E27FC236}">
                      <a16:creationId xmlns:a16="http://schemas.microsoft.com/office/drawing/2014/main" id="{EECBC487-0532-545D-37C2-84DBB3F97A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Line 46">
                  <a:extLst>
                    <a:ext uri="{FF2B5EF4-FFF2-40B4-BE49-F238E27FC236}">
                      <a16:creationId xmlns:a16="http://schemas.microsoft.com/office/drawing/2014/main" id="{9225A15E-0F6F-FA48-F427-8F3531E5D4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Line 47">
                  <a:extLst>
                    <a:ext uri="{FF2B5EF4-FFF2-40B4-BE49-F238E27FC236}">
                      <a16:creationId xmlns:a16="http://schemas.microsoft.com/office/drawing/2014/main" id="{A5B2B30A-9AD7-D605-8B09-DCFE871950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Line 48">
                  <a:extLst>
                    <a:ext uri="{FF2B5EF4-FFF2-40B4-BE49-F238E27FC236}">
                      <a16:creationId xmlns:a16="http://schemas.microsoft.com/office/drawing/2014/main" id="{555DD737-E11D-4C51-70EE-27AC7C37FB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Line 49">
                  <a:extLst>
                    <a:ext uri="{FF2B5EF4-FFF2-40B4-BE49-F238E27FC236}">
                      <a16:creationId xmlns:a16="http://schemas.microsoft.com/office/drawing/2014/main" id="{EAED3068-F655-ED98-ADF0-6FE7BEBB54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Line 50">
                  <a:extLst>
                    <a:ext uri="{FF2B5EF4-FFF2-40B4-BE49-F238E27FC236}">
                      <a16:creationId xmlns:a16="http://schemas.microsoft.com/office/drawing/2014/main" id="{03666052-4ADF-8765-DFB0-D3CEA9FE4B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Line 51">
                  <a:extLst>
                    <a:ext uri="{FF2B5EF4-FFF2-40B4-BE49-F238E27FC236}">
                      <a16:creationId xmlns:a16="http://schemas.microsoft.com/office/drawing/2014/main" id="{4520ED50-F65B-D7A4-0845-C503AEE398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Line 52">
                  <a:extLst>
                    <a:ext uri="{FF2B5EF4-FFF2-40B4-BE49-F238E27FC236}">
                      <a16:creationId xmlns:a16="http://schemas.microsoft.com/office/drawing/2014/main" id="{1DCC8380-F0D2-0A68-F3D4-915801119C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Line 53">
                  <a:extLst>
                    <a:ext uri="{FF2B5EF4-FFF2-40B4-BE49-F238E27FC236}">
                      <a16:creationId xmlns:a16="http://schemas.microsoft.com/office/drawing/2014/main" id="{89ABAD5D-5F50-843E-83EF-12F5A8DE96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4" name="Line 54">
                  <a:extLst>
                    <a:ext uri="{FF2B5EF4-FFF2-40B4-BE49-F238E27FC236}">
                      <a16:creationId xmlns:a16="http://schemas.microsoft.com/office/drawing/2014/main" id="{8F852292-6C3C-0B75-C148-7C92414464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5" name="Line 55">
                  <a:extLst>
                    <a:ext uri="{FF2B5EF4-FFF2-40B4-BE49-F238E27FC236}">
                      <a16:creationId xmlns:a16="http://schemas.microsoft.com/office/drawing/2014/main" id="{E1EED364-8DA9-7C7A-0300-DF7EADB357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6" name="Line 56">
                  <a:extLst>
                    <a:ext uri="{FF2B5EF4-FFF2-40B4-BE49-F238E27FC236}">
                      <a16:creationId xmlns:a16="http://schemas.microsoft.com/office/drawing/2014/main" id="{0AEAABE9-E1A2-18C4-2D04-A556C5B812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5" name="Line 57">
                <a:extLst>
                  <a:ext uri="{FF2B5EF4-FFF2-40B4-BE49-F238E27FC236}">
                    <a16:creationId xmlns:a16="http://schemas.microsoft.com/office/drawing/2014/main" id="{884BBF0F-60F1-2551-129A-A30CFFA5903A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58">
              <a:extLst>
                <a:ext uri="{FF2B5EF4-FFF2-40B4-BE49-F238E27FC236}">
                  <a16:creationId xmlns:a16="http://schemas.microsoft.com/office/drawing/2014/main" id="{92E4AAC7-5788-A205-88CF-4F2B8FD47B06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9" name="Line 59">
                <a:extLst>
                  <a:ext uri="{FF2B5EF4-FFF2-40B4-BE49-F238E27FC236}">
                    <a16:creationId xmlns:a16="http://schemas.microsoft.com/office/drawing/2014/main" id="{0F3B3BD4-0003-4BDA-0BE9-1336D177282E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Line 60">
                <a:extLst>
                  <a:ext uri="{FF2B5EF4-FFF2-40B4-BE49-F238E27FC236}">
                    <a16:creationId xmlns:a16="http://schemas.microsoft.com/office/drawing/2014/main" id="{1372FDB0-78C5-491E-2F45-C33B8EA59666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Line 61">
                <a:extLst>
                  <a:ext uri="{FF2B5EF4-FFF2-40B4-BE49-F238E27FC236}">
                    <a16:creationId xmlns:a16="http://schemas.microsoft.com/office/drawing/2014/main" id="{DA024641-F8D9-165D-3888-033E12851725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Arc 62">
                <a:extLst>
                  <a:ext uri="{FF2B5EF4-FFF2-40B4-BE49-F238E27FC236}">
                    <a16:creationId xmlns:a16="http://schemas.microsoft.com/office/drawing/2014/main" id="{E40F633D-C1A9-550B-4733-EB99257DA204}"/>
                  </a:ext>
                </a:extLst>
              </p:cNvPr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63">
              <a:extLst>
                <a:ext uri="{FF2B5EF4-FFF2-40B4-BE49-F238E27FC236}">
                  <a16:creationId xmlns:a16="http://schemas.microsoft.com/office/drawing/2014/main" id="{9066DAE1-55E7-BD92-6366-7FA050A7F01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6" name="Line 64">
                <a:extLst>
                  <a:ext uri="{FF2B5EF4-FFF2-40B4-BE49-F238E27FC236}">
                    <a16:creationId xmlns:a16="http://schemas.microsoft.com/office/drawing/2014/main" id="{63934C55-9380-D92A-741F-B8D9D0DB3EC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" name="Line 65">
                <a:extLst>
                  <a:ext uri="{FF2B5EF4-FFF2-40B4-BE49-F238E27FC236}">
                    <a16:creationId xmlns:a16="http://schemas.microsoft.com/office/drawing/2014/main" id="{D1CD5841-9E9C-C21E-74C5-E044FBE94740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Arc 66">
                <a:extLst>
                  <a:ext uri="{FF2B5EF4-FFF2-40B4-BE49-F238E27FC236}">
                    <a16:creationId xmlns:a16="http://schemas.microsoft.com/office/drawing/2014/main" id="{0961B3C1-09A1-F1F1-6D55-B2576A3E59BD}"/>
                  </a:ext>
                </a:extLst>
              </p:cNvPr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89" name="Slide Number Placeholder 73">
            <a:extLst>
              <a:ext uri="{FF2B5EF4-FFF2-40B4-BE49-F238E27FC236}">
                <a16:creationId xmlns:a16="http://schemas.microsoft.com/office/drawing/2014/main" id="{FFCCE934-96A2-F9D0-2F63-CBF36CF580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5001EE-FDD7-4DD0-8CE8-EA13B02ED6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190" name="Rectangle 65">
            <a:extLst>
              <a:ext uri="{FF2B5EF4-FFF2-40B4-BE49-F238E27FC236}">
                <a16:creationId xmlns:a16="http://schemas.microsoft.com/office/drawing/2014/main" id="{78A7AA9B-471E-4EE1-8B3E-C81DFA2BD570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191" name="Rectangle 66">
            <a:extLst>
              <a:ext uri="{FF2B5EF4-FFF2-40B4-BE49-F238E27FC236}">
                <a16:creationId xmlns:a16="http://schemas.microsoft.com/office/drawing/2014/main" id="{222FBD0F-9B1D-F073-5357-468E537DC74B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 sz="14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333947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EC72FA63-EEE1-107E-8244-96085DB159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049F9C0F-418B-A591-E7CB-D10DB09231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7F9EC19F-6F67-0EE0-C410-B690C9D392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22AC6-743D-4A62-8DD6-E89D666BC2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3084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A4F51AC9-32F0-51C8-819C-D7D1351D72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3DB377C3-671C-DF66-D3F6-D28CF2E73F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D73BD7AB-93CA-56CA-5347-0978FA326C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E9798A-CA2C-4B61-A073-6FA905A894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2151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>
            <a:extLst>
              <a:ext uri="{FF2B5EF4-FFF2-40B4-BE49-F238E27FC236}">
                <a16:creationId xmlns:a16="http://schemas.microsoft.com/office/drawing/2014/main" id="{9D968E50-2B68-8C1C-325F-EB8E91084E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3" name="Rectangle 66">
            <a:extLst>
              <a:ext uri="{FF2B5EF4-FFF2-40B4-BE49-F238E27FC236}">
                <a16:creationId xmlns:a16="http://schemas.microsoft.com/office/drawing/2014/main" id="{55669D85-C340-04E5-EF17-B78BCF9721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" name="Rectangle 67">
            <a:extLst>
              <a:ext uri="{FF2B5EF4-FFF2-40B4-BE49-F238E27FC236}">
                <a16:creationId xmlns:a16="http://schemas.microsoft.com/office/drawing/2014/main" id="{73C79451-4E88-9E97-A6C9-FD8811E30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D45755-27E2-46D9-A862-C82E6B5912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3691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3303B33D-ED38-F85D-103C-39A3698317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5A238568-30E9-98EA-C841-C2038245A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C0FF610D-4B49-E672-ECF3-CE73DAEE19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78848-B890-4020-AEA5-CD1823E3CF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2895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488EA1A5-F554-A684-87F8-B42F68A1F3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76B86998-D216-E9CB-37BF-DCF43B475B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EF637E61-01C7-05A6-2447-B345DC4DDB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551FA-E5D8-469C-A723-91FE985B2C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8149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501ACF22-A11D-25EE-DB34-3E66E61DDDD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A491BC4B-A628-FF35-9CB2-902E26C553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>
                <a:extLst>
                  <a:ext uri="{FF2B5EF4-FFF2-40B4-BE49-F238E27FC236}">
                    <a16:creationId xmlns:a16="http://schemas.microsoft.com/office/drawing/2014/main" id="{A190FA09-657B-D3A8-5CA9-461A043B35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>
                  <a:extLst>
                    <a:ext uri="{FF2B5EF4-FFF2-40B4-BE49-F238E27FC236}">
                      <a16:creationId xmlns:a16="http://schemas.microsoft.com/office/drawing/2014/main" id="{A745D7D6-EB99-4318-ADBE-C94CCD71F2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6">
                  <a:extLst>
                    <a:ext uri="{FF2B5EF4-FFF2-40B4-BE49-F238E27FC236}">
                      <a16:creationId xmlns:a16="http://schemas.microsoft.com/office/drawing/2014/main" id="{7427DA50-FD75-FE4B-E538-50B2B3AC5B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7">
                  <a:extLst>
                    <a:ext uri="{FF2B5EF4-FFF2-40B4-BE49-F238E27FC236}">
                      <a16:creationId xmlns:a16="http://schemas.microsoft.com/office/drawing/2014/main" id="{DC954FB5-56D5-9104-B9CE-EACC8F35AF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8">
                  <a:extLst>
                    <a:ext uri="{FF2B5EF4-FFF2-40B4-BE49-F238E27FC236}">
                      <a16:creationId xmlns:a16="http://schemas.microsoft.com/office/drawing/2014/main" id="{835E22B7-E77A-ABA0-D492-1E1D9A07C6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9">
                  <a:extLst>
                    <a:ext uri="{FF2B5EF4-FFF2-40B4-BE49-F238E27FC236}">
                      <a16:creationId xmlns:a16="http://schemas.microsoft.com/office/drawing/2014/main" id="{19C76AF6-EB22-12B9-68E2-67C4F16973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0">
                  <a:extLst>
                    <a:ext uri="{FF2B5EF4-FFF2-40B4-BE49-F238E27FC236}">
                      <a16:creationId xmlns:a16="http://schemas.microsoft.com/office/drawing/2014/main" id="{E20EDDF3-CEB1-57B2-3803-986BDFD419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1">
                  <a:extLst>
                    <a:ext uri="{FF2B5EF4-FFF2-40B4-BE49-F238E27FC236}">
                      <a16:creationId xmlns:a16="http://schemas.microsoft.com/office/drawing/2014/main" id="{1817BAF3-F193-E300-DD0A-EE0A7CC689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">
                  <a:extLst>
                    <a:ext uri="{FF2B5EF4-FFF2-40B4-BE49-F238E27FC236}">
                      <a16:creationId xmlns:a16="http://schemas.microsoft.com/office/drawing/2014/main" id="{FBB200E5-57B1-449D-E1E5-B782EF4E4C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3">
                  <a:extLst>
                    <a:ext uri="{FF2B5EF4-FFF2-40B4-BE49-F238E27FC236}">
                      <a16:creationId xmlns:a16="http://schemas.microsoft.com/office/drawing/2014/main" id="{722232C1-D722-EB8E-D850-F8703C6FB3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4">
                  <a:extLst>
                    <a:ext uri="{FF2B5EF4-FFF2-40B4-BE49-F238E27FC236}">
                      <a16:creationId xmlns:a16="http://schemas.microsoft.com/office/drawing/2014/main" id="{917A9AFB-C3AF-BCE9-3E8A-EE45578AFE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5">
                  <a:extLst>
                    <a:ext uri="{FF2B5EF4-FFF2-40B4-BE49-F238E27FC236}">
                      <a16:creationId xmlns:a16="http://schemas.microsoft.com/office/drawing/2014/main" id="{FCD37EE5-14DF-4C9C-0E92-7744CBAF59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6">
                  <a:extLst>
                    <a:ext uri="{FF2B5EF4-FFF2-40B4-BE49-F238E27FC236}">
                      <a16:creationId xmlns:a16="http://schemas.microsoft.com/office/drawing/2014/main" id="{185EB9C9-B0EC-6D8F-504D-14E1BC59DD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7">
                  <a:extLst>
                    <a:ext uri="{FF2B5EF4-FFF2-40B4-BE49-F238E27FC236}">
                      <a16:creationId xmlns:a16="http://schemas.microsoft.com/office/drawing/2014/main" id="{20BA0776-71FA-8F75-114F-60892C5573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8">
                  <a:extLst>
                    <a:ext uri="{FF2B5EF4-FFF2-40B4-BE49-F238E27FC236}">
                      <a16:creationId xmlns:a16="http://schemas.microsoft.com/office/drawing/2014/main" id="{E7EC8B2F-1E55-A5E5-A8BE-D1916AB16E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4" name="Line 19">
                  <a:extLst>
                    <a:ext uri="{FF2B5EF4-FFF2-40B4-BE49-F238E27FC236}">
                      <a16:creationId xmlns:a16="http://schemas.microsoft.com/office/drawing/2014/main" id="{8B45F6C2-9B44-8EC1-076D-C5078E7E26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5" name="Line 20">
                  <a:extLst>
                    <a:ext uri="{FF2B5EF4-FFF2-40B4-BE49-F238E27FC236}">
                      <a16:creationId xmlns:a16="http://schemas.microsoft.com/office/drawing/2014/main" id="{015A45AB-F4A6-3077-6311-6F3EC5EA7E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6" name="Line 21">
                  <a:extLst>
                    <a:ext uri="{FF2B5EF4-FFF2-40B4-BE49-F238E27FC236}">
                      <a16:creationId xmlns:a16="http://schemas.microsoft.com/office/drawing/2014/main" id="{0E976C64-2463-1A00-874F-FF9B129B31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7" name="Line 22">
                  <a:extLst>
                    <a:ext uri="{FF2B5EF4-FFF2-40B4-BE49-F238E27FC236}">
                      <a16:creationId xmlns:a16="http://schemas.microsoft.com/office/drawing/2014/main" id="{02380B28-DAB3-C87C-26B3-7E74A3AF2C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8" name="Line 23">
                  <a:extLst>
                    <a:ext uri="{FF2B5EF4-FFF2-40B4-BE49-F238E27FC236}">
                      <a16:creationId xmlns:a16="http://schemas.microsoft.com/office/drawing/2014/main" id="{024D99AC-6056-074B-2459-D869B55B51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9" name="Line 24">
                  <a:extLst>
                    <a:ext uri="{FF2B5EF4-FFF2-40B4-BE49-F238E27FC236}">
                      <a16:creationId xmlns:a16="http://schemas.microsoft.com/office/drawing/2014/main" id="{23C02827-8F9F-8B82-3B1A-EC3EFA7D76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0" name="Line 25">
                  <a:extLst>
                    <a:ext uri="{FF2B5EF4-FFF2-40B4-BE49-F238E27FC236}">
                      <a16:creationId xmlns:a16="http://schemas.microsoft.com/office/drawing/2014/main" id="{071BE3BE-9B15-A252-A022-4F731630F5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1" name="Line 26">
                  <a:extLst>
                    <a:ext uri="{FF2B5EF4-FFF2-40B4-BE49-F238E27FC236}">
                      <a16:creationId xmlns:a16="http://schemas.microsoft.com/office/drawing/2014/main" id="{1ADEB2AD-C646-4FBB-D3E4-8644CD3209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40" name="Group 27">
                <a:extLst>
                  <a:ext uri="{FF2B5EF4-FFF2-40B4-BE49-F238E27FC236}">
                    <a16:creationId xmlns:a16="http://schemas.microsoft.com/office/drawing/2014/main" id="{0C304B4E-0ECF-71C9-FBD4-248728FF11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>
                  <a:extLst>
                    <a:ext uri="{FF2B5EF4-FFF2-40B4-BE49-F238E27FC236}">
                      <a16:creationId xmlns:a16="http://schemas.microsoft.com/office/drawing/2014/main" id="{224E6F50-A584-99A9-7575-8996F83962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29">
                  <a:extLst>
                    <a:ext uri="{FF2B5EF4-FFF2-40B4-BE49-F238E27FC236}">
                      <a16:creationId xmlns:a16="http://schemas.microsoft.com/office/drawing/2014/main" id="{3B021655-965F-7834-946F-BF17305D74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30">
                  <a:extLst>
                    <a:ext uri="{FF2B5EF4-FFF2-40B4-BE49-F238E27FC236}">
                      <a16:creationId xmlns:a16="http://schemas.microsoft.com/office/drawing/2014/main" id="{A75137A7-EFBC-E262-262D-ECDD4BA7B1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31">
                  <a:extLst>
                    <a:ext uri="{FF2B5EF4-FFF2-40B4-BE49-F238E27FC236}">
                      <a16:creationId xmlns:a16="http://schemas.microsoft.com/office/drawing/2014/main" id="{CC5FBEAE-E916-F01C-661C-A3920ADC9F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32">
                  <a:extLst>
                    <a:ext uri="{FF2B5EF4-FFF2-40B4-BE49-F238E27FC236}">
                      <a16:creationId xmlns:a16="http://schemas.microsoft.com/office/drawing/2014/main" id="{3A09F0E7-2B38-3FC9-0838-A0D66FD9D3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33">
                  <a:extLst>
                    <a:ext uri="{FF2B5EF4-FFF2-40B4-BE49-F238E27FC236}">
                      <a16:creationId xmlns:a16="http://schemas.microsoft.com/office/drawing/2014/main" id="{5828D131-DF33-918E-7687-0D38216061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34">
                  <a:extLst>
                    <a:ext uri="{FF2B5EF4-FFF2-40B4-BE49-F238E27FC236}">
                      <a16:creationId xmlns:a16="http://schemas.microsoft.com/office/drawing/2014/main" id="{934EA5A6-2659-98A4-66A7-67298FF6EC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35">
                  <a:extLst>
                    <a:ext uri="{FF2B5EF4-FFF2-40B4-BE49-F238E27FC236}">
                      <a16:creationId xmlns:a16="http://schemas.microsoft.com/office/drawing/2014/main" id="{08A6CFCF-A471-C32E-ECE7-4F60A565A1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36">
                  <a:extLst>
                    <a:ext uri="{FF2B5EF4-FFF2-40B4-BE49-F238E27FC236}">
                      <a16:creationId xmlns:a16="http://schemas.microsoft.com/office/drawing/2014/main" id="{89E24D60-5C00-D4DF-7B0C-1907A9B75E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37">
                  <a:extLst>
                    <a:ext uri="{FF2B5EF4-FFF2-40B4-BE49-F238E27FC236}">
                      <a16:creationId xmlns:a16="http://schemas.microsoft.com/office/drawing/2014/main" id="{950520D2-8632-0F9F-1560-A6200FEC34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38">
                  <a:extLst>
                    <a:ext uri="{FF2B5EF4-FFF2-40B4-BE49-F238E27FC236}">
                      <a16:creationId xmlns:a16="http://schemas.microsoft.com/office/drawing/2014/main" id="{356C7CEA-551B-BE8B-D315-938F1F2516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39">
                  <a:extLst>
                    <a:ext uri="{FF2B5EF4-FFF2-40B4-BE49-F238E27FC236}">
                      <a16:creationId xmlns:a16="http://schemas.microsoft.com/office/drawing/2014/main" id="{400654BE-B422-5C07-8F58-67D804C3AF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40">
                  <a:extLst>
                    <a:ext uri="{FF2B5EF4-FFF2-40B4-BE49-F238E27FC236}">
                      <a16:creationId xmlns:a16="http://schemas.microsoft.com/office/drawing/2014/main" id="{BD478EEE-71C1-6275-0DE5-686061C9DE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41">
                  <a:extLst>
                    <a:ext uri="{FF2B5EF4-FFF2-40B4-BE49-F238E27FC236}">
                      <a16:creationId xmlns:a16="http://schemas.microsoft.com/office/drawing/2014/main" id="{FF5C9E54-C240-053F-C73E-4C8A3A3F85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42">
                  <a:extLst>
                    <a:ext uri="{FF2B5EF4-FFF2-40B4-BE49-F238E27FC236}">
                      <a16:creationId xmlns:a16="http://schemas.microsoft.com/office/drawing/2014/main" id="{1C445ADE-C6B5-BA54-ADF1-B4BE07E47B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43">
                  <a:extLst>
                    <a:ext uri="{FF2B5EF4-FFF2-40B4-BE49-F238E27FC236}">
                      <a16:creationId xmlns:a16="http://schemas.microsoft.com/office/drawing/2014/main" id="{4472DAE4-E86F-EEE7-9672-F351FA637D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44">
                  <a:extLst>
                    <a:ext uri="{FF2B5EF4-FFF2-40B4-BE49-F238E27FC236}">
                      <a16:creationId xmlns:a16="http://schemas.microsoft.com/office/drawing/2014/main" id="{299A8844-B72C-C5C2-1D9C-222C7C9A2E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45">
                  <a:extLst>
                    <a:ext uri="{FF2B5EF4-FFF2-40B4-BE49-F238E27FC236}">
                      <a16:creationId xmlns:a16="http://schemas.microsoft.com/office/drawing/2014/main" id="{790DD25B-9028-7A5B-BF98-31377A8ED3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46">
                  <a:extLst>
                    <a:ext uri="{FF2B5EF4-FFF2-40B4-BE49-F238E27FC236}">
                      <a16:creationId xmlns:a16="http://schemas.microsoft.com/office/drawing/2014/main" id="{8DD985B4-1F40-BD7E-63FF-B438CF5793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47">
                  <a:extLst>
                    <a:ext uri="{FF2B5EF4-FFF2-40B4-BE49-F238E27FC236}">
                      <a16:creationId xmlns:a16="http://schemas.microsoft.com/office/drawing/2014/main" id="{DD248198-6F0F-AE02-457D-B9A39698B6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48">
                  <a:extLst>
                    <a:ext uri="{FF2B5EF4-FFF2-40B4-BE49-F238E27FC236}">
                      <a16:creationId xmlns:a16="http://schemas.microsoft.com/office/drawing/2014/main" id="{D511DF9E-21FE-1C12-5822-026AA587E2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49">
                  <a:extLst>
                    <a:ext uri="{FF2B5EF4-FFF2-40B4-BE49-F238E27FC236}">
                      <a16:creationId xmlns:a16="http://schemas.microsoft.com/office/drawing/2014/main" id="{72BB8A8F-55F0-2A90-0258-0CF5286046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3" name="Line 50">
                  <a:extLst>
                    <a:ext uri="{FF2B5EF4-FFF2-40B4-BE49-F238E27FC236}">
                      <a16:creationId xmlns:a16="http://schemas.microsoft.com/office/drawing/2014/main" id="{86023951-E5EF-25A3-4DDA-F5C0581249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51">
                  <a:extLst>
                    <a:ext uri="{FF2B5EF4-FFF2-40B4-BE49-F238E27FC236}">
                      <a16:creationId xmlns:a16="http://schemas.microsoft.com/office/drawing/2014/main" id="{9D45C009-9CCF-BABE-EE52-B6D1079124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52">
                  <a:extLst>
                    <a:ext uri="{FF2B5EF4-FFF2-40B4-BE49-F238E27FC236}">
                      <a16:creationId xmlns:a16="http://schemas.microsoft.com/office/drawing/2014/main" id="{AB79D75B-DC5C-9FB5-B149-9F0E80F63C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53">
                  <a:extLst>
                    <a:ext uri="{FF2B5EF4-FFF2-40B4-BE49-F238E27FC236}">
                      <a16:creationId xmlns:a16="http://schemas.microsoft.com/office/drawing/2014/main" id="{5F6B997A-049A-8071-DAC3-B1DD6AA569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54">
                  <a:extLst>
                    <a:ext uri="{FF2B5EF4-FFF2-40B4-BE49-F238E27FC236}">
                      <a16:creationId xmlns:a16="http://schemas.microsoft.com/office/drawing/2014/main" id="{7535E12D-4881-CBA8-7AAE-B881C586E2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55">
                  <a:extLst>
                    <a:ext uri="{FF2B5EF4-FFF2-40B4-BE49-F238E27FC236}">
                      <a16:creationId xmlns:a16="http://schemas.microsoft.com/office/drawing/2014/main" id="{4622E829-896E-1F43-9A7D-AF6D78220C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56">
                  <a:extLst>
                    <a:ext uri="{FF2B5EF4-FFF2-40B4-BE49-F238E27FC236}">
                      <a16:creationId xmlns:a16="http://schemas.microsoft.com/office/drawing/2014/main" id="{B7B41A9D-6D63-CC55-3757-EC9795D090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033" name="Rectangle 57" descr="60%">
              <a:extLst>
                <a:ext uri="{FF2B5EF4-FFF2-40B4-BE49-F238E27FC236}">
                  <a16:creationId xmlns:a16="http://schemas.microsoft.com/office/drawing/2014/main" id="{A8D41896-970D-3ADC-BDDC-6C22FBB2C0DF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Line 58">
              <a:extLst>
                <a:ext uri="{FF2B5EF4-FFF2-40B4-BE49-F238E27FC236}">
                  <a16:creationId xmlns:a16="http://schemas.microsoft.com/office/drawing/2014/main" id="{6FB4A5C8-543B-2E53-0E0F-683990AC04C5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35" name="Group 59">
              <a:extLst>
                <a:ext uri="{FF2B5EF4-FFF2-40B4-BE49-F238E27FC236}">
                  <a16:creationId xmlns:a16="http://schemas.microsoft.com/office/drawing/2014/main" id="{0AE3F6A8-99F3-7648-6A1E-9ECC99843A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>
                <a:extLst>
                  <a:ext uri="{FF2B5EF4-FFF2-40B4-BE49-F238E27FC236}">
                    <a16:creationId xmlns:a16="http://schemas.microsoft.com/office/drawing/2014/main" id="{C9635BCA-58DD-79E3-A148-433301A05B7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7" name="Line 61">
                <a:extLst>
                  <a:ext uri="{FF2B5EF4-FFF2-40B4-BE49-F238E27FC236}">
                    <a16:creationId xmlns:a16="http://schemas.microsoft.com/office/drawing/2014/main" id="{8878C500-21D7-9847-DD3A-AE315E5FE3EB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8" name="Arc 62">
                <a:extLst>
                  <a:ext uri="{FF2B5EF4-FFF2-40B4-BE49-F238E27FC236}">
                    <a16:creationId xmlns:a16="http://schemas.microsoft.com/office/drawing/2014/main" id="{239D3C34-430A-FF55-4521-257D4C89AC2A}"/>
                  </a:ext>
                </a:extLst>
              </p:cNvPr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27" name="Rectangle 63">
            <a:extLst>
              <a:ext uri="{FF2B5EF4-FFF2-40B4-BE49-F238E27FC236}">
                <a16:creationId xmlns:a16="http://schemas.microsoft.com/office/drawing/2014/main" id="{48B033D0-6B95-C156-10E4-B7E3D8EE80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CFBA7DF-E70B-620A-7A70-E94B82B6C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61" name="Rectangle 65">
            <a:extLst>
              <a:ext uri="{FF2B5EF4-FFF2-40B4-BE49-F238E27FC236}">
                <a16:creationId xmlns:a16="http://schemas.microsoft.com/office/drawing/2014/main" id="{F58F68BE-E7F2-5101-B957-4AE2560600E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248400"/>
            <a:ext cx="350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4162" name="Rectangle 66">
            <a:extLst>
              <a:ext uri="{FF2B5EF4-FFF2-40B4-BE49-F238E27FC236}">
                <a16:creationId xmlns:a16="http://schemas.microsoft.com/office/drawing/2014/main" id="{04A2A8A7-AC18-9148-04AD-6FE3C24CFFA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163" name="Rectangle 67">
            <a:extLst>
              <a:ext uri="{FF2B5EF4-FFF2-40B4-BE49-F238E27FC236}">
                <a16:creationId xmlns:a16="http://schemas.microsoft.com/office/drawing/2014/main" id="{0441F0AD-35C2-478C-2552-2160848995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7B4EDF35-4156-4157-8F78-173A9E0C32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21" r:id="rId2"/>
    <p:sldLayoutId id="2147483922" r:id="rId3"/>
    <p:sldLayoutId id="2147483923" r:id="rId4"/>
    <p:sldLayoutId id="2147483924" r:id="rId5"/>
    <p:sldLayoutId id="2147483925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q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198E221-F1E6-A956-CA06-74077F6C681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8580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Text-to-Speech Synthesis Methods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B18B84D7-9F93-BAAC-0C55-21D8D9A7D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D1AA2BCF-2B9E-5BFB-EA48-573837CF9F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Contents</a:t>
            </a:r>
          </a:p>
        </p:txBody>
      </p:sp>
      <p:sp>
        <p:nvSpPr>
          <p:cNvPr id="7171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65030FB-F616-6617-DF9A-CFAF33681CF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772400" cy="4114800"/>
          </a:xfrm>
        </p:spPr>
        <p:txBody>
          <a:bodyPr/>
          <a:lstStyle/>
          <a:p>
            <a:r>
              <a:rPr lang="en-US" altLang="en-US" sz="2000" dirty="0"/>
              <a:t>Text Analysis</a:t>
            </a:r>
          </a:p>
          <a:p>
            <a:r>
              <a:rPr lang="en-US" altLang="en-US" sz="2000" dirty="0"/>
              <a:t>Evolution of Speech Synthesis Methods</a:t>
            </a:r>
          </a:p>
          <a:p>
            <a:r>
              <a:rPr lang="en-US" altLang="en-US" sz="2000" dirty="0"/>
              <a:t>Early Speech Synthesis Approaches</a:t>
            </a:r>
          </a:p>
          <a:p>
            <a:r>
              <a:rPr lang="en-US" altLang="en-US" sz="2000" dirty="0"/>
              <a:t>Unit Selection Methods</a:t>
            </a:r>
          </a:p>
          <a:p>
            <a:r>
              <a:rPr lang="en-US" altLang="en-US" sz="2000" dirty="0"/>
              <a:t>TTS Future Needs</a:t>
            </a:r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F295A456-3B49-F086-5085-0BDBE5ECC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BCDAE40-05BD-4BA0-B8F7-A5411AD3F41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pic>
        <p:nvPicPr>
          <p:cNvPr id="7173" name="Picture 4">
            <a:extLst>
              <a:ext uri="{FF2B5EF4-FFF2-40B4-BE49-F238E27FC236}">
                <a16:creationId xmlns:a16="http://schemas.microsoft.com/office/drawing/2014/main" id="{63BB578E-D9D5-64B8-929E-B805FCF5C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9483C7D1-FA87-7304-703E-CE70E8D618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/>
              <a:t>Text Analysis</a:t>
            </a:r>
          </a:p>
        </p:txBody>
      </p:sp>
      <p:pic>
        <p:nvPicPr>
          <p:cNvPr id="75779" name="Picture 3">
            <a:extLst>
              <a:ext uri="{FF2B5EF4-FFF2-40B4-BE49-F238E27FC236}">
                <a16:creationId xmlns:a16="http://schemas.microsoft.com/office/drawing/2014/main" id="{ED33C091-CF8A-5E14-B91C-FA4E61DE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0306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Text Analysis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Objective: </a:t>
            </a:r>
            <a:r>
              <a:rPr lang="en-US" altLang="en-US" sz="1800" dirty="0"/>
              <a:t>Text analysis is a crucial preprocessing step in Text-to-Speech (TTS) synthesis, where the input text is analyzed and processed to extract linguistic information necessary for generating speech.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Role of Text Analysis: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Breaks the input text into manageable linguistic units (e.g., words, phonemes).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 dirty="0"/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Provides information about word pronunciation, syntactic structure, and prosodic features required for speech synthesis.</a:t>
            </a:r>
          </a:p>
        </p:txBody>
      </p:sp>
    </p:spTree>
    <p:extLst>
      <p:ext uri="{BB962C8B-B14F-4D97-AF65-F5344CB8AC3E}">
        <p14:creationId xmlns:p14="http://schemas.microsoft.com/office/powerpoint/2010/main" val="1813952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Text Analysis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Why Perform Text Analysis?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Input Processing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Text analysis helps in segmenting and processing the input text into meaningful units, such as words or phonemes, for subsequent synthesis stages.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Linguistic Processing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Enables linguistic analysis to determine word pronunciation, stress patterns, and intonation contours based on syntactic and semantic context.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Speech Synthesis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Serves as the foundation for subsequent stages of TTS synthesis, including prosody generation, phoneme synthesis, and waveform generation.</a:t>
            </a:r>
          </a:p>
        </p:txBody>
      </p:sp>
    </p:spTree>
    <p:extLst>
      <p:ext uri="{BB962C8B-B14F-4D97-AF65-F5344CB8AC3E}">
        <p14:creationId xmlns:p14="http://schemas.microsoft.com/office/powerpoint/2010/main" val="3584009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Text Analysis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Algorithm Formulation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Tokenization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The input text is tokenized to split it into individual words, punctuation marks, and other linguistic units.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Lexical Analysis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Words are looked up in a lexicon (dictionary) to retrieve their corresponding phonetic transcriptions and linguistic properties (e.g., part-of-speech tags).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Syntactic Parsing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The grammatical structure of sentences is analyzed to identify syntactic categories (e.g., noun phrases, verb phrases) and dependencies.</a:t>
            </a:r>
          </a:p>
        </p:txBody>
      </p:sp>
    </p:spTree>
    <p:extLst>
      <p:ext uri="{BB962C8B-B14F-4D97-AF65-F5344CB8AC3E}">
        <p14:creationId xmlns:p14="http://schemas.microsoft.com/office/powerpoint/2010/main" val="2708680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Text Analysis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Algorithm Formulation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Tokenization - Examples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Use whitespace and punctuation as delimiters to split the text.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Handle special cases such as contractions (e.g., "can't" → ["can", "'t"]).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4B9E79-344B-4C39-A234-6FC717774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309761"/>
            <a:ext cx="5433531" cy="2324301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DA553C05-6B12-76D0-3DA8-3BEE2E4A8E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634062"/>
            <a:ext cx="54335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Input: </a:t>
            </a:r>
            <a:r>
              <a:rPr lang="en-US" altLang="en-US" sz="1800" dirty="0"/>
              <a:t>"Hello, how are you?"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Output: </a:t>
            </a:r>
            <a:r>
              <a:rPr lang="en-US" altLang="en-US" sz="1800" dirty="0"/>
              <a:t>["Hello", ",", "how", "are", "you", "?"]</a:t>
            </a:r>
          </a:p>
        </p:txBody>
      </p:sp>
    </p:spTree>
    <p:extLst>
      <p:ext uri="{BB962C8B-B14F-4D97-AF65-F5344CB8AC3E}">
        <p14:creationId xmlns:p14="http://schemas.microsoft.com/office/powerpoint/2010/main" val="990420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Text Analysis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Algorithm Formulation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077" y="2286000"/>
            <a:ext cx="335280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Lexical Analysis - Examples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Use a pre-built lexicon that contains mappings of words to their phonetic transcriptions and part-of-speech (POS) tags.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 dirty="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Handle out-of-vocabulary (OOV) words by using grapheme-to-phoneme (G2P) conversion or fallback mechanisms.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296F81-1794-AADA-B19F-329D764B75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8877" y="2337403"/>
            <a:ext cx="4494808" cy="3532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007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Text Analysis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Algorithm Formulation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97E25D-D4C4-F129-0BDB-68924AEEC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373380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Syntactic Parsing - Examples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Use a syntactic parser (e.g., based on context-free grammar or dependency parsing) to generate parse trees.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Identify and label syntactic elements and their relationships within the sentence.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Input: "The cat chased the mouse."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Output: Parse Tree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 dirty="0"/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en-US" sz="1800" dirty="0">
                <a:solidFill>
                  <a:srgbClr val="FF0000"/>
                </a:solidFill>
              </a:rPr>
              <a:t>(S (NP (DT The) (NN cat)) (VP (VBD chased) (NP (DT the) (NN mouse))))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DF49C6-EF73-3DD3-54C7-FA528539B1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6094" y="2470355"/>
            <a:ext cx="4052383" cy="225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667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Text Analysis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Practical Assignment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32397809-C0AD-DF69-B394-2680C029E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Implementing Text Analysis for TTS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Task: Implement Python functions for TTS tokenization, lexical analysis, and syntactic parsing.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Steps: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800" dirty="0"/>
              <a:t>Implement a tokenizer function to split input text into tokens (words, punctuation).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800" dirty="0"/>
              <a:t>Develop a lexicon lookup function to retrieve phonetic transcriptions and linguistic properties (e.g., part-of-speech) for words.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800" dirty="0"/>
              <a:t>Create a syntactic parsing function to analyze the grammatical structure of sentences and generate parse trees.</a:t>
            </a:r>
          </a:p>
        </p:txBody>
      </p:sp>
    </p:spTree>
    <p:extLst>
      <p:ext uri="{BB962C8B-B14F-4D97-AF65-F5344CB8AC3E}">
        <p14:creationId xmlns:p14="http://schemas.microsoft.com/office/powerpoint/2010/main" val="1570855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Text Analysis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Practical Assignment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075133-817B-D7F3-FA56-5406177800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257643"/>
            <a:ext cx="3265341" cy="427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270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9483C7D1-FA87-7304-703E-CE70E8D618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Evolution of Speech Synthesis Methods</a:t>
            </a:r>
          </a:p>
        </p:txBody>
      </p:sp>
      <p:pic>
        <p:nvPicPr>
          <p:cNvPr id="75779" name="Picture 3">
            <a:extLst>
              <a:ext uri="{FF2B5EF4-FFF2-40B4-BE49-F238E27FC236}">
                <a16:creationId xmlns:a16="http://schemas.microsoft.com/office/drawing/2014/main" id="{ED33C091-CF8A-5E14-B91C-FA4E61DE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4528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Evolution of Speech Synthesis Methods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Early Methods - Formant Synthesis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Formulation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Formant synthesis models the human vocal tract.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It generates speech by creating waveforms based on the formant frequencies (resonant frequencies of the vocal tract).</a:t>
            </a: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Explanation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Utilizes control parameters such as pitch, volume, and formant frequencies.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Pros: High control over speech parameters.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Cons: Often produces robotic and unnatural-sounding speech.</a:t>
            </a: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Example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Linear Predictive Coding (LPC) is a common formant synthesis technique.</a:t>
            </a:r>
          </a:p>
        </p:txBody>
      </p:sp>
    </p:spTree>
    <p:extLst>
      <p:ext uri="{BB962C8B-B14F-4D97-AF65-F5344CB8AC3E}">
        <p14:creationId xmlns:p14="http://schemas.microsoft.com/office/powerpoint/2010/main" val="4038808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Evolution of Speech Synthesis Methods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Concatenative Synthesis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Formulation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Uses prerecorded speech units (e.g., phonemes, syllables) and concatenates them to form complete utterances.</a:t>
            </a: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Explanation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Units are stored in a database and selected based on linguistic context.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Pros: Can produce high-quality, natural-sounding speech.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Cons: It requires a large database and can cause issues with smooth transitions between units.</a:t>
            </a: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Example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Unit selection synthesis, where the best matching units are selected based on context.</a:t>
            </a:r>
          </a:p>
        </p:txBody>
      </p:sp>
    </p:spTree>
    <p:extLst>
      <p:ext uri="{BB962C8B-B14F-4D97-AF65-F5344CB8AC3E}">
        <p14:creationId xmlns:p14="http://schemas.microsoft.com/office/powerpoint/2010/main" val="3365665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Evolution of Speech Synthesis Methods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Statistical Parametric Synthesis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Formulation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Models the speech signal using statistical methods, typically Gaussian Mixture Models (GMMs) or Hidden Markov Models (HMMs).</a:t>
            </a: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Explanation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Parameters such as spectral envelope, pitch, and duration are generated statistically.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Pros: Smaller footprint compared to concatenative synthesis and offers flexibility.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Cons: May produce less natural-sounding speech compared to unit selection methods.</a:t>
            </a: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Example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HTS (HMM-based Speech Synthesis System).</a:t>
            </a:r>
          </a:p>
        </p:txBody>
      </p:sp>
    </p:spTree>
    <p:extLst>
      <p:ext uri="{BB962C8B-B14F-4D97-AF65-F5344CB8AC3E}">
        <p14:creationId xmlns:p14="http://schemas.microsoft.com/office/powerpoint/2010/main" val="3157980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Evolution of Speech Synthesis Methods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Neural Network-Based Synthesis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Formulation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Uses deep learning models to generate speech from text, often employing neural networks like Recurrent Neural Networks (RNNs) or Convolutional Neural Networks (CNNs).</a:t>
            </a: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Explanation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Pros: High-quality, natural-sounding speech with the ability to learn from data directly.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Cons: Requires large amounts of data and computational resources.</a:t>
            </a: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Example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WaveNet, a deep generative model developed by DeepMind.</a:t>
            </a:r>
          </a:p>
        </p:txBody>
      </p:sp>
    </p:spTree>
    <p:extLst>
      <p:ext uri="{BB962C8B-B14F-4D97-AF65-F5344CB8AC3E}">
        <p14:creationId xmlns:p14="http://schemas.microsoft.com/office/powerpoint/2010/main" val="3963822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Evolution of Speech Synthesis Methods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End-to-End Synthesis Models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Formulation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Integrates all components of the TTS pipeline into a single neural network model, typically using architectures like </a:t>
            </a:r>
            <a:r>
              <a:rPr lang="en-US" altLang="en-US" sz="1800" dirty="0" err="1"/>
              <a:t>Tacotron</a:t>
            </a:r>
            <a:r>
              <a:rPr lang="en-US" altLang="en-US" sz="1800" dirty="0"/>
              <a:t> and </a:t>
            </a:r>
            <a:r>
              <a:rPr lang="en-US" altLang="en-US" sz="1800" dirty="0" err="1"/>
              <a:t>FastSpeech</a:t>
            </a:r>
            <a:r>
              <a:rPr lang="en-US" altLang="en-US" sz="1800" dirty="0"/>
              <a:t>.</a:t>
            </a: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Explanation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Simplifies the TTS pipeline and reduces the need for extensive feature engineering.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Pros: Produces highly natural and expressive speech.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Cons: Still computationally intensive and data-hungry.</a:t>
            </a: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Example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 err="1"/>
              <a:t>Tacotron</a:t>
            </a:r>
            <a:r>
              <a:rPr lang="en-US" altLang="en-US" sz="1800" dirty="0"/>
              <a:t> 2, which uses a sequence-to-sequence model with attention mechanisms.</a:t>
            </a:r>
          </a:p>
        </p:txBody>
      </p:sp>
    </p:spTree>
    <p:extLst>
      <p:ext uri="{BB962C8B-B14F-4D97-AF65-F5344CB8AC3E}">
        <p14:creationId xmlns:p14="http://schemas.microsoft.com/office/powerpoint/2010/main" val="3246636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Evolution of Speech Synthesis Methods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Implementing a Basic TTS System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Objective: </a:t>
            </a:r>
            <a:r>
              <a:rPr lang="en-US" altLang="en-US" sz="1800" dirty="0"/>
              <a:t>Develop a simple TTS system using a neural network-based approach.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Steps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800" dirty="0"/>
              <a:t>Data Preparation: Load and preprocess text and audio data.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800" dirty="0"/>
              <a:t>Model Training: Train a neural network model on the prepared data.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800" dirty="0"/>
              <a:t>Text-to-Speech Conversion: Use the trained model to convert text input to speech output.</a:t>
            </a:r>
          </a:p>
        </p:txBody>
      </p:sp>
    </p:spTree>
    <p:extLst>
      <p:ext uri="{BB962C8B-B14F-4D97-AF65-F5344CB8AC3E}">
        <p14:creationId xmlns:p14="http://schemas.microsoft.com/office/powerpoint/2010/main" val="3519002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Evolution of Speech Synthesis Methods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Implementing a Basic TTS System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F50060-C8F3-D7FE-3CED-E2DD2BD95F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2330940"/>
            <a:ext cx="3775925" cy="412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436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Evolution of Speech Synthesis Methods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Summary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89B46D-9E13-BEFE-4D43-0C6C743B9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The evolution of speech synthesis methods has progressed from formant synthesis to advanced neural network-based models.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Each method has its strengths and limitations, influencing the choice of technology based on application requirements.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Future Trends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800" dirty="0"/>
              <a:t>Continued improvements in neural network architectures and training techniques.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800" dirty="0"/>
              <a:t>Increased focus on making TTS systems more data-efficient and computationally feasible.</a:t>
            </a:r>
          </a:p>
        </p:txBody>
      </p:sp>
    </p:spTree>
    <p:extLst>
      <p:ext uri="{BB962C8B-B14F-4D97-AF65-F5344CB8AC3E}">
        <p14:creationId xmlns:p14="http://schemas.microsoft.com/office/powerpoint/2010/main" val="38110610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9483C7D1-FA87-7304-703E-CE70E8D618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Early Speech Synthesis Approaches</a:t>
            </a:r>
          </a:p>
        </p:txBody>
      </p:sp>
      <p:pic>
        <p:nvPicPr>
          <p:cNvPr id="75779" name="Picture 3">
            <a:extLst>
              <a:ext uri="{FF2B5EF4-FFF2-40B4-BE49-F238E27FC236}">
                <a16:creationId xmlns:a16="http://schemas.microsoft.com/office/drawing/2014/main" id="{ED33C091-CF8A-5E14-B91C-FA4E61DE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95826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Early Speech Synthesis Approaches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Overview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Early speech synthesis methods aimed to replicate human speech using various techniques.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 dirty="0"/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These methods laid the foundation for modern Text-to-Speech (TTS) systems.</a:t>
            </a:r>
          </a:p>
        </p:txBody>
      </p:sp>
    </p:spTree>
    <p:extLst>
      <p:ext uri="{BB962C8B-B14F-4D97-AF65-F5344CB8AC3E}">
        <p14:creationId xmlns:p14="http://schemas.microsoft.com/office/powerpoint/2010/main" val="2827259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Early Speech Synthesis Approaches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Formant Synthesis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Formulation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Models the human vocal tract by simulating formants, the resonant frequencies of the vocal tract.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Formulation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Speech is generated by creating waveforms based on the positions and amplitudes of formants.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Control parameters include pitch, volume, and formant frequencies.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Often uses Linear Predictive Coding (LPC) for analysis and synthesis.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Pros/</a:t>
            </a:r>
            <a:r>
              <a:rPr lang="en-US" altLang="en-US" sz="1800" b="1" dirty="0">
                <a:solidFill>
                  <a:srgbClr val="FF0000"/>
                </a:solidFill>
              </a:rPr>
              <a:t>Cons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High control over speech parameters.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Can generate speech from text with a relatively small dataset.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rgbClr val="FF0000"/>
                </a:solidFill>
              </a:rPr>
              <a:t>Often produces robotic and unnatural-sounding speech.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1422485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Early Speech Synthesis Approaches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Articulatory Synthesis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Formulation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Simulates the physical processes of the human vocal tract, including the movements of the tongue, lips, and other articulators.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Formulation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Uses detailed models of the vocal tract anatomy and physiology.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Generates speech by modeling the airflow and pressure through the vocal tract.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Pros/</a:t>
            </a:r>
            <a:r>
              <a:rPr lang="en-US" altLang="en-US" sz="1800" b="1" dirty="0">
                <a:solidFill>
                  <a:srgbClr val="FF0000"/>
                </a:solidFill>
              </a:rPr>
              <a:t>Cons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Produces more natural-sounding speech by accurately simulating human speech production mechanisms.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rgbClr val="FF0000"/>
                </a:solidFill>
              </a:rPr>
              <a:t>Computationally complex and requires detailed anatomical data.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en-US" sz="1800" b="1" dirty="0"/>
              <a:t>Example</a:t>
            </a:r>
            <a:endParaRPr lang="en-US" altLang="en-US" sz="1800" b="1" dirty="0">
              <a:solidFill>
                <a:srgbClr val="FF0000"/>
              </a:solidFill>
            </a:endParaRP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Models developed by researchers like Gunnar </a:t>
            </a:r>
            <a:r>
              <a:rPr lang="en-US" altLang="en-US" sz="1800" dirty="0" err="1"/>
              <a:t>Fant</a:t>
            </a:r>
            <a:r>
              <a:rPr lang="en-US" altLang="en-US" sz="1800" dirty="0"/>
              <a:t>.</a:t>
            </a:r>
            <a:endParaRPr lang="en-US" altLang="en-US" sz="1800" dirty="0">
              <a:solidFill>
                <a:srgbClr val="FF0000"/>
              </a:solidFill>
            </a:endParaRP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6044603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Early Speech Synthesis Approaches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Articulatory Synthesis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Formulation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Simulates the physical processes of the human vocal tract, including the movements of the tongue, lips, and other articulators.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Formulation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Uses detailed models of the vocal tract anatomy and physiology.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Generates speech by modeling the airflow and pressure through the vocal tract.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Pros/</a:t>
            </a:r>
            <a:r>
              <a:rPr lang="en-US" altLang="en-US" sz="1800" b="1" dirty="0">
                <a:solidFill>
                  <a:srgbClr val="FF0000"/>
                </a:solidFill>
              </a:rPr>
              <a:t>Cons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Produces more natural-sounding speech by accurately simulating human speech production mechanisms.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rgbClr val="FF0000"/>
                </a:solidFill>
              </a:rPr>
              <a:t>Computationally complex and requires detailed anatomical data.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en-US" sz="1800" b="1" dirty="0"/>
              <a:t>Example</a:t>
            </a:r>
            <a:endParaRPr lang="en-US" altLang="en-US" sz="1800" b="1" dirty="0">
              <a:solidFill>
                <a:srgbClr val="FF0000"/>
              </a:solidFill>
            </a:endParaRP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Models developed by researchers like Gunnar </a:t>
            </a:r>
            <a:r>
              <a:rPr lang="en-US" altLang="en-US" sz="1800" dirty="0" err="1"/>
              <a:t>Fant</a:t>
            </a:r>
            <a:r>
              <a:rPr lang="en-US" altLang="en-US" sz="1800" dirty="0"/>
              <a:t>.</a:t>
            </a:r>
            <a:endParaRPr lang="en-US" altLang="en-US" sz="1800" dirty="0">
              <a:solidFill>
                <a:srgbClr val="FF0000"/>
              </a:solidFill>
            </a:endParaRP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051020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Early Speech Synthesis Approaches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Implementing a Basic Formant Synthesis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016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Objective: Develop a simple formant synthesis system to generate vowel sounds.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Steps:</a:t>
            </a:r>
          </a:p>
          <a:p>
            <a:pPr marL="1085850" lvl="1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600" dirty="0"/>
              <a:t>Define the formant frequencies for different vowels.</a:t>
            </a:r>
          </a:p>
          <a:p>
            <a:pPr marL="1085850" lvl="1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600" dirty="0"/>
              <a:t>Generate the waveform for each vowel using sine waves at the formant frequencies.</a:t>
            </a:r>
          </a:p>
          <a:p>
            <a:pPr marL="1085850" lvl="1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600" dirty="0"/>
              <a:t>Combine the waveforms to create a speech signal.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Input: Text specifying vowel sounds.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Output: Audio waveform representing the synthesized vowels.</a:t>
            </a:r>
          </a:p>
        </p:txBody>
      </p:sp>
    </p:spTree>
    <p:extLst>
      <p:ext uri="{BB962C8B-B14F-4D97-AF65-F5344CB8AC3E}">
        <p14:creationId xmlns:p14="http://schemas.microsoft.com/office/powerpoint/2010/main" val="17667246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Early Speech Synthesis Approaches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Implementing a Basic Formant Synthesis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2EFD6B-23FD-E6F5-049D-1EC9EE25A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13" y="2309582"/>
            <a:ext cx="5009798" cy="391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6819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Early Speech Synthesis Approaches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Summary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963F65-37ED-C6DE-0547-098B970D5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Early speech synthesis approaches include formant synthesis, articulatory synthesis, and concatenative synthesis.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 dirty="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Each method has its advantages and challenges, influencing the development of modern TTS systems.</a:t>
            </a:r>
          </a:p>
        </p:txBody>
      </p:sp>
    </p:spTree>
    <p:extLst>
      <p:ext uri="{BB962C8B-B14F-4D97-AF65-F5344CB8AC3E}">
        <p14:creationId xmlns:p14="http://schemas.microsoft.com/office/powerpoint/2010/main" val="18292219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9483C7D1-FA87-7304-703E-CE70E8D618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Unit Selection Methods</a:t>
            </a:r>
          </a:p>
        </p:txBody>
      </p:sp>
      <p:pic>
        <p:nvPicPr>
          <p:cNvPr id="75779" name="Picture 3">
            <a:extLst>
              <a:ext uri="{FF2B5EF4-FFF2-40B4-BE49-F238E27FC236}">
                <a16:creationId xmlns:a16="http://schemas.microsoft.com/office/drawing/2014/main" id="{ED33C091-CF8A-5E14-B91C-FA4E61DE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92410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Unit Selection Methods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Overview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Unit selection synthesis is a widely used method in Text-to-Speech (TTS) systems.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It involves selecting and concatenating prerecorded speech units from a large database to generate natural-sounding speech.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1C79A5-0BA5-D9BE-86E7-327494603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191000"/>
            <a:ext cx="78486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Key Points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Focuses on high-quality, natural-sounding output.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Requires a comprehensive database of speech units.</a:t>
            </a:r>
          </a:p>
        </p:txBody>
      </p:sp>
    </p:spTree>
    <p:extLst>
      <p:ext uri="{BB962C8B-B14F-4D97-AF65-F5344CB8AC3E}">
        <p14:creationId xmlns:p14="http://schemas.microsoft.com/office/powerpoint/2010/main" val="221595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Unit Selection Methods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Formulation of Unit Selection Methods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400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Database Creation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/>
              <a:t>Record a large corpus of speech.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/>
              <a:t>Segment the speech into units (e.g., phonemes, diphones, syllables).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Feature Extraction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/>
              <a:t>Extract features from each unit (e.g., pitch, duration, energy).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Unit Selection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/>
              <a:t>For a given input text, select the best-matching units based on linguistic and prosodic context.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/>
              <a:t>Use dynamic programming or other optimization techniques to find the best sequence of units.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Concatenation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/>
              <a:t>Concatenate the selected units smoothly to produce continuous speech</a:t>
            </a:r>
          </a:p>
        </p:txBody>
      </p:sp>
    </p:spTree>
    <p:extLst>
      <p:ext uri="{BB962C8B-B14F-4D97-AF65-F5344CB8AC3E}">
        <p14:creationId xmlns:p14="http://schemas.microsoft.com/office/powerpoint/2010/main" val="28225870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Unit Selection Methods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Formulation of Unit Selection Methods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2652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 dirty="0"/>
                  <a:t>Mathematical Formulation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 dirty="0"/>
                  <a:t>Objective Function: Minimize the cost function </a:t>
                </a:r>
              </a:p>
              <a:p>
                <a:pPr lvl="1" indent="0"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 i="1" dirty="0">
                  <a:latin typeface="Cambria Math" panose="02040503050406030204" pitchFamily="18" charset="0"/>
                </a:endParaRPr>
              </a:p>
              <a:p>
                <a:pPr lvl="1" indent="0">
                  <a:spcBef>
                    <a:spcPct val="0"/>
                  </a:spcBef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en-US" sz="1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1800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en-US" sz="1800" i="1" dirty="0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en-US" sz="1800" b="0" i="1" dirty="0" smtClean="0">
                              <a:latin typeface="Cambria Math" panose="02040503050406030204" pitchFamily="18" charset="0"/>
                            </a:rPr>
                            <m:t>𝑡𝑎𝑟𝑔𝑒𝑡</m:t>
                          </m:r>
                        </m:sub>
                      </m:sSub>
                      <m:r>
                        <a:rPr lang="en-US" altLang="en-US" sz="1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1800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en-US" sz="1800" i="1" dirty="0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altLang="en-US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en-US" sz="1800" b="0" i="1" dirty="0" smtClean="0">
                              <a:latin typeface="Cambria Math" panose="02040503050406030204" pitchFamily="18" charset="0"/>
                            </a:rPr>
                            <m:t>𝑗𝑜𝑖𝑛</m:t>
                          </m:r>
                        </m:sub>
                      </m:sSub>
                      <m:r>
                        <a:rPr lang="en-US" altLang="en-US" sz="1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1800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en-US" sz="18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1800" dirty="0"/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 dirty="0"/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𝑡𝑎𝑟𝑔𝑒𝑡</m:t>
                        </m:r>
                      </m:sub>
                    </m:sSub>
                    <m:r>
                      <a:rPr lang="en-US" altLang="en-US" sz="18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800" dirty="0"/>
                  <a:t>: Target cost measures how well a unit matches the desired features.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𝑗𝑜𝑖𝑛</m:t>
                        </m:r>
                      </m:sub>
                    </m:sSub>
                    <m:r>
                      <a:rPr lang="en-US" altLang="en-US" sz="18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800" dirty="0"/>
                  <a:t>: Join cost measures how well two consecutive units can be concatenated.</a:t>
                </a:r>
              </a:p>
            </p:txBody>
          </p:sp>
        </mc:Choice>
        <mc:Fallback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2652777"/>
              </a:xfrm>
              <a:prstGeom prst="rect">
                <a:avLst/>
              </a:prstGeom>
              <a:blipFill>
                <a:blip r:embed="rId4"/>
                <a:stretch>
                  <a:fillRect l="-699" t="-1379" b="-275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96739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Unit Selection Methods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Explanation of Unit Selection Methods</a:t>
            </a:r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Unit Database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/>
              <a:t>Contains various speech units to cover different phonetic and prosodic contexts.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/>
              <a:t>Units are annotated with features like pitch, duration, and energy.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Target Cost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/>
              <a:t>Evaluates the suitability of a unit for a given context.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/>
              <a:t>Based on linguistic features (e.g., phoneme identity, part-of-speech).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Join Cost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/>
              <a:t> Evaluate the smoothness of concatenation between two units.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/>
              <a:t>Based on acoustic features (e.g., pitch continuity, spectral similarity).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Selection Process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/>
              <a:t>Dynamic programming is often used to find the optimal unit sequence that minimizes the total cost.</a:t>
            </a:r>
          </a:p>
        </p:txBody>
      </p:sp>
    </p:spTree>
    <p:extLst>
      <p:ext uri="{BB962C8B-B14F-4D97-AF65-F5344CB8AC3E}">
        <p14:creationId xmlns:p14="http://schemas.microsoft.com/office/powerpoint/2010/main" val="23549927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Unit Selection Methods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Implementing a Basic Unit Selection System</a:t>
            </a:r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Objective: </a:t>
            </a:r>
            <a:r>
              <a:rPr lang="en-US" altLang="en-US" sz="1800" dirty="0"/>
              <a:t>Develop a simple unit selection TTS system.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Steps: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800" dirty="0"/>
              <a:t>Create a small unit database.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800" dirty="0"/>
              <a:t>Implement feature extraction.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800" dirty="0"/>
              <a:t>Implement unit selection and concatenation.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Input: Text string (input text).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Output: Audio file (synthesized speech).</a:t>
            </a: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3778694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Unit Selection Methods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Implementing a Basic Unit Selection System</a:t>
            </a:r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C77CAB-B904-3BED-AAF0-6653BDD97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2375414"/>
            <a:ext cx="3953172" cy="36311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B306A8-63EF-5D93-2F19-FB1055FDEA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800" y="5279193"/>
            <a:ext cx="4050282" cy="127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8617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9483C7D1-FA87-7304-703E-CE70E8D618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TTS Future Needs</a:t>
            </a:r>
          </a:p>
        </p:txBody>
      </p:sp>
      <p:pic>
        <p:nvPicPr>
          <p:cNvPr id="75779" name="Picture 3">
            <a:extLst>
              <a:ext uri="{FF2B5EF4-FFF2-40B4-BE49-F238E27FC236}">
                <a16:creationId xmlns:a16="http://schemas.microsoft.com/office/drawing/2014/main" id="{ED33C091-CF8A-5E14-B91C-FA4E61DE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64152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TTS Future Needs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Overview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Despite significant advancements, TTS technology continues to evolve.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Identifying future needs is crucial to address current limitations and enhance the naturalness and versatility of TTS systems.</a:t>
            </a:r>
          </a:p>
        </p:txBody>
      </p:sp>
    </p:spTree>
    <p:extLst>
      <p:ext uri="{BB962C8B-B14F-4D97-AF65-F5344CB8AC3E}">
        <p14:creationId xmlns:p14="http://schemas.microsoft.com/office/powerpoint/2010/main" val="29825124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TTS Future Needs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Overview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Despite significant advancements, TTS technology continues to evolve.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Identifying future needs is crucial to address current limitations and enhance the naturalness and versatility of TTS systems.</a:t>
            </a:r>
          </a:p>
        </p:txBody>
      </p:sp>
    </p:spTree>
    <p:extLst>
      <p:ext uri="{BB962C8B-B14F-4D97-AF65-F5344CB8AC3E}">
        <p14:creationId xmlns:p14="http://schemas.microsoft.com/office/powerpoint/2010/main" val="5289214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TTS Future Needs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Current Limitations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Challenges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Naturalness: TTS systems often produce robotic or unnatural-sounding speech.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Expressiveness: Limited ability to convey emotion and intonation.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Efficiency: High computational and data requirements.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Impact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Hinders user experience in applications like virtual assistants, accessibility tools, and automated customer service.</a:t>
            </a:r>
          </a:p>
        </p:txBody>
      </p:sp>
    </p:spTree>
    <p:extLst>
      <p:ext uri="{BB962C8B-B14F-4D97-AF65-F5344CB8AC3E}">
        <p14:creationId xmlns:p14="http://schemas.microsoft.com/office/powerpoint/2010/main" val="20898973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TTS Future Needs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Areas of Improvement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Challenges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Speech Quality: Enhance the naturalness and intelligibility of synthesized speech.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Expressiveness: Enable TTS systems to convey emotions and nuances in speech.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Efficiency: Reduce computational resources and data requirements for TTS.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Approaches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Integration of advanced machine learning techniques.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Research on linguistics and phonetics for better modeling.</a:t>
            </a:r>
          </a:p>
        </p:txBody>
      </p:sp>
    </p:spTree>
    <p:extLst>
      <p:ext uri="{BB962C8B-B14F-4D97-AF65-F5344CB8AC3E}">
        <p14:creationId xmlns:p14="http://schemas.microsoft.com/office/powerpoint/2010/main" val="33553652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TTS Future Needs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Implementing an Emotion-Aware TTS System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Objective: </a:t>
            </a:r>
            <a:r>
              <a:rPr lang="en-US" altLang="en-US" sz="1800" dirty="0"/>
              <a:t>Develop a basic TTS system capable of synthesizing speech with different emotional tones.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Steps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800" dirty="0"/>
              <a:t>Collect emotional speech data.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800" dirty="0"/>
              <a:t>Implement emotion-aware feature extraction.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800" dirty="0"/>
              <a:t>Train a model to generate emotional speech.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Input: </a:t>
            </a:r>
            <a:r>
              <a:rPr lang="en-US" altLang="en-US" sz="1800" dirty="0"/>
              <a:t>Text string and emotion label.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Output: </a:t>
            </a:r>
            <a:r>
              <a:rPr lang="en-US" altLang="en-US" sz="1800" dirty="0"/>
              <a:t>Audio file with synthesized speech.</a:t>
            </a:r>
          </a:p>
        </p:txBody>
      </p:sp>
    </p:spTree>
    <p:extLst>
      <p:ext uri="{BB962C8B-B14F-4D97-AF65-F5344CB8AC3E}">
        <p14:creationId xmlns:p14="http://schemas.microsoft.com/office/powerpoint/2010/main" val="20923045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TTS Future Needs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Implementing an Emotion-Aware TTS System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34791AE-B3A5-BD17-5CBD-37AB6A1E9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7090" y="2133600"/>
            <a:ext cx="5098011" cy="4396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1283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TTS Future Needs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Summary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Future needs in TTS synthesis focus on enhancing speech quality, expressiveness, and efficiency.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 dirty="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Advancements in machine learning and signal processing will drive innovation in TTS.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 dirty="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Improved TTS systems will enhance user experience in various applications and domains.</a:t>
            </a:r>
          </a:p>
        </p:txBody>
      </p:sp>
    </p:spTree>
    <p:extLst>
      <p:ext uri="{BB962C8B-B14F-4D97-AF65-F5344CB8AC3E}">
        <p14:creationId xmlns:p14="http://schemas.microsoft.com/office/powerpoint/2010/main" val="34753792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EC62E08C-C8B1-4633-D085-1F570E4C65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3124200"/>
            <a:ext cx="6705600" cy="1143000"/>
          </a:xfrm>
        </p:spPr>
        <p:txBody>
          <a:bodyPr/>
          <a:lstStyle/>
          <a:p>
            <a:pPr algn="ctr"/>
            <a:r>
              <a:rPr lang="vi-VN" altLang="en-US"/>
              <a:t>Q &amp; A</a:t>
            </a:r>
            <a:endParaRPr lang="en-US" altLang="en-US"/>
          </a:p>
        </p:txBody>
      </p:sp>
      <p:sp>
        <p:nvSpPr>
          <p:cNvPr id="79875" name="Slide Number Placeholder 6">
            <a:extLst>
              <a:ext uri="{FF2B5EF4-FFF2-40B4-BE49-F238E27FC236}">
                <a16:creationId xmlns:a16="http://schemas.microsoft.com/office/drawing/2014/main" id="{89337DEC-FDB4-3202-1B3A-95A1E6425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41EC34-4426-4967-85B1-0430E653E9B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US" altLang="en-US" sz="1400"/>
          </a:p>
        </p:txBody>
      </p:sp>
      <p:pic>
        <p:nvPicPr>
          <p:cNvPr id="79876" name="Picture 3">
            <a:extLst>
              <a:ext uri="{FF2B5EF4-FFF2-40B4-BE49-F238E27FC236}">
                <a16:creationId xmlns:a16="http://schemas.microsoft.com/office/drawing/2014/main" id="{F769647B-93E8-A6AE-7F94-FA05521B7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5123</TotalTime>
  <Words>2253</Words>
  <Application>Microsoft Office PowerPoint</Application>
  <PresentationFormat>On-screen Show (4:3)</PresentationFormat>
  <Paragraphs>404</Paragraphs>
  <Slides>44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Cambria Math</vt:lpstr>
      <vt:lpstr>Tahoma</vt:lpstr>
      <vt:lpstr>Times New Roman</vt:lpstr>
      <vt:lpstr>Wingdings</vt:lpstr>
      <vt:lpstr>Blueprint</vt:lpstr>
      <vt:lpstr>Text-to-Speech Synthesis Methods</vt:lpstr>
      <vt:lpstr>Contents</vt:lpstr>
      <vt:lpstr>Text Analysis</vt:lpstr>
      <vt:lpstr>Text Analysis</vt:lpstr>
      <vt:lpstr>Text Analysis</vt:lpstr>
      <vt:lpstr>Text Analysis</vt:lpstr>
      <vt:lpstr>Text Analysis</vt:lpstr>
      <vt:lpstr>Text Analysis</vt:lpstr>
      <vt:lpstr>Text Analysis</vt:lpstr>
      <vt:lpstr>Text Analysis</vt:lpstr>
      <vt:lpstr>Text Analysis</vt:lpstr>
      <vt:lpstr>Evolution of Speech Synthesis Methods</vt:lpstr>
      <vt:lpstr>Evolution of Speech Synthesis Methods</vt:lpstr>
      <vt:lpstr>Evolution of Speech Synthesis Methods</vt:lpstr>
      <vt:lpstr>Evolution of Speech Synthesis Methods</vt:lpstr>
      <vt:lpstr>Evolution of Speech Synthesis Methods</vt:lpstr>
      <vt:lpstr>Evolution of Speech Synthesis Methods</vt:lpstr>
      <vt:lpstr>Evolution of Speech Synthesis Methods</vt:lpstr>
      <vt:lpstr>Evolution of Speech Synthesis Methods</vt:lpstr>
      <vt:lpstr>Evolution of Speech Synthesis Methods</vt:lpstr>
      <vt:lpstr>Early Speech Synthesis Approaches</vt:lpstr>
      <vt:lpstr>Early Speech Synthesis Approaches</vt:lpstr>
      <vt:lpstr>Early Speech Synthesis Approaches</vt:lpstr>
      <vt:lpstr>Early Speech Synthesis Approaches</vt:lpstr>
      <vt:lpstr>Early Speech Synthesis Approaches</vt:lpstr>
      <vt:lpstr>Early Speech Synthesis Approaches</vt:lpstr>
      <vt:lpstr>Early Speech Synthesis Approaches</vt:lpstr>
      <vt:lpstr>Early Speech Synthesis Approaches</vt:lpstr>
      <vt:lpstr>Unit Selection Methods</vt:lpstr>
      <vt:lpstr>Unit Selection Methods</vt:lpstr>
      <vt:lpstr>Unit Selection Methods</vt:lpstr>
      <vt:lpstr>Unit Selection Methods</vt:lpstr>
      <vt:lpstr>Unit Selection Methods</vt:lpstr>
      <vt:lpstr>Unit Selection Methods</vt:lpstr>
      <vt:lpstr>Unit Selection Methods</vt:lpstr>
      <vt:lpstr>TTS Future Needs</vt:lpstr>
      <vt:lpstr>TTS Future Needs</vt:lpstr>
      <vt:lpstr>TTS Future Needs</vt:lpstr>
      <vt:lpstr>TTS Future Needs</vt:lpstr>
      <vt:lpstr>TTS Future Needs</vt:lpstr>
      <vt:lpstr>TTS Future Needs</vt:lpstr>
      <vt:lpstr>TTS Future Needs</vt:lpstr>
      <vt:lpstr>TTS Future Needs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Tittlehere</dc:title>
  <dc:subject/>
  <dc:creator>Microsoft Office User</dc:creator>
  <cp:keywords/>
  <dc:description/>
  <cp:lastModifiedBy>LUONG VUONG NGUYEN</cp:lastModifiedBy>
  <cp:revision>305</cp:revision>
  <dcterms:created xsi:type="dcterms:W3CDTF">2022-10-28T07:26:15Z</dcterms:created>
  <dcterms:modified xsi:type="dcterms:W3CDTF">2024-05-17T02:12:22Z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0</vt:i4>
  </property>
  <property fmtid="{D5CDD505-2E9C-101B-9397-08002B2CF9AE}" pid="3" name="GraphicType">
    <vt:i4>0</vt:i4>
  </property>
  <property fmtid="{D5CDD505-2E9C-101B-9397-08002B2CF9AE}" pid="4" name="Compression">
    <vt:i4>0</vt:i4>
  </property>
  <property fmtid="{D5CDD505-2E9C-101B-9397-08002B2CF9AE}" pid="5" name="ScreenSize">
    <vt:i4>0</vt:i4>
  </property>
  <property fmtid="{D5CDD505-2E9C-101B-9397-08002B2CF9AE}" pid="6" name="ScreenUsage">
    <vt:i4>0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0</vt:i4>
  </property>
  <property fmtid="{D5CDD505-2E9C-101B-9397-08002B2CF9AE}" pid="14" name="TextColor">
    <vt:i4>0</vt:i4>
  </property>
  <property fmtid="{D5CDD505-2E9C-101B-9397-08002B2CF9AE}" pid="15" name="LinkColor">
    <vt:i4>0</vt:i4>
  </property>
  <property fmtid="{D5CDD505-2E9C-101B-9397-08002B2CF9AE}" pid="16" name="VisitedColor">
    <vt:i4>0</vt:i4>
  </property>
  <property fmtid="{D5CDD505-2E9C-101B-9397-08002B2CF9AE}" pid="17" name="TransparentButton">
    <vt:i4>0</vt:i4>
  </property>
  <property fmtid="{D5CDD505-2E9C-101B-9397-08002B2CF9AE}" pid="18" name="ButtonType">
    <vt:i4>0</vt:i4>
  </property>
  <property fmtid="{D5CDD505-2E9C-101B-9397-08002B2CF9AE}" pid="19" name="ShowNotes">
    <vt:bool>false</vt:bool>
  </property>
  <property fmtid="{D5CDD505-2E9C-101B-9397-08002B2CF9AE}" pid="20" name="NavBtnPos">
    <vt:i4>0</vt:i4>
  </property>
  <property fmtid="{D5CDD505-2E9C-101B-9397-08002B2CF9AE}" pid="21" name="OutputDir">
    <vt:lpwstr>C:\Work\html</vt:lpwstr>
  </property>
</Properties>
</file>