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51"/>
  </p:notesMasterIdLst>
  <p:handoutMasterIdLst>
    <p:handoutMasterId r:id="rId52"/>
  </p:handoutMasterIdLst>
  <p:sldIdLst>
    <p:sldId id="256" r:id="rId2"/>
    <p:sldId id="363" r:id="rId3"/>
    <p:sldId id="376" r:id="rId4"/>
    <p:sldId id="457" r:id="rId5"/>
    <p:sldId id="463" r:id="rId6"/>
    <p:sldId id="464" r:id="rId7"/>
    <p:sldId id="466" r:id="rId8"/>
    <p:sldId id="465" r:id="rId9"/>
    <p:sldId id="467" r:id="rId10"/>
    <p:sldId id="458" r:id="rId11"/>
    <p:sldId id="468" r:id="rId12"/>
    <p:sldId id="469" r:id="rId13"/>
    <p:sldId id="471" r:id="rId14"/>
    <p:sldId id="472" r:id="rId15"/>
    <p:sldId id="470" r:id="rId16"/>
    <p:sldId id="473" r:id="rId17"/>
    <p:sldId id="474" r:id="rId18"/>
    <p:sldId id="475" r:id="rId19"/>
    <p:sldId id="476" r:id="rId20"/>
    <p:sldId id="459" r:id="rId21"/>
    <p:sldId id="477" r:id="rId22"/>
    <p:sldId id="478" r:id="rId23"/>
    <p:sldId id="479" r:id="rId24"/>
    <p:sldId id="480" r:id="rId25"/>
    <p:sldId id="481" r:id="rId26"/>
    <p:sldId id="482" r:id="rId27"/>
    <p:sldId id="460" r:id="rId28"/>
    <p:sldId id="483" r:id="rId29"/>
    <p:sldId id="486" r:id="rId30"/>
    <p:sldId id="487" r:id="rId31"/>
    <p:sldId id="488" r:id="rId32"/>
    <p:sldId id="489" r:id="rId33"/>
    <p:sldId id="495" r:id="rId34"/>
    <p:sldId id="461" r:id="rId35"/>
    <p:sldId id="484" r:id="rId36"/>
    <p:sldId id="490" r:id="rId37"/>
    <p:sldId id="491" r:id="rId38"/>
    <p:sldId id="492" r:id="rId39"/>
    <p:sldId id="493" r:id="rId40"/>
    <p:sldId id="494" r:id="rId41"/>
    <p:sldId id="462" r:id="rId42"/>
    <p:sldId id="485" r:id="rId43"/>
    <p:sldId id="496" r:id="rId44"/>
    <p:sldId id="497" r:id="rId45"/>
    <p:sldId id="498" r:id="rId46"/>
    <p:sldId id="499" r:id="rId47"/>
    <p:sldId id="500" r:id="rId48"/>
    <p:sldId id="501" r:id="rId49"/>
    <p:sldId id="347" r:id="rId50"/>
  </p:sldIdLst>
  <p:sldSz cx="9144000" cy="6858000" type="screen4x3"/>
  <p:notesSz cx="7302500" cy="95885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1B2B"/>
    <a:srgbClr val="F8F0D0"/>
    <a:srgbClr val="F2E4AA"/>
    <a:srgbClr val="000000"/>
    <a:srgbClr val="E4BB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9"/>
    <p:restoredTop sz="94751"/>
  </p:normalViewPr>
  <p:slideViewPr>
    <p:cSldViewPr>
      <p:cViewPr varScale="1">
        <p:scale>
          <a:sx n="68" d="100"/>
          <a:sy n="68" d="100"/>
        </p:scale>
        <p:origin x="71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518E68E8-7E0F-A3E3-EB91-759664F5E72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0E125817-46DD-E7BB-F346-F43BC73C224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3835CE3E-A49A-F254-67BB-30C74DCD2E0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2057AE74-C0A7-8C60-B760-5DF81C05593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fld id="{ECD9B0B8-2B6E-47C3-87B5-3E0DF9CCE67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3B74244-97FC-C2C5-F540-52FEB482AAB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EC66EF2-856D-C135-B21A-3627112F238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05ACF31B-E411-6860-CFDA-5D8BFB58294A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255713" y="720725"/>
            <a:ext cx="4792662" cy="3594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AEE4F64-57F1-B86F-7032-00E6184C607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3138" y="4554538"/>
            <a:ext cx="5356225" cy="431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F71B8C0-5E20-4DC1-4F34-0DD11F7D1CA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E8CD90AF-DF1F-032B-7F8B-ECD5DF93D4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fld id="{EEC572B5-E41D-4FFD-98E7-29B4276C8B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6915FEBC-CDE6-B9EE-2F52-8BE3CC452B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6270247F-CBF9-7EDE-90C6-1415EB1A1E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3CAC395C-DBE4-619E-0338-A05B616C64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999ADB1-8C68-42DD-81E9-BE3B45A95690}" type="slidenum">
              <a:rPr lang="en-US" altLang="en-US" sz="1300" smtClean="0"/>
              <a:pPr/>
              <a:t>1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:a16="http://schemas.microsoft.com/office/drawing/2014/main" id="{D7C96977-A10C-58F0-D48B-A3094538B8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Notes Placeholder 2">
            <a:extLst>
              <a:ext uri="{FF2B5EF4-FFF2-40B4-BE49-F238E27FC236}">
                <a16:creationId xmlns:a16="http://schemas.microsoft.com/office/drawing/2014/main" id="{59AC10AD-0BE2-7CC0-427E-A651619A6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9220" name="Slide Number Placeholder 3">
            <a:extLst>
              <a:ext uri="{FF2B5EF4-FFF2-40B4-BE49-F238E27FC236}">
                <a16:creationId xmlns:a16="http://schemas.microsoft.com/office/drawing/2014/main" id="{D0BF0379-B514-3501-EEBB-A1BF12F7B0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F0BCE9A-0923-45DD-99E6-924A99758603}" type="slidenum">
              <a:rPr lang="en-US" altLang="en-US" sz="1300" smtClean="0"/>
              <a:pPr/>
              <a:t>3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CD497279-7743-9804-EE1B-90BFD29CBA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F0531926-5DE1-8642-0880-B269638D0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CAFE4CFC-BE47-2420-8C7A-C25ABC7E49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A163FE1-1166-4988-BD4B-3343585FD88A}" type="slidenum">
              <a:rPr lang="en-US" altLang="en-US" sz="1300" smtClean="0"/>
              <a:pPr/>
              <a:t>4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>
            <a:extLst>
              <a:ext uri="{FF2B5EF4-FFF2-40B4-BE49-F238E27FC236}">
                <a16:creationId xmlns:a16="http://schemas.microsoft.com/office/drawing/2014/main" id="{EF1FC046-88CC-D2AD-ADFD-1E178E0F69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Notes Placeholder 2">
            <a:extLst>
              <a:ext uri="{FF2B5EF4-FFF2-40B4-BE49-F238E27FC236}">
                <a16:creationId xmlns:a16="http://schemas.microsoft.com/office/drawing/2014/main" id="{DE1820DC-3EB9-6405-6EA2-9BA13940E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id="{2633CF91-DBC8-CC75-D6C0-3588E2C19A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6EFDBE4-0703-4E7E-BEF8-5B48EC1AE4AF}" type="slidenum">
              <a:rPr lang="en-US" altLang="en-US" sz="1300" smtClean="0"/>
              <a:pPr/>
              <a:t>5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97010A98-3418-91DF-0701-947474E785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639B441C-7F8F-CC99-ADCD-32074F00B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C7D6EC2C-0AF2-9787-5821-8A0E6F42E2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D6D0670-8542-4885-BCBE-F0C74B8983A3}" type="slidenum">
              <a:rPr lang="en-US" altLang="en-US" sz="1300" smtClean="0"/>
              <a:pPr/>
              <a:t>6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10F4572D-CBA9-3D9D-9CE6-1FF8ACE76F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F9691E3E-17C3-4C93-E525-ACDE9A597E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C9F99109-E147-3E41-A0D5-7388DC248F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E9FD52F-1C19-4EAF-9361-48C2ABE603AB}" type="slidenum">
              <a:rPr lang="en-US" altLang="en-US" sz="1300" smtClean="0"/>
              <a:pPr/>
              <a:t>7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4916F603-855F-C324-582B-E8CE925641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A8EBC7A9-5AC0-56E6-B181-DECAF0510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645B5E61-68C8-95C7-0DA8-DCD574C990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3D71A64-A615-4AD0-8C95-40FACCB0FC64}" type="slidenum">
              <a:rPr lang="en-US" altLang="en-US" sz="1300" smtClean="0"/>
              <a:pPr/>
              <a:t>10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>
            <a:extLst>
              <a:ext uri="{FF2B5EF4-FFF2-40B4-BE49-F238E27FC236}">
                <a16:creationId xmlns:a16="http://schemas.microsoft.com/office/drawing/2014/main" id="{71FDAB12-CECB-75C9-45A2-9278642D6E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>
            <a:extLst>
              <a:ext uri="{FF2B5EF4-FFF2-40B4-BE49-F238E27FC236}">
                <a16:creationId xmlns:a16="http://schemas.microsoft.com/office/drawing/2014/main" id="{AD736C5F-11EE-CC4E-3BB0-2EF481FA4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2772" name="Slide Number Placeholder 3">
            <a:extLst>
              <a:ext uri="{FF2B5EF4-FFF2-40B4-BE49-F238E27FC236}">
                <a16:creationId xmlns:a16="http://schemas.microsoft.com/office/drawing/2014/main" id="{E0E8EE74-3D9C-6B9C-E80C-2E3896D2CF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A3376EC-A882-4539-956E-97D34A7234B6}" type="slidenum">
              <a:rPr lang="en-US" altLang="en-US" sz="1300" smtClean="0"/>
              <a:pPr/>
              <a:t>20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B540F530-E524-D3F9-2202-5D255A801C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F4AB0BAF-3269-818B-8D22-83EC42689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2A2A096B-0FAD-6B2A-6F06-30B8D8A30C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C4DE47F-A124-4B3A-A891-F8A072C1BA3D}" type="slidenum">
              <a:rPr lang="en-US" altLang="en-US" sz="1300" smtClean="0"/>
              <a:pPr/>
              <a:t>27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id="{E8DDDE95-1F52-E5EA-3914-756B518B16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>
            <a:extLst>
              <a:ext uri="{FF2B5EF4-FFF2-40B4-BE49-F238E27FC236}">
                <a16:creationId xmlns:a16="http://schemas.microsoft.com/office/drawing/2014/main" id="{AAE5958F-5341-3C89-BF8D-E296525E7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BA2A5E05-E7A5-250B-911F-DB9B9556B8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2DE143F-3D03-4086-BAD8-5D435124EBEE}" type="slidenum">
              <a:rPr lang="en-US" altLang="en-US" sz="1300" smtClean="0"/>
              <a:pPr/>
              <a:t>34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>
            <a:extLst>
              <a:ext uri="{FF2B5EF4-FFF2-40B4-BE49-F238E27FC236}">
                <a16:creationId xmlns:a16="http://schemas.microsoft.com/office/drawing/2014/main" id="{8AB881BA-B467-7B73-B829-18EEE6D572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>
            <a:extLst>
              <a:ext uri="{FF2B5EF4-FFF2-40B4-BE49-F238E27FC236}">
                <a16:creationId xmlns:a16="http://schemas.microsoft.com/office/drawing/2014/main" id="{ED6FB31A-B6A8-D270-3965-4196321711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7348" name="Slide Number Placeholder 3">
            <a:extLst>
              <a:ext uri="{FF2B5EF4-FFF2-40B4-BE49-F238E27FC236}">
                <a16:creationId xmlns:a16="http://schemas.microsoft.com/office/drawing/2014/main" id="{64746847-A046-C98A-408C-35A1570FEC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8EEFD7A-A5E2-4147-AD2E-9B18FD29ED00}" type="slidenum">
              <a:rPr lang="en-US" altLang="en-US" sz="1300" smtClean="0"/>
              <a:pPr/>
              <a:t>41</a:t>
            </a:fld>
            <a:endParaRPr lang="en-US" altLang="en-US" sz="13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075296E-2B5F-B12B-9D88-3B96CD245BD7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03167787-10AA-62D6-98CD-6EF42F2085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3" name="Rectangle 4">
                <a:extLst>
                  <a:ext uri="{FF2B5EF4-FFF2-40B4-BE49-F238E27FC236}">
                    <a16:creationId xmlns:a16="http://schemas.microsoft.com/office/drawing/2014/main" id="{570BDEEF-E48D-7C03-89E9-286A3BD2E208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  <p:grpSp>
            <p:nvGrpSpPr>
              <p:cNvPr id="14" name="Group 5">
                <a:extLst>
                  <a:ext uri="{FF2B5EF4-FFF2-40B4-BE49-F238E27FC236}">
                    <a16:creationId xmlns:a16="http://schemas.microsoft.com/office/drawing/2014/main" id="{79B7403E-36A9-3CD8-3AFD-0C7AA8006ED8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6" name="Line 6">
                  <a:extLst>
                    <a:ext uri="{FF2B5EF4-FFF2-40B4-BE49-F238E27FC236}">
                      <a16:creationId xmlns:a16="http://schemas.microsoft.com/office/drawing/2014/main" id="{A6B678CD-68F2-C98F-0ED1-A4987EE99F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" name="Line 7">
                  <a:extLst>
                    <a:ext uri="{FF2B5EF4-FFF2-40B4-BE49-F238E27FC236}">
                      <a16:creationId xmlns:a16="http://schemas.microsoft.com/office/drawing/2014/main" id="{A7D56B2B-88EF-B136-399B-E8D9A67E7A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" name="Line 8">
                  <a:extLst>
                    <a:ext uri="{FF2B5EF4-FFF2-40B4-BE49-F238E27FC236}">
                      <a16:creationId xmlns:a16="http://schemas.microsoft.com/office/drawing/2014/main" id="{65B49FE9-42E0-57E5-6182-499EC0A28D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9">
                  <a:extLst>
                    <a:ext uri="{FF2B5EF4-FFF2-40B4-BE49-F238E27FC236}">
                      <a16:creationId xmlns:a16="http://schemas.microsoft.com/office/drawing/2014/main" id="{F7280646-AD98-3A95-5BBD-5DF568E276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10">
                  <a:extLst>
                    <a:ext uri="{FF2B5EF4-FFF2-40B4-BE49-F238E27FC236}">
                      <a16:creationId xmlns:a16="http://schemas.microsoft.com/office/drawing/2014/main" id="{88B69BE6-9CDB-A0FE-4431-C865695B4A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11">
                  <a:extLst>
                    <a:ext uri="{FF2B5EF4-FFF2-40B4-BE49-F238E27FC236}">
                      <a16:creationId xmlns:a16="http://schemas.microsoft.com/office/drawing/2014/main" id="{61F77A22-980B-FCC0-5AC6-BA7A76D271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12">
                  <a:extLst>
                    <a:ext uri="{FF2B5EF4-FFF2-40B4-BE49-F238E27FC236}">
                      <a16:creationId xmlns:a16="http://schemas.microsoft.com/office/drawing/2014/main" id="{A062F5F3-20B0-C1DB-13FB-39E1ABCB19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13">
                  <a:extLst>
                    <a:ext uri="{FF2B5EF4-FFF2-40B4-BE49-F238E27FC236}">
                      <a16:creationId xmlns:a16="http://schemas.microsoft.com/office/drawing/2014/main" id="{47C89EBE-CC1C-69CF-9F67-EDFA4FA9A4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14">
                  <a:extLst>
                    <a:ext uri="{FF2B5EF4-FFF2-40B4-BE49-F238E27FC236}">
                      <a16:creationId xmlns:a16="http://schemas.microsoft.com/office/drawing/2014/main" id="{50F96AE3-7C1C-AD9F-AD1A-D778C60572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15">
                  <a:extLst>
                    <a:ext uri="{FF2B5EF4-FFF2-40B4-BE49-F238E27FC236}">
                      <a16:creationId xmlns:a16="http://schemas.microsoft.com/office/drawing/2014/main" id="{0A1052F1-778F-CF65-C9F3-5990EBAFDF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16">
                  <a:extLst>
                    <a:ext uri="{FF2B5EF4-FFF2-40B4-BE49-F238E27FC236}">
                      <a16:creationId xmlns:a16="http://schemas.microsoft.com/office/drawing/2014/main" id="{6098B95F-3411-32CA-A031-98E23098E2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7" name="Line 17">
                  <a:extLst>
                    <a:ext uri="{FF2B5EF4-FFF2-40B4-BE49-F238E27FC236}">
                      <a16:creationId xmlns:a16="http://schemas.microsoft.com/office/drawing/2014/main" id="{A514CA42-E74C-D589-4F46-04F568BE94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18">
                  <a:extLst>
                    <a:ext uri="{FF2B5EF4-FFF2-40B4-BE49-F238E27FC236}">
                      <a16:creationId xmlns:a16="http://schemas.microsoft.com/office/drawing/2014/main" id="{C913A0F3-A267-C904-3122-F9B574BB67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19">
                  <a:extLst>
                    <a:ext uri="{FF2B5EF4-FFF2-40B4-BE49-F238E27FC236}">
                      <a16:creationId xmlns:a16="http://schemas.microsoft.com/office/drawing/2014/main" id="{57E8FCBB-DE35-0D16-6226-BD756BCA18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20">
                  <a:extLst>
                    <a:ext uri="{FF2B5EF4-FFF2-40B4-BE49-F238E27FC236}">
                      <a16:creationId xmlns:a16="http://schemas.microsoft.com/office/drawing/2014/main" id="{6A56399E-AB93-E3D4-31D6-7D492F370C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21">
                  <a:extLst>
                    <a:ext uri="{FF2B5EF4-FFF2-40B4-BE49-F238E27FC236}">
                      <a16:creationId xmlns:a16="http://schemas.microsoft.com/office/drawing/2014/main" id="{CF6EE5CE-8541-062B-680B-D4A012074A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22">
                  <a:extLst>
                    <a:ext uri="{FF2B5EF4-FFF2-40B4-BE49-F238E27FC236}">
                      <a16:creationId xmlns:a16="http://schemas.microsoft.com/office/drawing/2014/main" id="{7CEFA1EE-4B2A-C212-56C1-D9FA43FC71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23">
                  <a:extLst>
                    <a:ext uri="{FF2B5EF4-FFF2-40B4-BE49-F238E27FC236}">
                      <a16:creationId xmlns:a16="http://schemas.microsoft.com/office/drawing/2014/main" id="{05341841-8E8F-0211-20A1-BE01B0275B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24">
                  <a:extLst>
                    <a:ext uri="{FF2B5EF4-FFF2-40B4-BE49-F238E27FC236}">
                      <a16:creationId xmlns:a16="http://schemas.microsoft.com/office/drawing/2014/main" id="{C4C6F71F-0771-2298-BB3D-EE00717A05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25">
                  <a:extLst>
                    <a:ext uri="{FF2B5EF4-FFF2-40B4-BE49-F238E27FC236}">
                      <a16:creationId xmlns:a16="http://schemas.microsoft.com/office/drawing/2014/main" id="{EDD7A982-70C1-542C-8523-16A7EF134B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26">
                  <a:extLst>
                    <a:ext uri="{FF2B5EF4-FFF2-40B4-BE49-F238E27FC236}">
                      <a16:creationId xmlns:a16="http://schemas.microsoft.com/office/drawing/2014/main" id="{E3A0742E-AF95-B518-90B1-8E6600C32E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27">
                  <a:extLst>
                    <a:ext uri="{FF2B5EF4-FFF2-40B4-BE49-F238E27FC236}">
                      <a16:creationId xmlns:a16="http://schemas.microsoft.com/office/drawing/2014/main" id="{02B7CCE4-8224-52C7-FF76-2475C79F6B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" name="Line 28">
                  <a:extLst>
                    <a:ext uri="{FF2B5EF4-FFF2-40B4-BE49-F238E27FC236}">
                      <a16:creationId xmlns:a16="http://schemas.microsoft.com/office/drawing/2014/main" id="{41394E15-7FC0-45C6-092E-151B43917D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Line 29">
                  <a:extLst>
                    <a:ext uri="{FF2B5EF4-FFF2-40B4-BE49-F238E27FC236}">
                      <a16:creationId xmlns:a16="http://schemas.microsoft.com/office/drawing/2014/main" id="{9444EBE8-7921-E28F-CE11-F84DA16A73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Line 30">
                  <a:extLst>
                    <a:ext uri="{FF2B5EF4-FFF2-40B4-BE49-F238E27FC236}">
                      <a16:creationId xmlns:a16="http://schemas.microsoft.com/office/drawing/2014/main" id="{B2398710-0C4C-47B4-FA5A-4412FD0A7A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Line 31">
                  <a:extLst>
                    <a:ext uri="{FF2B5EF4-FFF2-40B4-BE49-F238E27FC236}">
                      <a16:creationId xmlns:a16="http://schemas.microsoft.com/office/drawing/2014/main" id="{D71CA4CE-E3DF-E88F-15A7-078EF0D6F5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Line 32">
                  <a:extLst>
                    <a:ext uri="{FF2B5EF4-FFF2-40B4-BE49-F238E27FC236}">
                      <a16:creationId xmlns:a16="http://schemas.microsoft.com/office/drawing/2014/main" id="{19D01F10-A56E-69F6-2BFA-E09655CEEC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Line 33">
                  <a:extLst>
                    <a:ext uri="{FF2B5EF4-FFF2-40B4-BE49-F238E27FC236}">
                      <a16:creationId xmlns:a16="http://schemas.microsoft.com/office/drawing/2014/main" id="{2966F68C-28AA-34EB-5C14-0CB5013512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Line 34">
                  <a:extLst>
                    <a:ext uri="{FF2B5EF4-FFF2-40B4-BE49-F238E27FC236}">
                      <a16:creationId xmlns:a16="http://schemas.microsoft.com/office/drawing/2014/main" id="{DF0BC42C-935B-976B-10FE-FA35423FFF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Line 35">
                  <a:extLst>
                    <a:ext uri="{FF2B5EF4-FFF2-40B4-BE49-F238E27FC236}">
                      <a16:creationId xmlns:a16="http://schemas.microsoft.com/office/drawing/2014/main" id="{BE09E625-B6F6-2B7C-0584-AE530EA22E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Line 36">
                  <a:extLst>
                    <a:ext uri="{FF2B5EF4-FFF2-40B4-BE49-F238E27FC236}">
                      <a16:creationId xmlns:a16="http://schemas.microsoft.com/office/drawing/2014/main" id="{7FF732B8-A423-0D5E-1828-75F6E145BF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Line 37">
                  <a:extLst>
                    <a:ext uri="{FF2B5EF4-FFF2-40B4-BE49-F238E27FC236}">
                      <a16:creationId xmlns:a16="http://schemas.microsoft.com/office/drawing/2014/main" id="{CBF0B103-8232-D09B-F1AD-6194848A68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Line 38">
                  <a:extLst>
                    <a:ext uri="{FF2B5EF4-FFF2-40B4-BE49-F238E27FC236}">
                      <a16:creationId xmlns:a16="http://schemas.microsoft.com/office/drawing/2014/main" id="{E7F90D33-EF4E-1EBE-C632-ACBF801628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Line 39">
                  <a:extLst>
                    <a:ext uri="{FF2B5EF4-FFF2-40B4-BE49-F238E27FC236}">
                      <a16:creationId xmlns:a16="http://schemas.microsoft.com/office/drawing/2014/main" id="{D82C2420-7502-4B82-D73E-B1F238AEEC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Line 40">
                  <a:extLst>
                    <a:ext uri="{FF2B5EF4-FFF2-40B4-BE49-F238E27FC236}">
                      <a16:creationId xmlns:a16="http://schemas.microsoft.com/office/drawing/2014/main" id="{334048C5-0D8C-1A5B-3A73-B2B1C0D61B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Line 41">
                  <a:extLst>
                    <a:ext uri="{FF2B5EF4-FFF2-40B4-BE49-F238E27FC236}">
                      <a16:creationId xmlns:a16="http://schemas.microsoft.com/office/drawing/2014/main" id="{CF309F3C-84CA-960A-675C-E936DEE8AC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Line 42">
                  <a:extLst>
                    <a:ext uri="{FF2B5EF4-FFF2-40B4-BE49-F238E27FC236}">
                      <a16:creationId xmlns:a16="http://schemas.microsoft.com/office/drawing/2014/main" id="{6F18A02E-7591-F1A4-B856-ACF276D9DE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Line 43">
                  <a:extLst>
                    <a:ext uri="{FF2B5EF4-FFF2-40B4-BE49-F238E27FC236}">
                      <a16:creationId xmlns:a16="http://schemas.microsoft.com/office/drawing/2014/main" id="{0F30DCF6-8080-DE36-32D3-0DB1048B64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Line 44">
                  <a:extLst>
                    <a:ext uri="{FF2B5EF4-FFF2-40B4-BE49-F238E27FC236}">
                      <a16:creationId xmlns:a16="http://schemas.microsoft.com/office/drawing/2014/main" id="{E2AE8CE8-3E00-AFAB-0C42-CF5628535F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Line 45">
                  <a:extLst>
                    <a:ext uri="{FF2B5EF4-FFF2-40B4-BE49-F238E27FC236}">
                      <a16:creationId xmlns:a16="http://schemas.microsoft.com/office/drawing/2014/main" id="{51867F9D-6690-235E-CB0E-36E720FCB5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Line 46">
                  <a:extLst>
                    <a:ext uri="{FF2B5EF4-FFF2-40B4-BE49-F238E27FC236}">
                      <a16:creationId xmlns:a16="http://schemas.microsoft.com/office/drawing/2014/main" id="{DC4840FE-5A07-DE14-41AF-14B8E21A7D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Line 47">
                  <a:extLst>
                    <a:ext uri="{FF2B5EF4-FFF2-40B4-BE49-F238E27FC236}">
                      <a16:creationId xmlns:a16="http://schemas.microsoft.com/office/drawing/2014/main" id="{AB69ABEB-7A20-2FA0-36B3-47BFD98627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Line 48">
                  <a:extLst>
                    <a:ext uri="{FF2B5EF4-FFF2-40B4-BE49-F238E27FC236}">
                      <a16:creationId xmlns:a16="http://schemas.microsoft.com/office/drawing/2014/main" id="{F61BC361-097F-6AB3-FC4D-848061D70F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Line 49">
                  <a:extLst>
                    <a:ext uri="{FF2B5EF4-FFF2-40B4-BE49-F238E27FC236}">
                      <a16:creationId xmlns:a16="http://schemas.microsoft.com/office/drawing/2014/main" id="{703ED96D-D4E9-2E05-2EB8-71FCBBFA26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Line 50">
                  <a:extLst>
                    <a:ext uri="{FF2B5EF4-FFF2-40B4-BE49-F238E27FC236}">
                      <a16:creationId xmlns:a16="http://schemas.microsoft.com/office/drawing/2014/main" id="{215029CF-308A-8D99-71D3-EAB004AC34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Line 51">
                  <a:extLst>
                    <a:ext uri="{FF2B5EF4-FFF2-40B4-BE49-F238E27FC236}">
                      <a16:creationId xmlns:a16="http://schemas.microsoft.com/office/drawing/2014/main" id="{A72BA097-75B2-7611-6E4F-097B73D447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Line 52">
                  <a:extLst>
                    <a:ext uri="{FF2B5EF4-FFF2-40B4-BE49-F238E27FC236}">
                      <a16:creationId xmlns:a16="http://schemas.microsoft.com/office/drawing/2014/main" id="{47FBA655-8AFA-04A3-6F1C-0BEB64F607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Line 53">
                  <a:extLst>
                    <a:ext uri="{FF2B5EF4-FFF2-40B4-BE49-F238E27FC236}">
                      <a16:creationId xmlns:a16="http://schemas.microsoft.com/office/drawing/2014/main" id="{0AB9A364-125D-796E-5C9E-BF6560CA76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84" name="Line 54">
                  <a:extLst>
                    <a:ext uri="{FF2B5EF4-FFF2-40B4-BE49-F238E27FC236}">
                      <a16:creationId xmlns:a16="http://schemas.microsoft.com/office/drawing/2014/main" id="{662A4A5A-177B-D639-CAB0-B598FD72EC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85" name="Line 55">
                  <a:extLst>
                    <a:ext uri="{FF2B5EF4-FFF2-40B4-BE49-F238E27FC236}">
                      <a16:creationId xmlns:a16="http://schemas.microsoft.com/office/drawing/2014/main" id="{2E322B8D-2375-89C4-20EE-DF687C08D6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86" name="Line 56">
                  <a:extLst>
                    <a:ext uri="{FF2B5EF4-FFF2-40B4-BE49-F238E27FC236}">
                      <a16:creationId xmlns:a16="http://schemas.microsoft.com/office/drawing/2014/main" id="{9C2B4371-ACA5-BA4A-18EA-743299AC13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5" name="Line 57">
                <a:extLst>
                  <a:ext uri="{FF2B5EF4-FFF2-40B4-BE49-F238E27FC236}">
                    <a16:creationId xmlns:a16="http://schemas.microsoft.com/office/drawing/2014/main" id="{81E34B02-05B8-A8BC-1FB5-2B663CCD98D6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" name="Group 58">
              <a:extLst>
                <a:ext uri="{FF2B5EF4-FFF2-40B4-BE49-F238E27FC236}">
                  <a16:creationId xmlns:a16="http://schemas.microsoft.com/office/drawing/2014/main" id="{D9FAE832-5E06-0D3D-D33C-9065C1EC84D7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9" name="Line 59">
                <a:extLst>
                  <a:ext uri="{FF2B5EF4-FFF2-40B4-BE49-F238E27FC236}">
                    <a16:creationId xmlns:a16="http://schemas.microsoft.com/office/drawing/2014/main" id="{201E907E-5E55-A7A2-5D98-33263D994E01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" name="Line 60">
                <a:extLst>
                  <a:ext uri="{FF2B5EF4-FFF2-40B4-BE49-F238E27FC236}">
                    <a16:creationId xmlns:a16="http://schemas.microsoft.com/office/drawing/2014/main" id="{A4E30184-C367-7AA6-8590-DFEFB6E9A02A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Line 61">
                <a:extLst>
                  <a:ext uri="{FF2B5EF4-FFF2-40B4-BE49-F238E27FC236}">
                    <a16:creationId xmlns:a16="http://schemas.microsoft.com/office/drawing/2014/main" id="{ADAB9389-991F-8DFF-063D-9AFDD3FF2F29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Arc 62">
                <a:extLst>
                  <a:ext uri="{FF2B5EF4-FFF2-40B4-BE49-F238E27FC236}">
                    <a16:creationId xmlns:a16="http://schemas.microsoft.com/office/drawing/2014/main" id="{0E16F04C-8D8E-CA1D-7B43-0D58D30A0692}"/>
                  </a:ext>
                </a:extLst>
              </p:cNvPr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63">
              <a:extLst>
                <a:ext uri="{FF2B5EF4-FFF2-40B4-BE49-F238E27FC236}">
                  <a16:creationId xmlns:a16="http://schemas.microsoft.com/office/drawing/2014/main" id="{37254C1B-6C8D-638C-99DB-186C08A86971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6" name="Line 64">
                <a:extLst>
                  <a:ext uri="{FF2B5EF4-FFF2-40B4-BE49-F238E27FC236}">
                    <a16:creationId xmlns:a16="http://schemas.microsoft.com/office/drawing/2014/main" id="{0F698990-408C-C6DD-B4C4-ACAFA7A64065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" name="Line 65">
                <a:extLst>
                  <a:ext uri="{FF2B5EF4-FFF2-40B4-BE49-F238E27FC236}">
                    <a16:creationId xmlns:a16="http://schemas.microsoft.com/office/drawing/2014/main" id="{0D0C6A1A-3208-773E-C5EA-AA8B4156300A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" name="Arc 66">
                <a:extLst>
                  <a:ext uri="{FF2B5EF4-FFF2-40B4-BE49-F238E27FC236}">
                    <a16:creationId xmlns:a16="http://schemas.microsoft.com/office/drawing/2014/main" id="{0D82B23A-F6A4-5150-2219-AA306E134738}"/>
                  </a:ext>
                </a:extLst>
              </p:cNvPr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187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88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189" name="Slide Number Placeholder 73">
            <a:extLst>
              <a:ext uri="{FF2B5EF4-FFF2-40B4-BE49-F238E27FC236}">
                <a16:creationId xmlns:a16="http://schemas.microsoft.com/office/drawing/2014/main" id="{C1CA8AC9-C41C-3BD2-CB48-CCB12158EE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D16288-8FC8-4BD5-83D2-E09B4C2F63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190" name="Rectangle 65">
            <a:extLst>
              <a:ext uri="{FF2B5EF4-FFF2-40B4-BE49-F238E27FC236}">
                <a16:creationId xmlns:a16="http://schemas.microsoft.com/office/drawing/2014/main" id="{7DA24AA0-6E5D-7BC1-7599-954A46EEDD83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5191" name="Rectangle 66">
            <a:extLst>
              <a:ext uri="{FF2B5EF4-FFF2-40B4-BE49-F238E27FC236}">
                <a16:creationId xmlns:a16="http://schemas.microsoft.com/office/drawing/2014/main" id="{2AF95402-C167-4F15-8659-324B1937C79C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 algn="ctr">
              <a:defRPr sz="1400"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285742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5">
            <a:extLst>
              <a:ext uri="{FF2B5EF4-FFF2-40B4-BE49-F238E27FC236}">
                <a16:creationId xmlns:a16="http://schemas.microsoft.com/office/drawing/2014/main" id="{137E2EC8-C543-D4A5-516F-4E14ABE8D6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5" name="Rectangle 66">
            <a:extLst>
              <a:ext uri="{FF2B5EF4-FFF2-40B4-BE49-F238E27FC236}">
                <a16:creationId xmlns:a16="http://schemas.microsoft.com/office/drawing/2014/main" id="{A6E00D8B-5B6F-A2C8-90CC-BF42BE678B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Rectangle 67">
            <a:extLst>
              <a:ext uri="{FF2B5EF4-FFF2-40B4-BE49-F238E27FC236}">
                <a16:creationId xmlns:a16="http://schemas.microsoft.com/office/drawing/2014/main" id="{E7A46DB4-0B0E-435F-2E16-3130401D118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83D0DF-852C-4DA2-86DD-1BD3934C962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9557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69AA0E2D-55EF-CBD3-B019-608BC64203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5EB3A5E1-D8E9-5E84-9D53-F400BFB071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C7D5E95F-1F58-C153-0DEC-2091B38BA0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842006-BE9A-42CA-B23B-1904A25981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3869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>
            <a:extLst>
              <a:ext uri="{FF2B5EF4-FFF2-40B4-BE49-F238E27FC236}">
                <a16:creationId xmlns:a16="http://schemas.microsoft.com/office/drawing/2014/main" id="{F91ACD9E-FF5F-4B0D-CCBF-23AAB36E16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3" name="Rectangle 66">
            <a:extLst>
              <a:ext uri="{FF2B5EF4-FFF2-40B4-BE49-F238E27FC236}">
                <a16:creationId xmlns:a16="http://schemas.microsoft.com/office/drawing/2014/main" id="{8D7B16FB-D127-820C-9246-3BAE530CFF1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4" name="Rectangle 67">
            <a:extLst>
              <a:ext uri="{FF2B5EF4-FFF2-40B4-BE49-F238E27FC236}">
                <a16:creationId xmlns:a16="http://schemas.microsoft.com/office/drawing/2014/main" id="{DC26BABE-1F7A-29A4-C172-FD3049CC45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984EFF-764C-4572-8235-3EAB52C13C1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1923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44F3254C-D04D-4ABB-D4D2-6E1C437E03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76B07F7C-A61E-A19F-73A4-691A8C300F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8EF063FF-3BDA-06AD-3708-A2AC50F39B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2DCEE4-03F0-486A-A06D-6F9B2ACC8D0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7577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DCD4C273-75E8-B1DF-FC0D-ADB26FD59A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A007AA7E-AF0E-D4A2-64E8-F0566529FB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5D5DD9D0-776A-CD24-B501-C05FCDEE91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F58E10-AA2D-4F09-BB6F-A4678692CE7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379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956623A5-5E71-A207-CBFA-309A877D4DB5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3">
              <a:extLst>
                <a:ext uri="{FF2B5EF4-FFF2-40B4-BE49-F238E27FC236}">
                  <a16:creationId xmlns:a16="http://schemas.microsoft.com/office/drawing/2014/main" id="{714819A2-1641-5ADD-91E9-37457FA149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>
                <a:extLst>
                  <a:ext uri="{FF2B5EF4-FFF2-40B4-BE49-F238E27FC236}">
                    <a16:creationId xmlns:a16="http://schemas.microsoft.com/office/drawing/2014/main" id="{523B9302-7DF6-1ECB-8155-C1E79FA340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5">
                  <a:extLst>
                    <a:ext uri="{FF2B5EF4-FFF2-40B4-BE49-F238E27FC236}">
                      <a16:creationId xmlns:a16="http://schemas.microsoft.com/office/drawing/2014/main" id="{0DA9D32B-2076-2E26-A4BB-FE610ECF02E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6">
                  <a:extLst>
                    <a:ext uri="{FF2B5EF4-FFF2-40B4-BE49-F238E27FC236}">
                      <a16:creationId xmlns:a16="http://schemas.microsoft.com/office/drawing/2014/main" id="{59648023-B2B5-0872-05EB-5C83CCEF93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7">
                  <a:extLst>
                    <a:ext uri="{FF2B5EF4-FFF2-40B4-BE49-F238E27FC236}">
                      <a16:creationId xmlns:a16="http://schemas.microsoft.com/office/drawing/2014/main" id="{F74FAD33-DEA6-0F84-C01E-FF60DB3C5B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8">
                  <a:extLst>
                    <a:ext uri="{FF2B5EF4-FFF2-40B4-BE49-F238E27FC236}">
                      <a16:creationId xmlns:a16="http://schemas.microsoft.com/office/drawing/2014/main" id="{C6EA2FB8-8112-4550-410E-BA15D7429F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9">
                  <a:extLst>
                    <a:ext uri="{FF2B5EF4-FFF2-40B4-BE49-F238E27FC236}">
                      <a16:creationId xmlns:a16="http://schemas.microsoft.com/office/drawing/2014/main" id="{B8342776-7912-E0CD-A933-E0DC7DB48D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0">
                  <a:extLst>
                    <a:ext uri="{FF2B5EF4-FFF2-40B4-BE49-F238E27FC236}">
                      <a16:creationId xmlns:a16="http://schemas.microsoft.com/office/drawing/2014/main" id="{AFB02166-B12C-CAA6-6144-4421ABE3FD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1">
                  <a:extLst>
                    <a:ext uri="{FF2B5EF4-FFF2-40B4-BE49-F238E27FC236}">
                      <a16:creationId xmlns:a16="http://schemas.microsoft.com/office/drawing/2014/main" id="{FE7A62F9-785D-5D1C-C44A-E6AE2E827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">
                  <a:extLst>
                    <a:ext uri="{FF2B5EF4-FFF2-40B4-BE49-F238E27FC236}">
                      <a16:creationId xmlns:a16="http://schemas.microsoft.com/office/drawing/2014/main" id="{DEA43A9C-555C-A3C5-286F-EE204AE70B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3">
                  <a:extLst>
                    <a:ext uri="{FF2B5EF4-FFF2-40B4-BE49-F238E27FC236}">
                      <a16:creationId xmlns:a16="http://schemas.microsoft.com/office/drawing/2014/main" id="{8ED7C180-E2E4-07ED-DB71-4D1DE843C0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4">
                  <a:extLst>
                    <a:ext uri="{FF2B5EF4-FFF2-40B4-BE49-F238E27FC236}">
                      <a16:creationId xmlns:a16="http://schemas.microsoft.com/office/drawing/2014/main" id="{858FFCD6-EAF2-1E9A-BEBA-35EA7F316F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5">
                  <a:extLst>
                    <a:ext uri="{FF2B5EF4-FFF2-40B4-BE49-F238E27FC236}">
                      <a16:creationId xmlns:a16="http://schemas.microsoft.com/office/drawing/2014/main" id="{7428BE01-5759-B47F-E3E6-58543C96BE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6">
                  <a:extLst>
                    <a:ext uri="{FF2B5EF4-FFF2-40B4-BE49-F238E27FC236}">
                      <a16:creationId xmlns:a16="http://schemas.microsoft.com/office/drawing/2014/main" id="{08E81CC4-6E29-5CB9-2901-AB1CA73894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7">
                  <a:extLst>
                    <a:ext uri="{FF2B5EF4-FFF2-40B4-BE49-F238E27FC236}">
                      <a16:creationId xmlns:a16="http://schemas.microsoft.com/office/drawing/2014/main" id="{6BABA85A-B1AD-CE18-54F1-F06FD4446A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8">
                  <a:extLst>
                    <a:ext uri="{FF2B5EF4-FFF2-40B4-BE49-F238E27FC236}">
                      <a16:creationId xmlns:a16="http://schemas.microsoft.com/office/drawing/2014/main" id="{6EAC70BF-E04E-5732-8076-F5BCF451E3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4" name="Line 19">
                  <a:extLst>
                    <a:ext uri="{FF2B5EF4-FFF2-40B4-BE49-F238E27FC236}">
                      <a16:creationId xmlns:a16="http://schemas.microsoft.com/office/drawing/2014/main" id="{02311E1F-82E1-8AE9-EF2D-2F05191123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5" name="Line 20">
                  <a:extLst>
                    <a:ext uri="{FF2B5EF4-FFF2-40B4-BE49-F238E27FC236}">
                      <a16:creationId xmlns:a16="http://schemas.microsoft.com/office/drawing/2014/main" id="{3638EF90-B926-D5AA-4B5F-1B18D147AF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6" name="Line 21">
                  <a:extLst>
                    <a:ext uri="{FF2B5EF4-FFF2-40B4-BE49-F238E27FC236}">
                      <a16:creationId xmlns:a16="http://schemas.microsoft.com/office/drawing/2014/main" id="{F2395A2A-EDA7-2F45-2A2A-E8D005D153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7" name="Line 22">
                  <a:extLst>
                    <a:ext uri="{FF2B5EF4-FFF2-40B4-BE49-F238E27FC236}">
                      <a16:creationId xmlns:a16="http://schemas.microsoft.com/office/drawing/2014/main" id="{AC8C149E-3B7A-FE29-A229-57E61E1B4B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8" name="Line 23">
                  <a:extLst>
                    <a:ext uri="{FF2B5EF4-FFF2-40B4-BE49-F238E27FC236}">
                      <a16:creationId xmlns:a16="http://schemas.microsoft.com/office/drawing/2014/main" id="{24513C6E-F6A7-0BB0-9598-A46FD25F74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9" name="Line 24">
                  <a:extLst>
                    <a:ext uri="{FF2B5EF4-FFF2-40B4-BE49-F238E27FC236}">
                      <a16:creationId xmlns:a16="http://schemas.microsoft.com/office/drawing/2014/main" id="{6AE22804-395E-AD6B-DBA8-E2C43B045C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90" name="Line 25">
                  <a:extLst>
                    <a:ext uri="{FF2B5EF4-FFF2-40B4-BE49-F238E27FC236}">
                      <a16:creationId xmlns:a16="http://schemas.microsoft.com/office/drawing/2014/main" id="{3D94E0BF-54CE-7528-9CD3-D22289A1D4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91" name="Line 26">
                  <a:extLst>
                    <a:ext uri="{FF2B5EF4-FFF2-40B4-BE49-F238E27FC236}">
                      <a16:creationId xmlns:a16="http://schemas.microsoft.com/office/drawing/2014/main" id="{4A0CB85A-DE13-EF18-9C64-FF95D23C76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40" name="Group 27">
                <a:extLst>
                  <a:ext uri="{FF2B5EF4-FFF2-40B4-BE49-F238E27FC236}">
                    <a16:creationId xmlns:a16="http://schemas.microsoft.com/office/drawing/2014/main" id="{3640B79F-8145-A984-1BF6-153CC41070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28">
                  <a:extLst>
                    <a:ext uri="{FF2B5EF4-FFF2-40B4-BE49-F238E27FC236}">
                      <a16:creationId xmlns:a16="http://schemas.microsoft.com/office/drawing/2014/main" id="{01B1E73C-551F-6BEE-6DB8-714043A333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29">
                  <a:extLst>
                    <a:ext uri="{FF2B5EF4-FFF2-40B4-BE49-F238E27FC236}">
                      <a16:creationId xmlns:a16="http://schemas.microsoft.com/office/drawing/2014/main" id="{0552FE68-2431-DFF6-76C3-9841411F47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30">
                  <a:extLst>
                    <a:ext uri="{FF2B5EF4-FFF2-40B4-BE49-F238E27FC236}">
                      <a16:creationId xmlns:a16="http://schemas.microsoft.com/office/drawing/2014/main" id="{769255ED-02D3-C4C7-2839-293B16D91F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31">
                  <a:extLst>
                    <a:ext uri="{FF2B5EF4-FFF2-40B4-BE49-F238E27FC236}">
                      <a16:creationId xmlns:a16="http://schemas.microsoft.com/office/drawing/2014/main" id="{F214153B-6510-A630-B750-9C75E35AD6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32">
                  <a:extLst>
                    <a:ext uri="{FF2B5EF4-FFF2-40B4-BE49-F238E27FC236}">
                      <a16:creationId xmlns:a16="http://schemas.microsoft.com/office/drawing/2014/main" id="{A477D676-F9F1-9A1C-0EA0-EC1CB6E9BA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33">
                  <a:extLst>
                    <a:ext uri="{FF2B5EF4-FFF2-40B4-BE49-F238E27FC236}">
                      <a16:creationId xmlns:a16="http://schemas.microsoft.com/office/drawing/2014/main" id="{BCC6FDCC-1045-46FC-91F8-81C810D134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34">
                  <a:extLst>
                    <a:ext uri="{FF2B5EF4-FFF2-40B4-BE49-F238E27FC236}">
                      <a16:creationId xmlns:a16="http://schemas.microsoft.com/office/drawing/2014/main" id="{6D63C001-FBBB-508A-563F-5BB769C183A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35">
                  <a:extLst>
                    <a:ext uri="{FF2B5EF4-FFF2-40B4-BE49-F238E27FC236}">
                      <a16:creationId xmlns:a16="http://schemas.microsoft.com/office/drawing/2014/main" id="{853976C3-1B44-1946-D8B0-E5FB0136E0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36">
                  <a:extLst>
                    <a:ext uri="{FF2B5EF4-FFF2-40B4-BE49-F238E27FC236}">
                      <a16:creationId xmlns:a16="http://schemas.microsoft.com/office/drawing/2014/main" id="{6FA73FC2-101A-4EA0-1AD2-160B894EEC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37">
                  <a:extLst>
                    <a:ext uri="{FF2B5EF4-FFF2-40B4-BE49-F238E27FC236}">
                      <a16:creationId xmlns:a16="http://schemas.microsoft.com/office/drawing/2014/main" id="{E34FD5CB-DBEB-1417-9B45-F17139777C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38">
                  <a:extLst>
                    <a:ext uri="{FF2B5EF4-FFF2-40B4-BE49-F238E27FC236}">
                      <a16:creationId xmlns:a16="http://schemas.microsoft.com/office/drawing/2014/main" id="{60672FAD-148D-D1CC-789C-6B9065577D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39">
                  <a:extLst>
                    <a:ext uri="{FF2B5EF4-FFF2-40B4-BE49-F238E27FC236}">
                      <a16:creationId xmlns:a16="http://schemas.microsoft.com/office/drawing/2014/main" id="{D58E1FB1-D64C-253D-E5BA-10D2FA2FDB4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40">
                  <a:extLst>
                    <a:ext uri="{FF2B5EF4-FFF2-40B4-BE49-F238E27FC236}">
                      <a16:creationId xmlns:a16="http://schemas.microsoft.com/office/drawing/2014/main" id="{20B8FD16-F05D-33BD-0B1A-D9773E1135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41">
                  <a:extLst>
                    <a:ext uri="{FF2B5EF4-FFF2-40B4-BE49-F238E27FC236}">
                      <a16:creationId xmlns:a16="http://schemas.microsoft.com/office/drawing/2014/main" id="{866E8280-AE96-51EA-13FD-B71D60DF50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42">
                  <a:extLst>
                    <a:ext uri="{FF2B5EF4-FFF2-40B4-BE49-F238E27FC236}">
                      <a16:creationId xmlns:a16="http://schemas.microsoft.com/office/drawing/2014/main" id="{24B23C96-7704-4148-4D0B-BBC1F61999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43">
                  <a:extLst>
                    <a:ext uri="{FF2B5EF4-FFF2-40B4-BE49-F238E27FC236}">
                      <a16:creationId xmlns:a16="http://schemas.microsoft.com/office/drawing/2014/main" id="{7902FAF6-87E9-5D2B-A94D-95EF49571B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44">
                  <a:extLst>
                    <a:ext uri="{FF2B5EF4-FFF2-40B4-BE49-F238E27FC236}">
                      <a16:creationId xmlns:a16="http://schemas.microsoft.com/office/drawing/2014/main" id="{70690C63-E4AA-E249-B544-252E2A728E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45">
                  <a:extLst>
                    <a:ext uri="{FF2B5EF4-FFF2-40B4-BE49-F238E27FC236}">
                      <a16:creationId xmlns:a16="http://schemas.microsoft.com/office/drawing/2014/main" id="{7BBFD7DC-4A0A-157B-FC1B-BE38A3855D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46">
                  <a:extLst>
                    <a:ext uri="{FF2B5EF4-FFF2-40B4-BE49-F238E27FC236}">
                      <a16:creationId xmlns:a16="http://schemas.microsoft.com/office/drawing/2014/main" id="{2B855512-A524-A394-2554-7C1C390F4E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47">
                  <a:extLst>
                    <a:ext uri="{FF2B5EF4-FFF2-40B4-BE49-F238E27FC236}">
                      <a16:creationId xmlns:a16="http://schemas.microsoft.com/office/drawing/2014/main" id="{523CE0BB-228C-B537-196A-0F1FDCC634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48">
                  <a:extLst>
                    <a:ext uri="{FF2B5EF4-FFF2-40B4-BE49-F238E27FC236}">
                      <a16:creationId xmlns:a16="http://schemas.microsoft.com/office/drawing/2014/main" id="{DB53948B-2A7B-7C85-0D9D-6DE72A0E88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49">
                  <a:extLst>
                    <a:ext uri="{FF2B5EF4-FFF2-40B4-BE49-F238E27FC236}">
                      <a16:creationId xmlns:a16="http://schemas.microsoft.com/office/drawing/2014/main" id="{65EBC16E-7897-ACAA-B7F3-5436631157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3" name="Line 50">
                  <a:extLst>
                    <a:ext uri="{FF2B5EF4-FFF2-40B4-BE49-F238E27FC236}">
                      <a16:creationId xmlns:a16="http://schemas.microsoft.com/office/drawing/2014/main" id="{5BF94628-A9F6-7DBB-A6C7-2FD34E32A9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51">
                  <a:extLst>
                    <a:ext uri="{FF2B5EF4-FFF2-40B4-BE49-F238E27FC236}">
                      <a16:creationId xmlns:a16="http://schemas.microsoft.com/office/drawing/2014/main" id="{4B29CE54-6E0C-7784-9419-18C955058C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52">
                  <a:extLst>
                    <a:ext uri="{FF2B5EF4-FFF2-40B4-BE49-F238E27FC236}">
                      <a16:creationId xmlns:a16="http://schemas.microsoft.com/office/drawing/2014/main" id="{3DC5C09C-E9D7-E849-1EC1-8685C86962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53">
                  <a:extLst>
                    <a:ext uri="{FF2B5EF4-FFF2-40B4-BE49-F238E27FC236}">
                      <a16:creationId xmlns:a16="http://schemas.microsoft.com/office/drawing/2014/main" id="{D47F2AB8-6A17-6F0B-C3F6-ECF4BF9604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54">
                  <a:extLst>
                    <a:ext uri="{FF2B5EF4-FFF2-40B4-BE49-F238E27FC236}">
                      <a16:creationId xmlns:a16="http://schemas.microsoft.com/office/drawing/2014/main" id="{637CC7F3-BD26-4862-0557-313008B517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55">
                  <a:extLst>
                    <a:ext uri="{FF2B5EF4-FFF2-40B4-BE49-F238E27FC236}">
                      <a16:creationId xmlns:a16="http://schemas.microsoft.com/office/drawing/2014/main" id="{9CFA1053-2575-AD9F-AAD2-A68AA6A69C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56">
                  <a:extLst>
                    <a:ext uri="{FF2B5EF4-FFF2-40B4-BE49-F238E27FC236}">
                      <a16:creationId xmlns:a16="http://schemas.microsoft.com/office/drawing/2014/main" id="{7B1B115D-6331-A0C7-820B-52F368A876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033" name="Rectangle 57" descr="60%">
              <a:extLst>
                <a:ext uri="{FF2B5EF4-FFF2-40B4-BE49-F238E27FC236}">
                  <a16:creationId xmlns:a16="http://schemas.microsoft.com/office/drawing/2014/main" id="{2CC7DA28-0D5D-8FF4-270E-84B7DCBBC7A2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4" name="Line 58">
              <a:extLst>
                <a:ext uri="{FF2B5EF4-FFF2-40B4-BE49-F238E27FC236}">
                  <a16:creationId xmlns:a16="http://schemas.microsoft.com/office/drawing/2014/main" id="{CDE37042-AE01-7342-BCFD-A22696CD1B08}"/>
                </a:ext>
              </a:extLst>
            </p:cNvPr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35" name="Group 59">
              <a:extLst>
                <a:ext uri="{FF2B5EF4-FFF2-40B4-BE49-F238E27FC236}">
                  <a16:creationId xmlns:a16="http://schemas.microsoft.com/office/drawing/2014/main" id="{95F1CC61-6152-BC06-8A3B-3A728BA735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60">
                <a:extLst>
                  <a:ext uri="{FF2B5EF4-FFF2-40B4-BE49-F238E27FC236}">
                    <a16:creationId xmlns:a16="http://schemas.microsoft.com/office/drawing/2014/main" id="{D86D2B30-50F8-4055-40B4-0B09DAC3C3FF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7" name="Line 61">
                <a:extLst>
                  <a:ext uri="{FF2B5EF4-FFF2-40B4-BE49-F238E27FC236}">
                    <a16:creationId xmlns:a16="http://schemas.microsoft.com/office/drawing/2014/main" id="{D6D0FC25-ED82-196D-ED35-C2CDAC17B879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8" name="Arc 62">
                <a:extLst>
                  <a:ext uri="{FF2B5EF4-FFF2-40B4-BE49-F238E27FC236}">
                    <a16:creationId xmlns:a16="http://schemas.microsoft.com/office/drawing/2014/main" id="{31A1C32F-D8E4-EDA2-77D7-6E1BC45FBAE1}"/>
                  </a:ext>
                </a:extLst>
              </p:cNvPr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027" name="Rectangle 63">
            <a:extLst>
              <a:ext uri="{FF2B5EF4-FFF2-40B4-BE49-F238E27FC236}">
                <a16:creationId xmlns:a16="http://schemas.microsoft.com/office/drawing/2014/main" id="{3921A361-140C-8D76-96D6-DE4C39123F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31422A3-BE06-7316-563E-B66D8480ED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61" name="Rectangle 65">
            <a:extLst>
              <a:ext uri="{FF2B5EF4-FFF2-40B4-BE49-F238E27FC236}">
                <a16:creationId xmlns:a16="http://schemas.microsoft.com/office/drawing/2014/main" id="{7FE35B74-BADC-EA2D-FE25-9183FBFD5F9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" y="6248400"/>
            <a:ext cx="3505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charset="0"/>
                <a:ea typeface="ＭＳ Ｐゴシック" charset="-128"/>
              </a:defRPr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4162" name="Rectangle 66">
            <a:extLst>
              <a:ext uri="{FF2B5EF4-FFF2-40B4-BE49-F238E27FC236}">
                <a16:creationId xmlns:a16="http://schemas.microsoft.com/office/drawing/2014/main" id="{CF93AF0E-B135-E262-880C-1D447344235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814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4163" name="Rectangle 67">
            <a:extLst>
              <a:ext uri="{FF2B5EF4-FFF2-40B4-BE49-F238E27FC236}">
                <a16:creationId xmlns:a16="http://schemas.microsoft.com/office/drawing/2014/main" id="{CC8330D6-A961-C493-DD26-53D88F3B036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A2CD3AA6-CCD1-4A39-980B-33D7B05B1C1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  <p:sldLayoutId id="2147483907" r:id="rId2"/>
    <p:sldLayoutId id="2147483908" r:id="rId3"/>
    <p:sldLayoutId id="2147483909" r:id="rId4"/>
    <p:sldLayoutId id="2147483910" r:id="rId5"/>
    <p:sldLayoutId id="2147483911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q"/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38B8A81-CE10-5EC2-FF0A-281A52D3177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6858000" cy="1143000"/>
          </a:xfrm>
        </p:spPr>
        <p:txBody>
          <a:bodyPr/>
          <a:lstStyle/>
          <a:p>
            <a:pPr eaLnBrk="1" hangingPunct="1"/>
            <a:r>
              <a:rPr lang="en-US" altLang="en-US"/>
              <a:t>Time-Domain Methods for Speech Processing</a:t>
            </a:r>
          </a:p>
        </p:txBody>
      </p:sp>
      <p:pic>
        <p:nvPicPr>
          <p:cNvPr id="5123" name="Picture 3">
            <a:extLst>
              <a:ext uri="{FF2B5EF4-FFF2-40B4-BE49-F238E27FC236}">
                <a16:creationId xmlns:a16="http://schemas.microsoft.com/office/drawing/2014/main" id="{32169BD7-3708-271A-D5CC-96517B4FA8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7271146C-1168-6830-9D5F-50352DE5C4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Contents</a:t>
            </a:r>
          </a:p>
        </p:txBody>
      </p:sp>
      <p:sp>
        <p:nvSpPr>
          <p:cNvPr id="7171" name="Tex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1F107CE-EFB0-BE01-FBED-A9A85F79AD9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7772400" cy="4114800"/>
          </a:xfrm>
        </p:spPr>
        <p:txBody>
          <a:bodyPr/>
          <a:lstStyle/>
          <a:p>
            <a:r>
              <a:rPr lang="en-US" altLang="en-US" sz="2000"/>
              <a:t>Short-Time Analysis of Speech</a:t>
            </a:r>
          </a:p>
          <a:p>
            <a:r>
              <a:rPr lang="en-US" altLang="en-US" sz="2000"/>
              <a:t>Short-Time Energy and Short-Time Magnitude</a:t>
            </a:r>
          </a:p>
          <a:p>
            <a:r>
              <a:rPr lang="en-US" altLang="en-US" sz="2000"/>
              <a:t>Short-Time Zero-Crossing Rate</a:t>
            </a:r>
          </a:p>
          <a:p>
            <a:r>
              <a:rPr lang="en-US" altLang="en-US" sz="2000"/>
              <a:t>The Short-Time Autocorrelation Function</a:t>
            </a:r>
          </a:p>
          <a:p>
            <a:r>
              <a:rPr lang="en-US" altLang="en-US" sz="2000"/>
              <a:t>The Modified Short-Time Autocorrelation Function</a:t>
            </a:r>
          </a:p>
          <a:p>
            <a:r>
              <a:rPr lang="en-US" altLang="en-US" sz="2000"/>
              <a:t>The Short-Time Average Magnitude Difference Function</a:t>
            </a:r>
          </a:p>
        </p:txBody>
      </p:sp>
      <p:sp>
        <p:nvSpPr>
          <p:cNvPr id="7172" name="Slide Number Placeholder 5">
            <a:extLst>
              <a:ext uri="{FF2B5EF4-FFF2-40B4-BE49-F238E27FC236}">
                <a16:creationId xmlns:a16="http://schemas.microsoft.com/office/drawing/2014/main" id="{F4DDAA9C-0961-D8DC-0D7D-8110D12B2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9402703-0EE0-4AA6-8281-1001135333F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/>
          </a:p>
        </p:txBody>
      </p:sp>
      <p:pic>
        <p:nvPicPr>
          <p:cNvPr id="7173" name="Picture 4">
            <a:extLst>
              <a:ext uri="{FF2B5EF4-FFF2-40B4-BE49-F238E27FC236}">
                <a16:creationId xmlns:a16="http://schemas.microsoft.com/office/drawing/2014/main" id="{C07A7C26-D895-43D1-5003-69539DCF52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0AA5EDC-7BA9-19F1-8040-5C2D00A0CE8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6477000" cy="1143000"/>
          </a:xfrm>
        </p:spPr>
        <p:txBody>
          <a:bodyPr/>
          <a:lstStyle/>
          <a:p>
            <a:pPr eaLnBrk="1" hangingPunct="1"/>
            <a:r>
              <a:rPr lang="en-US" altLang="en-US"/>
              <a:t>Short-Time Analysis of Speech</a:t>
            </a:r>
          </a:p>
        </p:txBody>
      </p:sp>
      <p:pic>
        <p:nvPicPr>
          <p:cNvPr id="8195" name="Picture 3">
            <a:extLst>
              <a:ext uri="{FF2B5EF4-FFF2-40B4-BE49-F238E27FC236}">
                <a16:creationId xmlns:a16="http://schemas.microsoft.com/office/drawing/2014/main" id="{9934C153-4BBB-6252-F199-B7540B2C90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B39E3309-3528-3A2A-4C03-A61390C75D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4000"/>
              <a:t>Short-Time Analysis of Speech</a:t>
            </a:r>
          </a:p>
        </p:txBody>
      </p:sp>
      <p:sp>
        <p:nvSpPr>
          <p:cNvPr id="10243" name="Slide Number Placeholder 5">
            <a:extLst>
              <a:ext uri="{FF2B5EF4-FFF2-40B4-BE49-F238E27FC236}">
                <a16:creationId xmlns:a16="http://schemas.microsoft.com/office/drawing/2014/main" id="{437C55B8-DA9E-1C58-FF6C-A3A238C5D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39811D2-E582-4561-89D3-A89C6DCF130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400"/>
          </a:p>
        </p:txBody>
      </p:sp>
      <p:sp>
        <p:nvSpPr>
          <p:cNvPr id="10244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ABCB3138-0736-2C1F-20CB-3C2AFCBAE2A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685800"/>
          </a:xfrm>
        </p:spPr>
        <p:txBody>
          <a:bodyPr/>
          <a:lstStyle/>
          <a:p>
            <a:r>
              <a:rPr lang="en-US" altLang="en-US" sz="2000" b="1"/>
              <a:t>Introduction to  time-domain methods for analyzing speech signals</a:t>
            </a:r>
          </a:p>
          <a:p>
            <a:endParaRPr lang="vi-VN" altLang="en-US" sz="2000" b="1"/>
          </a:p>
        </p:txBody>
      </p:sp>
      <p:pic>
        <p:nvPicPr>
          <p:cNvPr id="10245" name="Picture 5">
            <a:extLst>
              <a:ext uri="{FF2B5EF4-FFF2-40B4-BE49-F238E27FC236}">
                <a16:creationId xmlns:a16="http://schemas.microsoft.com/office/drawing/2014/main" id="{32301F9A-BFDE-E49F-19D1-BEDEB80D7C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239CE7-5657-6EEE-C71D-A8D9367E7D12}"/>
              </a:ext>
            </a:extLst>
          </p:cNvPr>
          <p:cNvSpPr txBox="1"/>
          <p:nvPr/>
        </p:nvSpPr>
        <p:spPr>
          <a:xfrm>
            <a:off x="914400" y="2438400"/>
            <a:ext cx="7848600" cy="37544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400"/>
              <a:t>Time-domain methods directly analyze speech signals in the time dimension without converting them into frequency components. Key techniques include:</a:t>
            </a:r>
          </a:p>
          <a:p>
            <a:pPr>
              <a:defRPr/>
            </a:pPr>
            <a:endParaRPr lang="en-US" sz="1400"/>
          </a:p>
          <a:p>
            <a:pPr marL="342900" indent="-342900">
              <a:buFont typeface="+mj-lt"/>
              <a:buAutoNum type="arabicPeriod"/>
              <a:defRPr/>
            </a:pPr>
            <a:r>
              <a:rPr lang="en-US" sz="1400"/>
              <a:t>Waveform Representation: Speech signals are represented as waveforms showing amplitude variations over time.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US" sz="1400"/>
              <a:t>Segmentation: Identifying boundaries between phonetic units (e.g., phonemes, syllables) based on signal characteristics.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US" sz="1400"/>
              <a:t>Time-domain Features: This method extracts features like amplitude, zero-crossing rate, energy, and pitch directly from the signal.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US" sz="1400"/>
              <a:t>Windowing and Framing: Analyzing speech in short-time windows using window functions (e.g., Hamming) for localized analysis.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US" sz="1400"/>
              <a:t>Time-domain Filtering: This involves applying filters (e.g., low-pass, high-pass) directly to the speech signal to reduce or enhance noise.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US" sz="1400"/>
              <a:t>Time-domain Processing: Techniques like time-warping, time scaling, and pitch modification to alter speech characteristics.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US" sz="1400"/>
              <a:t>Speech Recognition and Synthesis: Basis for speech recognition and synthesis systems by analyzing temporal speech patterns.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9ADFA7B7-F0F8-9239-9F17-7638379CF8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4000"/>
              <a:t>Short-Time Analysis of Speech</a:t>
            </a:r>
          </a:p>
        </p:txBody>
      </p:sp>
      <p:sp>
        <p:nvSpPr>
          <p:cNvPr id="12291" name="Slide Number Placeholder 5">
            <a:extLst>
              <a:ext uri="{FF2B5EF4-FFF2-40B4-BE49-F238E27FC236}">
                <a16:creationId xmlns:a16="http://schemas.microsoft.com/office/drawing/2014/main" id="{5172247F-D54F-89D4-DB0B-7A29A6F9B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51F10EE-BE7C-4EFA-B546-8B7854E7868F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400"/>
          </a:p>
        </p:txBody>
      </p:sp>
      <p:sp>
        <p:nvSpPr>
          <p:cNvPr id="1229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1D035EB-33D3-D2EA-460B-A0492E928B7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685800"/>
          </a:xfrm>
        </p:spPr>
        <p:txBody>
          <a:bodyPr/>
          <a:lstStyle/>
          <a:p>
            <a:r>
              <a:rPr lang="en-US" altLang="en-US" sz="2000" b="1"/>
              <a:t>Speech Signal Characteristics</a:t>
            </a:r>
          </a:p>
          <a:p>
            <a:endParaRPr lang="vi-VN" altLang="en-US" sz="2000" b="1"/>
          </a:p>
        </p:txBody>
      </p:sp>
      <p:pic>
        <p:nvPicPr>
          <p:cNvPr id="12293" name="Picture 5">
            <a:extLst>
              <a:ext uri="{FF2B5EF4-FFF2-40B4-BE49-F238E27FC236}">
                <a16:creationId xmlns:a16="http://schemas.microsoft.com/office/drawing/2014/main" id="{F05AC005-80DC-91EC-6448-7DC55FC7B5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4" name="TextBox 6">
            <a:extLst>
              <a:ext uri="{FF2B5EF4-FFF2-40B4-BE49-F238E27FC236}">
                <a16:creationId xmlns:a16="http://schemas.microsoft.com/office/drawing/2014/main" id="{D1FD3CD5-6B70-99E2-7185-8A6E6AD521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438400"/>
            <a:ext cx="7848600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altLang="en-US" sz="1800"/>
              <a:t>Speech signals are time-varying waveforms produced by the vocal tract.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altLang="en-US" sz="1800"/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1800"/>
              <a:t>Key components of speech include phonemes (distinct sounds), prosody (intonation, rhythm), and non-stationary characteristics.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altLang="en-US" sz="1800"/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1800"/>
              <a:t>Time-domain representation: Waveform plot showing amplitude variation over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62DBA0EA-7300-4491-1B27-1596D78AC5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4000"/>
              <a:t>Short-Time Analysis of Speech</a:t>
            </a:r>
          </a:p>
        </p:txBody>
      </p:sp>
      <p:sp>
        <p:nvSpPr>
          <p:cNvPr id="14339" name="Slide Number Placeholder 5">
            <a:extLst>
              <a:ext uri="{FF2B5EF4-FFF2-40B4-BE49-F238E27FC236}">
                <a16:creationId xmlns:a16="http://schemas.microsoft.com/office/drawing/2014/main" id="{7A415F5E-0846-A825-D6E4-6977102A7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81B6E51-C1CD-4EE3-A676-3F8E9762986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/>
          </a:p>
        </p:txBody>
      </p:sp>
      <p:sp>
        <p:nvSpPr>
          <p:cNvPr id="14340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52DC978-3EF2-8116-ED28-F65D9320A6E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685800"/>
          </a:xfrm>
        </p:spPr>
        <p:txBody>
          <a:bodyPr/>
          <a:lstStyle/>
          <a:p>
            <a:r>
              <a:rPr lang="en-US" altLang="en-US" sz="2000" b="1"/>
              <a:t>Short-Time Analysis</a:t>
            </a:r>
          </a:p>
          <a:p>
            <a:endParaRPr lang="vi-VN" altLang="en-US" sz="2000" b="1"/>
          </a:p>
        </p:txBody>
      </p:sp>
      <p:pic>
        <p:nvPicPr>
          <p:cNvPr id="14341" name="Picture 5">
            <a:extLst>
              <a:ext uri="{FF2B5EF4-FFF2-40B4-BE49-F238E27FC236}">
                <a16:creationId xmlns:a16="http://schemas.microsoft.com/office/drawing/2014/main" id="{AEC54082-6FE6-475C-BE7E-23E7269A2B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2" name="TextBox 6">
            <a:extLst>
              <a:ext uri="{FF2B5EF4-FFF2-40B4-BE49-F238E27FC236}">
                <a16:creationId xmlns:a16="http://schemas.microsoft.com/office/drawing/2014/main" id="{96BE401B-DDBA-A252-6BF1-460A759A46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438400"/>
            <a:ext cx="78486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altLang="en-US" sz="1800"/>
              <a:t>Short-time analysis is a fundamental technique used in signal processing, particularly in analyzing time-varying signals like speech. </a:t>
            </a:r>
          </a:p>
          <a:p>
            <a:pPr>
              <a:buFont typeface="Wingdings" panose="05000000000000000000" pitchFamily="2" charset="2"/>
              <a:buChar char="q"/>
            </a:pPr>
            <a:endParaRPr lang="en-US" altLang="en-US" sz="1800"/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1800"/>
              <a:t>It involves breaking down a continuous signal into short segments or frames and analyzing each segment separately.</a:t>
            </a:r>
          </a:p>
        </p:txBody>
      </p:sp>
      <p:sp>
        <p:nvSpPr>
          <p:cNvPr id="14343" name="TextBox 2">
            <a:extLst>
              <a:ext uri="{FF2B5EF4-FFF2-40B4-BE49-F238E27FC236}">
                <a16:creationId xmlns:a16="http://schemas.microsoft.com/office/drawing/2014/main" id="{527C24BE-6BA6-914E-F0F7-263AC89F0A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998913"/>
            <a:ext cx="6202363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 b="1"/>
              <a:t>Windowing</a:t>
            </a:r>
            <a:r>
              <a:rPr lang="en-US" altLang="en-US" sz="1400"/>
              <a:t>: Apply a window function (e.g., Hamming) to each frame to taper the signal's edges, reducing spectral leakage during analysis.</a:t>
            </a:r>
          </a:p>
          <a:p>
            <a:r>
              <a:rPr lang="en-US" altLang="en-US" sz="1400" b="1"/>
              <a:t>Segmentation into Frames</a:t>
            </a:r>
            <a:r>
              <a:rPr lang="en-US" altLang="en-US" sz="1400"/>
              <a:t>: Divide the signal into overlapping or non-overlapping frames of fixed duration to capture temporal dynamics.</a:t>
            </a:r>
          </a:p>
          <a:p>
            <a:r>
              <a:rPr lang="en-US" altLang="en-US" sz="1400" b="1"/>
              <a:t>Time-Domain Analysis</a:t>
            </a:r>
            <a:r>
              <a:rPr lang="en-US" altLang="en-US" sz="1400"/>
              <a:t>: Extract features (e.g., amplitude, energy, pitch) from each frame to understand how signal characteristics change over time.</a:t>
            </a:r>
          </a:p>
          <a:p>
            <a:r>
              <a:rPr lang="en-US" altLang="en-US" sz="1400" b="1"/>
              <a:t>Frequency-Domain Analysis</a:t>
            </a:r>
            <a:r>
              <a:rPr lang="en-US" altLang="en-US" sz="1400"/>
              <a:t>: Optionally, transform each frame into the frequency domain using FFT to analyze frequency components.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02B2EF00-5795-4B4E-178F-307E1276A0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4000"/>
              <a:t>Short-Time Analysis of Speech</a:t>
            </a:r>
          </a:p>
        </p:txBody>
      </p:sp>
      <p:sp>
        <p:nvSpPr>
          <p:cNvPr id="16387" name="Slide Number Placeholder 5">
            <a:extLst>
              <a:ext uri="{FF2B5EF4-FFF2-40B4-BE49-F238E27FC236}">
                <a16:creationId xmlns:a16="http://schemas.microsoft.com/office/drawing/2014/main" id="{05A52962-76DB-E39B-610F-431B9DF39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DDF91B0-5EB9-4721-B82C-9FB32F842B42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400"/>
          </a:p>
        </p:txBody>
      </p:sp>
      <p:sp>
        <p:nvSpPr>
          <p:cNvPr id="1638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4704112E-167E-D6BD-4B3C-E43C3181C8A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685800"/>
          </a:xfrm>
        </p:spPr>
        <p:txBody>
          <a:bodyPr/>
          <a:lstStyle/>
          <a:p>
            <a:r>
              <a:rPr lang="en-US" altLang="en-US" sz="2000" b="1"/>
              <a:t>Steps to Compute MFCCs</a:t>
            </a:r>
          </a:p>
          <a:p>
            <a:endParaRPr lang="vi-VN" altLang="en-US" sz="2000" b="1"/>
          </a:p>
        </p:txBody>
      </p:sp>
      <p:pic>
        <p:nvPicPr>
          <p:cNvPr id="16389" name="Picture 5">
            <a:extLst>
              <a:ext uri="{FF2B5EF4-FFF2-40B4-BE49-F238E27FC236}">
                <a16:creationId xmlns:a16="http://schemas.microsoft.com/office/drawing/2014/main" id="{C3536718-6246-664F-FAD1-19B2DBDD64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DB8EA6-C3A9-976B-F56C-1FA3C2E2B231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38201" y="2247662"/>
            <a:ext cx="3657600" cy="4093428"/>
          </a:xfrm>
          <a:prstGeom prst="rect">
            <a:avLst/>
          </a:prstGeom>
          <a:blipFill>
            <a:blip r:embed="rId4"/>
            <a:stretch>
              <a:fillRect l="-333" r="-1333" b="-447"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762D42-3D09-8ECF-088E-EA7E98ABC178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800600" y="2247662"/>
            <a:ext cx="3657600" cy="4301562"/>
          </a:xfrm>
          <a:prstGeom prst="rect">
            <a:avLst/>
          </a:prstGeom>
          <a:blipFill>
            <a:blip r:embed="rId5"/>
            <a:stretch>
              <a:fillRect l="-333" r="-1333" b="-426"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BA4B1621-6197-7412-FC1F-285A9F2EF3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Short-Time Analysis of Speech</a:t>
            </a:r>
          </a:p>
        </p:txBody>
      </p:sp>
      <p:sp>
        <p:nvSpPr>
          <p:cNvPr id="18435" name="Tex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37121EA-4ED9-1401-5206-511C4F7B95D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7543800" cy="457200"/>
          </a:xfrm>
        </p:spPr>
        <p:txBody>
          <a:bodyPr/>
          <a:lstStyle/>
          <a:p>
            <a:r>
              <a:rPr lang="en-US" altLang="en-US" sz="2000" b="1"/>
              <a:t>Practical Assignment</a:t>
            </a:r>
          </a:p>
        </p:txBody>
      </p:sp>
      <p:sp>
        <p:nvSpPr>
          <p:cNvPr id="18436" name="Slide Number Placeholder 4">
            <a:extLst>
              <a:ext uri="{FF2B5EF4-FFF2-40B4-BE49-F238E27FC236}">
                <a16:creationId xmlns:a16="http://schemas.microsoft.com/office/drawing/2014/main" id="{5AE23CAB-C782-763E-8546-1D15187BB7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E3914F5-B233-48B2-8FE9-4DE954EF85A8}" type="slidenum">
              <a:rPr lang="en-US" altLang="en-US" sz="1400" smtClean="0"/>
              <a:pPr/>
              <a:t>8</a:t>
            </a:fld>
            <a:endParaRPr lang="en-US" altLang="en-US" sz="1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53568E-AB42-3F8D-4E97-65DB8C5FF281}"/>
              </a:ext>
            </a:extLst>
          </p:cNvPr>
          <p:cNvSpPr txBox="1"/>
          <p:nvPr/>
        </p:nvSpPr>
        <p:spPr>
          <a:xfrm>
            <a:off x="914400" y="2438400"/>
            <a:ext cx="7848600" cy="28622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800" b="1"/>
              <a:t>Task: </a:t>
            </a:r>
            <a:r>
              <a:rPr lang="en-US" sz="1800"/>
              <a:t>Implement short-time analysis techniques on a speech dataset.</a:t>
            </a:r>
          </a:p>
          <a:p>
            <a:pPr>
              <a:defRPr/>
            </a:pPr>
            <a:endParaRPr lang="en-US" sz="1800" b="1"/>
          </a:p>
          <a:p>
            <a:pPr>
              <a:defRPr/>
            </a:pPr>
            <a:r>
              <a:rPr lang="en-US" sz="1800" b="1"/>
              <a:t>Dataset: </a:t>
            </a:r>
            <a:r>
              <a:rPr lang="en-US" sz="1800"/>
              <a:t>Provide a sample speech dataset containing multiple audio files.</a:t>
            </a:r>
          </a:p>
          <a:p>
            <a:pPr>
              <a:defRPr/>
            </a:pPr>
            <a:endParaRPr lang="en-US" sz="1800" b="1"/>
          </a:p>
          <a:p>
            <a:pPr>
              <a:defRPr/>
            </a:pPr>
            <a:r>
              <a:rPr lang="en-US" sz="1800" b="1"/>
              <a:t>Steps: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US" sz="1800"/>
              <a:t>Load speech audio files and preprocess using Librosa.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US" sz="1800"/>
              <a:t>Compute and visualize spectrograms for each speech signal.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US" sz="1800"/>
              <a:t>Extract MFCC features from the spectrograms.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US" sz="1800"/>
              <a:t>Perform basic speech classification using MFCCs (e.g., distinguishing different speakers or speech vs. non-speech).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B79126C8-371E-7186-5797-25A257526A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F768A972-8C70-003E-F012-D728B235E3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Short-Time Analysis of Speech</a:t>
            </a:r>
          </a:p>
        </p:txBody>
      </p:sp>
      <p:sp>
        <p:nvSpPr>
          <p:cNvPr id="19459" name="Tex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A3CD6A14-C913-53AE-F1A0-F869AD95F57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7543800" cy="457200"/>
          </a:xfrm>
        </p:spPr>
        <p:txBody>
          <a:bodyPr/>
          <a:lstStyle/>
          <a:p>
            <a:r>
              <a:rPr lang="en-US" altLang="en-US" sz="2000" b="1"/>
              <a:t>Practical Assignment (Solution)</a:t>
            </a:r>
          </a:p>
        </p:txBody>
      </p:sp>
      <p:sp>
        <p:nvSpPr>
          <p:cNvPr id="19460" name="Slide Number Placeholder 4">
            <a:extLst>
              <a:ext uri="{FF2B5EF4-FFF2-40B4-BE49-F238E27FC236}">
                <a16:creationId xmlns:a16="http://schemas.microsoft.com/office/drawing/2014/main" id="{3C6DF42F-1918-8968-6DB2-02C1049482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C3EF525-CB73-4A24-A66C-19177461779B}" type="slidenum">
              <a:rPr lang="en-US" altLang="en-US" sz="1400" smtClean="0"/>
              <a:pPr/>
              <a:t>9</a:t>
            </a:fld>
            <a:endParaRPr lang="en-US" altLang="en-US" sz="1400"/>
          </a:p>
        </p:txBody>
      </p:sp>
      <p:pic>
        <p:nvPicPr>
          <p:cNvPr id="19461" name="Picture 6">
            <a:extLst>
              <a:ext uri="{FF2B5EF4-FFF2-40B4-BE49-F238E27FC236}">
                <a16:creationId xmlns:a16="http://schemas.microsoft.com/office/drawing/2014/main" id="{43E08220-BBC8-63C3-0164-D0ED6A5F30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4925" y="2347913"/>
            <a:ext cx="5364163" cy="4357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DF6D2E03-5B8D-64AA-EFF7-E4F07D29E6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A88D7072-E4EC-82BF-9EE5-9B40E7ED416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6477000" cy="1143000"/>
          </a:xfrm>
        </p:spPr>
        <p:txBody>
          <a:bodyPr/>
          <a:lstStyle/>
          <a:p>
            <a:pPr eaLnBrk="1" hangingPunct="1"/>
            <a:r>
              <a:rPr lang="en-US" altLang="en-US"/>
              <a:t>Short-Time Energy and Short-Time Magnitude</a:t>
            </a:r>
          </a:p>
        </p:txBody>
      </p:sp>
      <p:pic>
        <p:nvPicPr>
          <p:cNvPr id="20483" name="Picture 3">
            <a:extLst>
              <a:ext uri="{FF2B5EF4-FFF2-40B4-BE49-F238E27FC236}">
                <a16:creationId xmlns:a16="http://schemas.microsoft.com/office/drawing/2014/main" id="{4E431F7B-E246-C0EC-6EDC-36D9460D1F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1BBB6AE8-6B56-92A7-5C00-42E01C6691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01000" cy="1143000"/>
          </a:xfrm>
        </p:spPr>
        <p:txBody>
          <a:bodyPr/>
          <a:lstStyle/>
          <a:p>
            <a:r>
              <a:rPr lang="en-US" altLang="en-US" sz="3000"/>
              <a:t>Short-Time Energy and Short-Time Magnitude</a:t>
            </a:r>
          </a:p>
        </p:txBody>
      </p:sp>
      <p:sp>
        <p:nvSpPr>
          <p:cNvPr id="22531" name="Tex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8BEEFAD-04F4-110A-85AA-5C8C2BBA998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7543800" cy="457200"/>
          </a:xfrm>
        </p:spPr>
        <p:txBody>
          <a:bodyPr/>
          <a:lstStyle/>
          <a:p>
            <a:r>
              <a:rPr lang="en-US" altLang="en-US" sz="2000" b="1"/>
              <a:t>Introduction</a:t>
            </a:r>
          </a:p>
        </p:txBody>
      </p:sp>
      <p:sp>
        <p:nvSpPr>
          <p:cNvPr id="22532" name="Slide Number Placeholder 4">
            <a:extLst>
              <a:ext uri="{FF2B5EF4-FFF2-40B4-BE49-F238E27FC236}">
                <a16:creationId xmlns:a16="http://schemas.microsoft.com/office/drawing/2014/main" id="{0D0272B7-5423-F016-ED6E-25EA2E1EE2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2C00C11-D16E-428A-B39B-2092A648D52A}" type="slidenum">
              <a:rPr lang="en-US" altLang="en-US" sz="1400" smtClean="0"/>
              <a:pPr/>
              <a:t>11</a:t>
            </a:fld>
            <a:endParaRPr lang="en-US" altLang="en-US" sz="1400"/>
          </a:p>
        </p:txBody>
      </p:sp>
      <p:sp>
        <p:nvSpPr>
          <p:cNvPr id="22533" name="TextBox 5">
            <a:extLst>
              <a:ext uri="{FF2B5EF4-FFF2-40B4-BE49-F238E27FC236}">
                <a16:creationId xmlns:a16="http://schemas.microsoft.com/office/drawing/2014/main" id="{21E61083-9696-7B54-DE76-C5F4D5BE3D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438400"/>
            <a:ext cx="7848600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/>
              <a:t>Short-Time Energy (STE) and Short-Time Magnitude (STM) are fundamental time-domain features in speech processing, providing valuable insights into the temporal characteristics of speech signals.</a:t>
            </a:r>
          </a:p>
          <a:p>
            <a:endParaRPr lang="en-US" altLang="en-US" sz="1800"/>
          </a:p>
          <a:p>
            <a:r>
              <a:rPr lang="en-US" altLang="en-US" sz="1800"/>
              <a:t>Their ability to capture energy and amplitude variations makes them indispensable in various speech-processing applications, from voice activity detection to speaker recognition. </a:t>
            </a:r>
          </a:p>
          <a:p>
            <a:endParaRPr lang="en-US" altLang="en-US" sz="1800"/>
          </a:p>
          <a:p>
            <a:r>
              <a:rPr lang="en-US" altLang="en-US" sz="1800"/>
              <a:t>Understanding and effectively utilizing these features are essential for advancing speech technology.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BA4C1191-4E44-F0D1-FB97-D8969BE5E2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B382B873-61FB-B523-B1FA-44CE3C91EA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01000" cy="1143000"/>
          </a:xfrm>
        </p:spPr>
        <p:txBody>
          <a:bodyPr/>
          <a:lstStyle/>
          <a:p>
            <a:r>
              <a:rPr lang="en-US" altLang="en-US" sz="3000"/>
              <a:t>Short-Time Energy and Short-Time Magnitude</a:t>
            </a:r>
          </a:p>
        </p:txBody>
      </p:sp>
      <p:sp>
        <p:nvSpPr>
          <p:cNvPr id="23555" name="Tex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993B9F7-F3C6-BCBE-02AF-CA617833AC4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7543800" cy="457200"/>
          </a:xfrm>
        </p:spPr>
        <p:txBody>
          <a:bodyPr/>
          <a:lstStyle/>
          <a:p>
            <a:r>
              <a:rPr lang="en-US" altLang="en-US" sz="2000" b="1"/>
              <a:t>Definition and Calculation of Short-Time Energy (STE)</a:t>
            </a:r>
          </a:p>
        </p:txBody>
      </p:sp>
      <p:sp>
        <p:nvSpPr>
          <p:cNvPr id="23556" name="Slide Number Placeholder 4">
            <a:extLst>
              <a:ext uri="{FF2B5EF4-FFF2-40B4-BE49-F238E27FC236}">
                <a16:creationId xmlns:a16="http://schemas.microsoft.com/office/drawing/2014/main" id="{E3B89156-A82F-FA9B-E92F-6A496C9B80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5358543-39DD-4F29-B906-204468D5A831}" type="slidenum">
              <a:rPr lang="en-US" altLang="en-US" sz="1400" smtClean="0"/>
              <a:pPr/>
              <a:t>12</a:t>
            </a:fld>
            <a:endParaRPr lang="en-US" altLang="en-US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270566-092A-8A94-EAFA-6A31DA2D84C2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38200" y="2453422"/>
            <a:ext cx="7848600" cy="2502673"/>
          </a:xfrm>
          <a:prstGeom prst="rect">
            <a:avLst/>
          </a:prstGeom>
          <a:blipFill>
            <a:blip r:embed="rId2"/>
            <a:stretch>
              <a:fillRect l="-699" t="-1217" b="-2676"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C37FE192-DF03-7A69-3833-B228AE696C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5EEA9CF1-1313-7345-DCD8-FAEC14FBFF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01000" cy="1143000"/>
          </a:xfrm>
        </p:spPr>
        <p:txBody>
          <a:bodyPr/>
          <a:lstStyle/>
          <a:p>
            <a:r>
              <a:rPr lang="en-US" altLang="en-US" sz="3000"/>
              <a:t>Short-Time Energy and Short-Time Magnitude</a:t>
            </a:r>
          </a:p>
        </p:txBody>
      </p:sp>
      <p:sp>
        <p:nvSpPr>
          <p:cNvPr id="24579" name="Tex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24873C8-58A6-305E-DD78-0BCC9111ACE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7543800" cy="457200"/>
          </a:xfrm>
        </p:spPr>
        <p:txBody>
          <a:bodyPr/>
          <a:lstStyle/>
          <a:p>
            <a:r>
              <a:rPr lang="en-US" altLang="en-US" sz="2000" b="1"/>
              <a:t>Definition and Calculation of Short-Time Energy (STE)</a:t>
            </a:r>
          </a:p>
        </p:txBody>
      </p:sp>
      <p:sp>
        <p:nvSpPr>
          <p:cNvPr id="24580" name="Slide Number Placeholder 4">
            <a:extLst>
              <a:ext uri="{FF2B5EF4-FFF2-40B4-BE49-F238E27FC236}">
                <a16:creationId xmlns:a16="http://schemas.microsoft.com/office/drawing/2014/main" id="{185C7106-3B66-DA38-1D52-24218D5747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5086DB3-E136-43C7-B7DC-365966BCE8B2}" type="slidenum">
              <a:rPr lang="en-US" altLang="en-US" sz="1400" smtClean="0"/>
              <a:pPr/>
              <a:t>13</a:t>
            </a:fld>
            <a:endParaRPr lang="en-US" altLang="en-US" sz="1400"/>
          </a:p>
        </p:txBody>
      </p:sp>
      <p:sp>
        <p:nvSpPr>
          <p:cNvPr id="24581" name="TextBox 3">
            <a:extLst>
              <a:ext uri="{FF2B5EF4-FFF2-40B4-BE49-F238E27FC236}">
                <a16:creationId xmlns:a16="http://schemas.microsoft.com/office/drawing/2014/main" id="{D5388F87-66DE-3EC1-FC2C-0E50E756B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452688"/>
            <a:ext cx="7848600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/>
              <a:t>The speech signal is divided into short, overlapping frames to compute STE. The energy within each frame is then calculated. Here’s the step-by-step process.</a:t>
            </a:r>
          </a:p>
          <a:p>
            <a:endParaRPr lang="en-US" altLang="en-US" sz="1800"/>
          </a:p>
          <a:p>
            <a:endParaRPr lang="en-US" altLang="en-US" sz="1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177EB1-2188-51AB-D8E5-E1A371AA5057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38200" y="3439964"/>
            <a:ext cx="7543800" cy="2503249"/>
          </a:xfrm>
          <a:prstGeom prst="rect">
            <a:avLst/>
          </a:prstGeom>
          <a:blipFill>
            <a:blip r:embed="rId2"/>
            <a:stretch>
              <a:fillRect l="-243" t="-243" b="-17518"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D0C4BAB3-89C5-5059-2EBB-9D3D229805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20CE9261-F0AE-BA18-01CC-1FE79A7EA0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01000" cy="1143000"/>
          </a:xfrm>
        </p:spPr>
        <p:txBody>
          <a:bodyPr/>
          <a:lstStyle/>
          <a:p>
            <a:r>
              <a:rPr lang="en-US" altLang="en-US" sz="3000"/>
              <a:t>Short-Time Energy and Short-Time Magnitude</a:t>
            </a:r>
          </a:p>
        </p:txBody>
      </p:sp>
      <p:sp>
        <p:nvSpPr>
          <p:cNvPr id="25603" name="Tex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DD84835-52F7-F63D-4E10-2D5D3AA2762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7543800" cy="457200"/>
          </a:xfrm>
        </p:spPr>
        <p:txBody>
          <a:bodyPr/>
          <a:lstStyle/>
          <a:p>
            <a:r>
              <a:rPr lang="en-US" altLang="en-US" sz="2000" b="1"/>
              <a:t>Definition and Calculation of Short-Time Energy (STE)</a:t>
            </a:r>
          </a:p>
        </p:txBody>
      </p:sp>
      <p:sp>
        <p:nvSpPr>
          <p:cNvPr id="25604" name="Slide Number Placeholder 4">
            <a:extLst>
              <a:ext uri="{FF2B5EF4-FFF2-40B4-BE49-F238E27FC236}">
                <a16:creationId xmlns:a16="http://schemas.microsoft.com/office/drawing/2014/main" id="{AB40EAF7-8CCB-5FFE-1F9B-2716FB9C5F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EB83F75-A99C-4D88-8137-51901438E506}" type="slidenum">
              <a:rPr lang="en-US" altLang="en-US" sz="1400" smtClean="0"/>
              <a:pPr/>
              <a:t>14</a:t>
            </a:fld>
            <a:endParaRPr lang="en-US" altLang="en-US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752942-25BE-D713-D54F-8DD01470E016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38200" y="2453422"/>
            <a:ext cx="7848600" cy="3970318"/>
          </a:xfrm>
          <a:prstGeom prst="rect">
            <a:avLst/>
          </a:prstGeom>
          <a:blipFill>
            <a:blip r:embed="rId2"/>
            <a:stretch>
              <a:fillRect l="-699" t="-767"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B67BFB42-8BC9-77C6-22B9-57AA17B248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C58C45AC-E9FA-B949-8912-3D55355003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01000" cy="1143000"/>
          </a:xfrm>
        </p:spPr>
        <p:txBody>
          <a:bodyPr/>
          <a:lstStyle/>
          <a:p>
            <a:r>
              <a:rPr lang="en-US" altLang="en-US" sz="3000"/>
              <a:t>Short-Time Energy and Short-Time Magnitude</a:t>
            </a:r>
          </a:p>
        </p:txBody>
      </p:sp>
      <p:sp>
        <p:nvSpPr>
          <p:cNvPr id="26627" name="Tex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2DBD918-024E-C48F-7510-A81016E312C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8001000" cy="457200"/>
          </a:xfrm>
        </p:spPr>
        <p:txBody>
          <a:bodyPr/>
          <a:lstStyle/>
          <a:p>
            <a:r>
              <a:rPr lang="en-US" altLang="en-US" sz="2000" b="1"/>
              <a:t>Definition and Calculation of Short-Time Magnitude (STM)</a:t>
            </a:r>
          </a:p>
        </p:txBody>
      </p:sp>
      <p:sp>
        <p:nvSpPr>
          <p:cNvPr id="26628" name="Slide Number Placeholder 4">
            <a:extLst>
              <a:ext uri="{FF2B5EF4-FFF2-40B4-BE49-F238E27FC236}">
                <a16:creationId xmlns:a16="http://schemas.microsoft.com/office/drawing/2014/main" id="{864A3F22-C0CC-74A9-2333-CF04BA1318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4FA1380-C305-4A9E-8229-DFAB94F1C1AC}" type="slidenum">
              <a:rPr lang="en-US" altLang="en-US" sz="1400" smtClean="0"/>
              <a:pPr/>
              <a:t>15</a:t>
            </a:fld>
            <a:endParaRPr lang="en-US" altLang="en-US" sz="1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927E2F-D7AC-C5D8-532A-4BBF83692A49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38200" y="2438400"/>
            <a:ext cx="7848600" cy="3056671"/>
          </a:xfrm>
          <a:prstGeom prst="rect">
            <a:avLst/>
          </a:prstGeom>
          <a:blipFill>
            <a:blip r:embed="rId2"/>
            <a:stretch>
              <a:fillRect l="-699" t="-998" r="-1399"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8C8EDA62-FDEE-48A5-83F0-49054FEBDD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F85D3701-CB00-0F08-A85B-F02E39DC80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01000" cy="1143000"/>
          </a:xfrm>
        </p:spPr>
        <p:txBody>
          <a:bodyPr/>
          <a:lstStyle/>
          <a:p>
            <a:r>
              <a:rPr lang="en-US" altLang="en-US" sz="3000"/>
              <a:t>Short-Time Energy and Short-Time Magnitude</a:t>
            </a:r>
          </a:p>
        </p:txBody>
      </p:sp>
      <p:sp>
        <p:nvSpPr>
          <p:cNvPr id="27651" name="Tex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200CBC3-F5A6-AB5F-7394-A1A2232B09F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8001000" cy="457200"/>
          </a:xfrm>
        </p:spPr>
        <p:txBody>
          <a:bodyPr/>
          <a:lstStyle/>
          <a:p>
            <a:r>
              <a:rPr lang="en-US" altLang="en-US" sz="2000" b="1"/>
              <a:t>Definition and Calculation of Short-Time Magnitude (STM)</a:t>
            </a:r>
          </a:p>
        </p:txBody>
      </p:sp>
      <p:sp>
        <p:nvSpPr>
          <p:cNvPr id="27652" name="Slide Number Placeholder 4">
            <a:extLst>
              <a:ext uri="{FF2B5EF4-FFF2-40B4-BE49-F238E27FC236}">
                <a16:creationId xmlns:a16="http://schemas.microsoft.com/office/drawing/2014/main" id="{A09B2646-8760-02A6-D80C-D2E7E2C601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987A84A-C871-4FC4-98F2-43DD7B1CCCF2}" type="slidenum">
              <a:rPr lang="en-US" altLang="en-US" sz="1400" smtClean="0"/>
              <a:pPr/>
              <a:t>16</a:t>
            </a:fld>
            <a:endParaRPr lang="en-US" altLang="en-US" sz="1400"/>
          </a:p>
        </p:txBody>
      </p:sp>
      <p:sp>
        <p:nvSpPr>
          <p:cNvPr id="27653" name="TextBox 6">
            <a:extLst>
              <a:ext uri="{FF2B5EF4-FFF2-40B4-BE49-F238E27FC236}">
                <a16:creationId xmlns:a16="http://schemas.microsoft.com/office/drawing/2014/main" id="{93869415-DC49-94FA-DF24-6C0896A0C7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438400"/>
            <a:ext cx="78486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/>
              <a:t>The speech signal is divided into short, overlapping frames to compute STM, and the average magnitude of the signal within each frame is calculated. Here’s the step-by-step process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E54059-E694-8FDE-FC9E-E518F2C83191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905081" y="3581400"/>
            <a:ext cx="7696200" cy="2503249"/>
          </a:xfrm>
          <a:prstGeom prst="rect">
            <a:avLst/>
          </a:prstGeom>
          <a:blipFill>
            <a:blip r:embed="rId2"/>
            <a:stretch>
              <a:fillRect l="-238" t="-488" r="-792" b="-17561"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D8827BAF-C59C-C1B3-E451-618673D97A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698211BA-661E-9CB4-AEF5-639EEAF4B5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01000" cy="1143000"/>
          </a:xfrm>
        </p:spPr>
        <p:txBody>
          <a:bodyPr/>
          <a:lstStyle/>
          <a:p>
            <a:r>
              <a:rPr lang="en-US" altLang="en-US" sz="3000"/>
              <a:t>Short-Time Energy and Short-Time Magnitude</a:t>
            </a:r>
          </a:p>
        </p:txBody>
      </p:sp>
      <p:sp>
        <p:nvSpPr>
          <p:cNvPr id="28675" name="Tex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5673BCDF-BAC1-E866-7D7A-44188D56CEF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7543800" cy="457200"/>
          </a:xfrm>
        </p:spPr>
        <p:txBody>
          <a:bodyPr/>
          <a:lstStyle/>
          <a:p>
            <a:r>
              <a:rPr lang="en-US" altLang="en-US" sz="2000" b="1"/>
              <a:t>Definition and Calculation of Short-Time Energy (STE)</a:t>
            </a:r>
          </a:p>
        </p:txBody>
      </p:sp>
      <p:sp>
        <p:nvSpPr>
          <p:cNvPr id="28676" name="Slide Number Placeholder 4">
            <a:extLst>
              <a:ext uri="{FF2B5EF4-FFF2-40B4-BE49-F238E27FC236}">
                <a16:creationId xmlns:a16="http://schemas.microsoft.com/office/drawing/2014/main" id="{22F13193-5BD5-046C-6E19-659D463769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84865E8-556D-44CA-8E0D-99BF1758D2B1}" type="slidenum">
              <a:rPr lang="en-US" altLang="en-US" sz="1400" smtClean="0"/>
              <a:pPr/>
              <a:t>17</a:t>
            </a:fld>
            <a:endParaRPr lang="en-US" altLang="en-US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45BB70-4646-E86C-7D9F-96EB264D7D84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38200" y="2453422"/>
            <a:ext cx="7848600" cy="3970318"/>
          </a:xfrm>
          <a:prstGeom prst="rect">
            <a:avLst/>
          </a:prstGeom>
          <a:blipFill>
            <a:blip r:embed="rId2"/>
            <a:stretch>
              <a:fillRect l="-699" t="-767"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DDCDE042-E42D-1347-9F7B-2EC712F1EB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B6C1E85D-A9C8-90CE-804E-7C570AEEEF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01000" cy="1143000"/>
          </a:xfrm>
        </p:spPr>
        <p:txBody>
          <a:bodyPr/>
          <a:lstStyle/>
          <a:p>
            <a:r>
              <a:rPr lang="en-US" altLang="en-US" sz="3000"/>
              <a:t>Short-Time Energy and Short-Time Magnitude</a:t>
            </a:r>
          </a:p>
        </p:txBody>
      </p:sp>
      <p:sp>
        <p:nvSpPr>
          <p:cNvPr id="29699" name="Tex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1EFA1C2-DBE3-E957-69CA-E6FC47036A4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7543800" cy="457200"/>
          </a:xfrm>
        </p:spPr>
        <p:txBody>
          <a:bodyPr/>
          <a:lstStyle/>
          <a:p>
            <a:r>
              <a:rPr lang="en-US" altLang="en-US" sz="2000" b="1"/>
              <a:t>Practical Assigments</a:t>
            </a:r>
          </a:p>
        </p:txBody>
      </p:sp>
      <p:sp>
        <p:nvSpPr>
          <p:cNvPr id="29700" name="Slide Number Placeholder 4">
            <a:extLst>
              <a:ext uri="{FF2B5EF4-FFF2-40B4-BE49-F238E27FC236}">
                <a16:creationId xmlns:a16="http://schemas.microsoft.com/office/drawing/2014/main" id="{E062C3E6-FFD5-2E7D-D811-46348A1D03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5CDE391-AAC4-41BE-BE0E-01A979EB11CE}" type="slidenum">
              <a:rPr lang="en-US" altLang="en-US" sz="1400" smtClean="0"/>
              <a:pPr/>
              <a:t>18</a:t>
            </a:fld>
            <a:endParaRPr lang="en-US" altLang="en-US" sz="1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A3CB3E-B941-1810-EE4D-63060B3850BF}"/>
              </a:ext>
            </a:extLst>
          </p:cNvPr>
          <p:cNvSpPr txBox="1"/>
          <p:nvPr/>
        </p:nvSpPr>
        <p:spPr>
          <a:xfrm>
            <a:off x="838200" y="2452688"/>
            <a:ext cx="7848600" cy="39703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800" b="1"/>
              <a:t>Task</a:t>
            </a:r>
            <a:r>
              <a:rPr lang="en-US" sz="1800"/>
              <a:t>: Implement short-time energy and magnitude analysis on a speech dataset.</a:t>
            </a:r>
          </a:p>
          <a:p>
            <a:pPr>
              <a:defRPr/>
            </a:pPr>
            <a:endParaRPr lang="en-US" sz="1800" b="1"/>
          </a:p>
          <a:p>
            <a:pPr>
              <a:defRPr/>
            </a:pPr>
            <a:r>
              <a:rPr lang="en-US" sz="1800" b="1"/>
              <a:t>Dataset</a:t>
            </a:r>
            <a:r>
              <a:rPr lang="en-US" sz="1800"/>
              <a:t>: Sample speech dataset with multiple audio files (URL).</a:t>
            </a:r>
          </a:p>
          <a:p>
            <a:pPr>
              <a:defRPr/>
            </a:pPr>
            <a:endParaRPr lang="en-US" sz="1800" b="1"/>
          </a:p>
          <a:p>
            <a:pPr>
              <a:defRPr/>
            </a:pPr>
            <a:r>
              <a:rPr lang="en-US" sz="1800" b="1"/>
              <a:t>Steps</a:t>
            </a:r>
            <a:r>
              <a:rPr lang="en-US" sz="180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800"/>
              <a:t>Load speech audio files and preprocess using Librosa.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800"/>
              <a:t>Compute short-time energy and magnitude for each frame.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800"/>
              <a:t>Visualize energy and magnitude variations over time.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800"/>
              <a:t>Apply basic speech activity detection using energy thresholds.</a:t>
            </a:r>
          </a:p>
          <a:p>
            <a:pPr>
              <a:defRPr/>
            </a:pPr>
            <a:endParaRPr lang="en-US" sz="1800" b="1"/>
          </a:p>
          <a:p>
            <a:pPr>
              <a:defRPr/>
            </a:pPr>
            <a:r>
              <a:rPr lang="en-US" sz="1800" b="1"/>
              <a:t>Goal</a:t>
            </a:r>
            <a:r>
              <a:rPr lang="en-US" sz="1800"/>
              <a:t>: Understand the application of STE and STM in speech processing tasks.</a:t>
            </a:r>
          </a:p>
          <a:p>
            <a:pPr>
              <a:defRPr/>
            </a:pPr>
            <a:endParaRPr lang="en-US"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7678FFE5-71D0-9421-1CB4-BEF6E1F5D1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01000" cy="1143000"/>
          </a:xfrm>
        </p:spPr>
        <p:txBody>
          <a:bodyPr/>
          <a:lstStyle/>
          <a:p>
            <a:r>
              <a:rPr lang="en-US" altLang="en-US" sz="3000"/>
              <a:t>Short-Time Energy and Short-Time Magnitude</a:t>
            </a:r>
          </a:p>
        </p:txBody>
      </p:sp>
      <p:sp>
        <p:nvSpPr>
          <p:cNvPr id="30723" name="Tex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DD9CA5A-6EF7-EA27-5980-2D2A50DE149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7543800" cy="457200"/>
          </a:xfrm>
        </p:spPr>
        <p:txBody>
          <a:bodyPr/>
          <a:lstStyle/>
          <a:p>
            <a:r>
              <a:rPr lang="en-US" altLang="en-US" sz="2000" b="1"/>
              <a:t>Practical Assignments (solution)</a:t>
            </a:r>
          </a:p>
        </p:txBody>
      </p:sp>
      <p:sp>
        <p:nvSpPr>
          <p:cNvPr id="30724" name="Slide Number Placeholder 4">
            <a:extLst>
              <a:ext uri="{FF2B5EF4-FFF2-40B4-BE49-F238E27FC236}">
                <a16:creationId xmlns:a16="http://schemas.microsoft.com/office/drawing/2014/main" id="{5FFC277B-2FE0-CCF4-203B-D2FEC7779E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9F00913-7D3A-42CD-A92F-B07F18A1F842}" type="slidenum">
              <a:rPr lang="en-US" altLang="en-US" sz="1400" smtClean="0"/>
              <a:pPr/>
              <a:t>19</a:t>
            </a:fld>
            <a:endParaRPr lang="en-US" altLang="en-US" sz="1400"/>
          </a:p>
        </p:txBody>
      </p:sp>
      <p:pic>
        <p:nvPicPr>
          <p:cNvPr id="30725" name="Picture 6">
            <a:extLst>
              <a:ext uri="{FF2B5EF4-FFF2-40B4-BE49-F238E27FC236}">
                <a16:creationId xmlns:a16="http://schemas.microsoft.com/office/drawing/2014/main" id="{D33ED258-75C7-801F-0B0D-74FA189DC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324100"/>
            <a:ext cx="3167063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5AB9D10C-2EA0-DB78-DE4C-E705678D9D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A51E8274-2B1D-83A0-CD90-D05D3686C03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6553200" cy="1143000"/>
          </a:xfrm>
        </p:spPr>
        <p:txBody>
          <a:bodyPr/>
          <a:lstStyle/>
          <a:p>
            <a:pPr eaLnBrk="1" hangingPunct="1"/>
            <a:r>
              <a:rPr lang="en-US" altLang="en-US"/>
              <a:t>Short-Time Zero-Crossing Rate</a:t>
            </a:r>
          </a:p>
        </p:txBody>
      </p:sp>
      <p:pic>
        <p:nvPicPr>
          <p:cNvPr id="31747" name="Picture 3">
            <a:extLst>
              <a:ext uri="{FF2B5EF4-FFF2-40B4-BE49-F238E27FC236}">
                <a16:creationId xmlns:a16="http://schemas.microsoft.com/office/drawing/2014/main" id="{C8987CBD-18E1-A3D3-5113-28DEC594BE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A105E7DD-0DC3-26AA-8588-F14F7B8ED4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01000" cy="1143000"/>
          </a:xfrm>
        </p:spPr>
        <p:txBody>
          <a:bodyPr/>
          <a:lstStyle/>
          <a:p>
            <a:r>
              <a:rPr lang="en-US" altLang="en-US" sz="4000"/>
              <a:t>Short-Time Zero-Crossing Rate</a:t>
            </a:r>
          </a:p>
        </p:txBody>
      </p:sp>
      <p:sp>
        <p:nvSpPr>
          <p:cNvPr id="33795" name="Tex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845C1C4-2382-9460-4A1A-CBB09876700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7543800" cy="457200"/>
          </a:xfrm>
        </p:spPr>
        <p:txBody>
          <a:bodyPr/>
          <a:lstStyle/>
          <a:p>
            <a:r>
              <a:rPr lang="en-US" altLang="en-US" sz="2000" b="1"/>
              <a:t>Introduction</a:t>
            </a:r>
          </a:p>
        </p:txBody>
      </p:sp>
      <p:sp>
        <p:nvSpPr>
          <p:cNvPr id="33796" name="Slide Number Placeholder 4">
            <a:extLst>
              <a:ext uri="{FF2B5EF4-FFF2-40B4-BE49-F238E27FC236}">
                <a16:creationId xmlns:a16="http://schemas.microsoft.com/office/drawing/2014/main" id="{FF3411F5-D21E-55B5-C488-B03FAD52A5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B64B4F8-FDD4-4715-9496-383BB15D86F8}" type="slidenum">
              <a:rPr lang="en-US" altLang="en-US" sz="1400" smtClean="0"/>
              <a:pPr/>
              <a:t>21</a:t>
            </a:fld>
            <a:endParaRPr lang="en-US" altLang="en-US" sz="1400"/>
          </a:p>
        </p:txBody>
      </p:sp>
      <p:sp>
        <p:nvSpPr>
          <p:cNvPr id="33797" name="TextBox 5">
            <a:extLst>
              <a:ext uri="{FF2B5EF4-FFF2-40B4-BE49-F238E27FC236}">
                <a16:creationId xmlns:a16="http://schemas.microsoft.com/office/drawing/2014/main" id="{8CB430E9-88BB-90AD-F5B5-27DBF4876A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452688"/>
            <a:ext cx="7848600" cy="175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/>
              <a:t>Short-Time Zero-Crossing Rate (ZCR) measures how frequently the signal amplitude crosses the zero axis within a short time frame. </a:t>
            </a:r>
          </a:p>
          <a:p>
            <a:endParaRPr lang="en-US" altLang="en-US" sz="1800"/>
          </a:p>
          <a:p>
            <a:r>
              <a:rPr lang="en-US" altLang="en-US" sz="1800"/>
              <a:t>It indicates the rate of sign changes in the signal, providing insights into the signal's frequency content and characteristics</a:t>
            </a:r>
          </a:p>
          <a:p>
            <a:endParaRPr lang="en-US" altLang="en-US" sz="180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3F3245DE-0E6C-20EB-210A-C5CB9E4BCB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2270F8D9-64EF-1FE4-1844-2450046235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01000" cy="1143000"/>
          </a:xfrm>
        </p:spPr>
        <p:txBody>
          <a:bodyPr/>
          <a:lstStyle/>
          <a:p>
            <a:r>
              <a:rPr lang="en-US" altLang="en-US" sz="4000"/>
              <a:t>Short-Time Zero-Crossing Rate</a:t>
            </a:r>
          </a:p>
        </p:txBody>
      </p:sp>
      <p:sp>
        <p:nvSpPr>
          <p:cNvPr id="34819" name="Tex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A3F5A542-0364-D6B4-5CCF-5C8963B9A82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7543800" cy="457200"/>
          </a:xfrm>
        </p:spPr>
        <p:txBody>
          <a:bodyPr/>
          <a:lstStyle/>
          <a:p>
            <a:r>
              <a:rPr lang="en-US" altLang="en-US" sz="2000" b="1"/>
              <a:t>Zero-Crossing Rate</a:t>
            </a:r>
          </a:p>
        </p:txBody>
      </p:sp>
      <p:sp>
        <p:nvSpPr>
          <p:cNvPr id="34820" name="Slide Number Placeholder 4">
            <a:extLst>
              <a:ext uri="{FF2B5EF4-FFF2-40B4-BE49-F238E27FC236}">
                <a16:creationId xmlns:a16="http://schemas.microsoft.com/office/drawing/2014/main" id="{FA3F16AA-59BB-B9CE-964B-76ECE62745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13F6BA2-58EC-4153-93EC-390A2BDEE53E}" type="slidenum">
              <a:rPr lang="en-US" altLang="en-US" sz="1400" smtClean="0"/>
              <a:pPr/>
              <a:t>22</a:t>
            </a:fld>
            <a:endParaRPr lang="en-US" altLang="en-US" sz="1400"/>
          </a:p>
        </p:txBody>
      </p:sp>
      <p:sp>
        <p:nvSpPr>
          <p:cNvPr id="34821" name="TextBox 5">
            <a:extLst>
              <a:ext uri="{FF2B5EF4-FFF2-40B4-BE49-F238E27FC236}">
                <a16:creationId xmlns:a16="http://schemas.microsoft.com/office/drawing/2014/main" id="{A7A2B2B6-2C3B-2D93-81C5-4197883915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452688"/>
            <a:ext cx="7848600" cy="120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/>
              <a:t>Definition of Zero-Crossing Rate (ZCR)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800"/>
              <a:t>The rate at which the signal changes sign (crosses zero) in a given time frame.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800"/>
              <a:t>Reflects the frequency content of the signal in the time domain.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DFE274-767D-DBB8-EB20-57EB4E6AFA10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38200" y="3920709"/>
            <a:ext cx="7848600" cy="2044214"/>
          </a:xfrm>
          <a:prstGeom prst="rect">
            <a:avLst/>
          </a:prstGeom>
          <a:blipFill>
            <a:blip r:embed="rId2"/>
            <a:stretch>
              <a:fillRect l="-699" t="-1493"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C5305A69-8E1D-EAB0-8545-945F9C6757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9D142FD5-6F5A-1916-DB5C-B96F109D87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01000" cy="1143000"/>
          </a:xfrm>
        </p:spPr>
        <p:txBody>
          <a:bodyPr/>
          <a:lstStyle/>
          <a:p>
            <a:r>
              <a:rPr lang="en-US" altLang="en-US" sz="4000"/>
              <a:t>Short-Time Zero-Crossing Rate</a:t>
            </a:r>
          </a:p>
        </p:txBody>
      </p:sp>
      <p:sp>
        <p:nvSpPr>
          <p:cNvPr id="35843" name="Tex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44D45D43-D3A4-64F5-C1BC-2A60AB0FDD9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7543800" cy="457200"/>
          </a:xfrm>
        </p:spPr>
        <p:txBody>
          <a:bodyPr/>
          <a:lstStyle/>
          <a:p>
            <a:r>
              <a:rPr lang="en-US" altLang="en-US" sz="2000" b="1"/>
              <a:t>Importance of ZCR in Speech Processing</a:t>
            </a:r>
          </a:p>
        </p:txBody>
      </p:sp>
      <p:sp>
        <p:nvSpPr>
          <p:cNvPr id="35844" name="Slide Number Placeholder 4">
            <a:extLst>
              <a:ext uri="{FF2B5EF4-FFF2-40B4-BE49-F238E27FC236}">
                <a16:creationId xmlns:a16="http://schemas.microsoft.com/office/drawing/2014/main" id="{18EE07A9-44A2-1106-98AB-553386F11A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9F202A3-5736-412F-BA44-819E71B8202D}" type="slidenum">
              <a:rPr lang="en-US" altLang="en-US" sz="1400" smtClean="0"/>
              <a:pPr/>
              <a:t>23</a:t>
            </a:fld>
            <a:endParaRPr lang="en-US" altLang="en-US" sz="1400"/>
          </a:p>
        </p:txBody>
      </p:sp>
      <p:sp>
        <p:nvSpPr>
          <p:cNvPr id="35845" name="TextBox 5">
            <a:extLst>
              <a:ext uri="{FF2B5EF4-FFF2-40B4-BE49-F238E27FC236}">
                <a16:creationId xmlns:a16="http://schemas.microsoft.com/office/drawing/2014/main" id="{FEDF3DFD-944B-8B1B-CAE2-C128995947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013" y="2636838"/>
            <a:ext cx="7848600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/>
              <a:t>Why ZCR Matters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800"/>
              <a:t>High ZCR indicates high-frequency content (e.g., fricatives).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800"/>
              <a:t>Low ZCR indicates low-frequency content (e.g., vowels).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800"/>
              <a:t>Useful for distinguishing between voiced and unvoiced speech segments.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C0EF520F-D98D-FD67-8877-22E8A2EB22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A2D0533F-A31C-5A08-2C20-1446D6D9DA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01000" cy="1143000"/>
          </a:xfrm>
        </p:spPr>
        <p:txBody>
          <a:bodyPr/>
          <a:lstStyle/>
          <a:p>
            <a:r>
              <a:rPr lang="en-US" altLang="en-US" sz="4000"/>
              <a:t>Short-Time Zero-Crossing Rate</a:t>
            </a:r>
          </a:p>
        </p:txBody>
      </p:sp>
      <p:sp>
        <p:nvSpPr>
          <p:cNvPr id="36867" name="Tex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56E5518E-D217-1198-404A-D67C4A638F7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7543800" cy="457200"/>
          </a:xfrm>
        </p:spPr>
        <p:txBody>
          <a:bodyPr/>
          <a:lstStyle/>
          <a:p>
            <a:r>
              <a:rPr lang="en-US" altLang="en-US" sz="2000" b="1"/>
              <a:t>Short-Time Zero-Crossing Rate (STZCR)</a:t>
            </a:r>
          </a:p>
        </p:txBody>
      </p:sp>
      <p:sp>
        <p:nvSpPr>
          <p:cNvPr id="36868" name="Slide Number Placeholder 4">
            <a:extLst>
              <a:ext uri="{FF2B5EF4-FFF2-40B4-BE49-F238E27FC236}">
                <a16:creationId xmlns:a16="http://schemas.microsoft.com/office/drawing/2014/main" id="{0E50000A-E8AE-7E65-D8A3-E9731406D6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F4DB264-948E-4D54-A47F-DC736D9217FB}" type="slidenum">
              <a:rPr lang="en-US" altLang="en-US" sz="1400" smtClean="0"/>
              <a:pPr/>
              <a:t>24</a:t>
            </a:fld>
            <a:endParaRPr lang="en-US" altLang="en-US" sz="1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E09C07-0EC9-9AD0-C2E4-F9900D9175C4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62321" y="2636886"/>
            <a:ext cx="7848600" cy="2598212"/>
          </a:xfrm>
          <a:prstGeom prst="rect">
            <a:avLst/>
          </a:prstGeom>
          <a:blipFill>
            <a:blip r:embed="rId2"/>
            <a:stretch>
              <a:fillRect l="-621" t="-1408" b="-2817"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1DB84FA9-3E4F-A2AB-F58E-72D47CE9BA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08D075B4-F1AB-14DE-34CB-C891E788C9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01000" cy="1143000"/>
          </a:xfrm>
        </p:spPr>
        <p:txBody>
          <a:bodyPr/>
          <a:lstStyle/>
          <a:p>
            <a:r>
              <a:rPr lang="en-US" altLang="en-US" sz="4000"/>
              <a:t>Short-Time Zero-Crossing Rate</a:t>
            </a:r>
          </a:p>
        </p:txBody>
      </p:sp>
      <p:sp>
        <p:nvSpPr>
          <p:cNvPr id="37891" name="Tex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3DCCB4E-6E96-8D1B-90C1-11F17132064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7543800" cy="457200"/>
          </a:xfrm>
        </p:spPr>
        <p:txBody>
          <a:bodyPr/>
          <a:lstStyle/>
          <a:p>
            <a:r>
              <a:rPr lang="en-US" altLang="en-US" sz="2000" b="1"/>
              <a:t>Practice Assigment</a:t>
            </a:r>
          </a:p>
        </p:txBody>
      </p:sp>
      <p:sp>
        <p:nvSpPr>
          <p:cNvPr id="37892" name="Slide Number Placeholder 4">
            <a:extLst>
              <a:ext uri="{FF2B5EF4-FFF2-40B4-BE49-F238E27FC236}">
                <a16:creationId xmlns:a16="http://schemas.microsoft.com/office/drawing/2014/main" id="{08DD2E7D-7E1A-4B76-7A67-1739DB1150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FCA7E2A-1EC7-4581-8250-9E4F2D4C7033}" type="slidenum">
              <a:rPr lang="en-US" altLang="en-US" sz="1400" smtClean="0"/>
              <a:pPr/>
              <a:t>25</a:t>
            </a:fld>
            <a:endParaRPr lang="en-US" altLang="en-US" sz="1400"/>
          </a:p>
        </p:txBody>
      </p:sp>
      <p:sp>
        <p:nvSpPr>
          <p:cNvPr id="37893" name="TextBox 5">
            <a:extLst>
              <a:ext uri="{FF2B5EF4-FFF2-40B4-BE49-F238E27FC236}">
                <a16:creationId xmlns:a16="http://schemas.microsoft.com/office/drawing/2014/main" id="{5D4F9A9A-2913-4F9A-01F9-D67AC34FB1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013" y="2636838"/>
            <a:ext cx="7848600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 b="1"/>
              <a:t>Libraries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800"/>
              <a:t>Use of Librosa and NumPy for signal processing.</a:t>
            </a:r>
          </a:p>
          <a:p>
            <a:endParaRPr lang="en-US" altLang="en-US" sz="1800"/>
          </a:p>
          <a:p>
            <a:r>
              <a:rPr lang="en-US" altLang="en-US" sz="1800" b="1"/>
              <a:t>Code Examples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800"/>
              <a:t>Loading a speech audio file.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800"/>
              <a:t>Computing short-time zero-crossing rate.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800"/>
              <a:t>Visualization of ZCR over time.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DCCA927F-585B-7023-B095-01D1601569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41B2E86B-55E8-3459-DC9E-0F18D17917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01000" cy="1143000"/>
          </a:xfrm>
        </p:spPr>
        <p:txBody>
          <a:bodyPr/>
          <a:lstStyle/>
          <a:p>
            <a:r>
              <a:rPr lang="en-US" altLang="en-US" sz="4000"/>
              <a:t>Short-Time Zero-Crossing Rate</a:t>
            </a:r>
          </a:p>
        </p:txBody>
      </p:sp>
      <p:sp>
        <p:nvSpPr>
          <p:cNvPr id="38915" name="Tex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F3D07D3-5661-B86A-451B-7011CC441C3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7543800" cy="457200"/>
          </a:xfrm>
        </p:spPr>
        <p:txBody>
          <a:bodyPr/>
          <a:lstStyle/>
          <a:p>
            <a:r>
              <a:rPr lang="en-US" altLang="en-US" sz="2000" b="1"/>
              <a:t>Practice Assigment (Solution)</a:t>
            </a:r>
          </a:p>
        </p:txBody>
      </p:sp>
      <p:sp>
        <p:nvSpPr>
          <p:cNvPr id="38916" name="Slide Number Placeholder 4">
            <a:extLst>
              <a:ext uri="{FF2B5EF4-FFF2-40B4-BE49-F238E27FC236}">
                <a16:creationId xmlns:a16="http://schemas.microsoft.com/office/drawing/2014/main" id="{1B56D4D0-5A0D-9DF3-4F9C-E67E895699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E540D0E-0BC4-4FA4-9F7D-0151D8B63D2B}" type="slidenum">
              <a:rPr lang="en-US" altLang="en-US" sz="1400" smtClean="0"/>
              <a:pPr/>
              <a:t>26</a:t>
            </a:fld>
            <a:endParaRPr lang="en-US" altLang="en-US" sz="1400"/>
          </a:p>
        </p:txBody>
      </p:sp>
      <p:pic>
        <p:nvPicPr>
          <p:cNvPr id="38917" name="Picture 6">
            <a:extLst>
              <a:ext uri="{FF2B5EF4-FFF2-40B4-BE49-F238E27FC236}">
                <a16:creationId xmlns:a16="http://schemas.microsoft.com/office/drawing/2014/main" id="{E5BA75D6-6E18-B3ED-13E7-81E54B9F5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373313"/>
            <a:ext cx="5076825" cy="407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063471FC-5091-5F67-1D0F-A56E8692DF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072E3B4C-744C-1D47-F0C3-CB4B0E28386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6477000" cy="1143000"/>
          </a:xfrm>
        </p:spPr>
        <p:txBody>
          <a:bodyPr/>
          <a:lstStyle/>
          <a:p>
            <a:pPr eaLnBrk="1" hangingPunct="1"/>
            <a:r>
              <a:rPr lang="en-US" altLang="en-US"/>
              <a:t>The Short-Time Autocorrelation Function</a:t>
            </a:r>
          </a:p>
        </p:txBody>
      </p:sp>
      <p:pic>
        <p:nvPicPr>
          <p:cNvPr id="39939" name="Picture 3">
            <a:extLst>
              <a:ext uri="{FF2B5EF4-FFF2-40B4-BE49-F238E27FC236}">
                <a16:creationId xmlns:a16="http://schemas.microsoft.com/office/drawing/2014/main" id="{B05421DD-2C49-FE33-750F-51D03ABC9F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0B787BE3-7079-BF31-2E34-5821348A26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229600" cy="1143000"/>
          </a:xfrm>
        </p:spPr>
        <p:txBody>
          <a:bodyPr/>
          <a:lstStyle/>
          <a:p>
            <a:r>
              <a:rPr lang="en-US" altLang="en-US" sz="3400"/>
              <a:t>The Short-Time Autocorrelation Function</a:t>
            </a:r>
          </a:p>
        </p:txBody>
      </p:sp>
      <p:sp>
        <p:nvSpPr>
          <p:cNvPr id="41987" name="Tex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4C4561DE-5953-4097-D4E6-AD5C1EED171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7543800" cy="457200"/>
          </a:xfrm>
        </p:spPr>
        <p:txBody>
          <a:bodyPr/>
          <a:lstStyle/>
          <a:p>
            <a:r>
              <a:rPr lang="en-US" altLang="en-US" sz="2000" b="1"/>
              <a:t>Autocorrelation</a:t>
            </a:r>
          </a:p>
        </p:txBody>
      </p:sp>
      <p:sp>
        <p:nvSpPr>
          <p:cNvPr id="41988" name="Slide Number Placeholder 4">
            <a:extLst>
              <a:ext uri="{FF2B5EF4-FFF2-40B4-BE49-F238E27FC236}">
                <a16:creationId xmlns:a16="http://schemas.microsoft.com/office/drawing/2014/main" id="{01A63741-AB25-34B6-04E4-2AF1F8F557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8EC439A-5029-4A2D-A02D-6EBAC75C2409}" type="slidenum">
              <a:rPr lang="en-US" altLang="en-US" sz="1400" smtClean="0"/>
              <a:pPr/>
              <a:t>28</a:t>
            </a:fld>
            <a:endParaRPr lang="en-US" altLang="en-US" sz="1400"/>
          </a:p>
        </p:txBody>
      </p:sp>
      <p:sp>
        <p:nvSpPr>
          <p:cNvPr id="41989" name="TextBox 5">
            <a:extLst>
              <a:ext uri="{FF2B5EF4-FFF2-40B4-BE49-F238E27FC236}">
                <a16:creationId xmlns:a16="http://schemas.microsoft.com/office/drawing/2014/main" id="{863F0A4B-8614-7E35-FEEC-3F138461A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013" y="2636838"/>
            <a:ext cx="7848600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 b="1"/>
              <a:t>Definition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800"/>
              <a:t>Autocorrelation measures the similarity between a signal and a delayed version of itself as a function of the delay.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800"/>
              <a:t>Useful for detecting repeating patterns or periodic signals within a signal.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829BA1-B2A0-C0F4-9B71-D105EC26FAA8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62321" y="4191000"/>
            <a:ext cx="7848600" cy="1595501"/>
          </a:xfrm>
          <a:prstGeom prst="rect">
            <a:avLst/>
          </a:prstGeom>
          <a:blipFill>
            <a:blip r:embed="rId2"/>
            <a:stretch>
              <a:fillRect l="-621" t="-2299" r="-543"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42B57A80-0005-2EF3-6D1E-7DB6F7FE05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9E950E60-0706-B1CA-5883-B7491082A9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229600" cy="1143000"/>
          </a:xfrm>
        </p:spPr>
        <p:txBody>
          <a:bodyPr/>
          <a:lstStyle/>
          <a:p>
            <a:r>
              <a:rPr lang="en-US" altLang="en-US" sz="3400"/>
              <a:t>The Short-Time Autocorrelation Function</a:t>
            </a:r>
          </a:p>
        </p:txBody>
      </p:sp>
      <p:sp>
        <p:nvSpPr>
          <p:cNvPr id="43011" name="Tex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8369EFE-DDEC-1363-4ADC-873117C8C12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7543800" cy="457200"/>
          </a:xfrm>
        </p:spPr>
        <p:txBody>
          <a:bodyPr/>
          <a:lstStyle/>
          <a:p>
            <a:r>
              <a:rPr lang="en-US" altLang="en-US" sz="2000" b="1"/>
              <a:t>Short-Time Autocorrelation Function (STACF)</a:t>
            </a:r>
          </a:p>
        </p:txBody>
      </p:sp>
      <p:sp>
        <p:nvSpPr>
          <p:cNvPr id="43012" name="Slide Number Placeholder 4">
            <a:extLst>
              <a:ext uri="{FF2B5EF4-FFF2-40B4-BE49-F238E27FC236}">
                <a16:creationId xmlns:a16="http://schemas.microsoft.com/office/drawing/2014/main" id="{4C0BBE2B-DB4A-3310-D8F9-C60C937760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75A4DAD-A89F-4912-86C0-755CE08DF623}" type="slidenum">
              <a:rPr lang="en-US" altLang="en-US" sz="1400" smtClean="0"/>
              <a:pPr/>
              <a:t>29</a:t>
            </a:fld>
            <a:endParaRPr lang="en-US" altLang="en-US" sz="1400"/>
          </a:p>
        </p:txBody>
      </p:sp>
      <p:sp>
        <p:nvSpPr>
          <p:cNvPr id="43013" name="TextBox 5">
            <a:extLst>
              <a:ext uri="{FF2B5EF4-FFF2-40B4-BE49-F238E27FC236}">
                <a16:creationId xmlns:a16="http://schemas.microsoft.com/office/drawing/2014/main" id="{7876593F-AD59-3C63-90C6-8C7D91EE6D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013" y="2636838"/>
            <a:ext cx="78486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 b="1"/>
              <a:t>Definition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800"/>
              <a:t>The STACF captures the local periodicity within short frames of the signal.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6F323B-2C3D-039E-5AA8-EE05DD754930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38200" y="3551286"/>
            <a:ext cx="7848600" cy="2533194"/>
          </a:xfrm>
          <a:prstGeom prst="rect">
            <a:avLst/>
          </a:prstGeom>
          <a:blipFill>
            <a:blip r:embed="rId2"/>
            <a:stretch>
              <a:fillRect l="-699" t="-1446" b="-2892"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7F16E5B4-AAC3-8305-DA56-E495B38B6A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B02E0731-7940-CEC0-069E-833DAC6C2A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229600" cy="1143000"/>
          </a:xfrm>
        </p:spPr>
        <p:txBody>
          <a:bodyPr/>
          <a:lstStyle/>
          <a:p>
            <a:r>
              <a:rPr lang="en-US" altLang="en-US" sz="3400"/>
              <a:t>The Short-Time Autocorrelation Function</a:t>
            </a:r>
          </a:p>
        </p:txBody>
      </p:sp>
      <p:sp>
        <p:nvSpPr>
          <p:cNvPr id="44035" name="Tex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15117EB-E3BF-C2DD-7245-828DA7B0F80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7543800" cy="457200"/>
          </a:xfrm>
        </p:spPr>
        <p:txBody>
          <a:bodyPr/>
          <a:lstStyle/>
          <a:p>
            <a:r>
              <a:rPr lang="en-US" altLang="en-US" sz="2000" b="1"/>
              <a:t>Applications of STACF in Speech Processing</a:t>
            </a:r>
          </a:p>
        </p:txBody>
      </p:sp>
      <p:sp>
        <p:nvSpPr>
          <p:cNvPr id="44036" name="Slide Number Placeholder 4">
            <a:extLst>
              <a:ext uri="{FF2B5EF4-FFF2-40B4-BE49-F238E27FC236}">
                <a16:creationId xmlns:a16="http://schemas.microsoft.com/office/drawing/2014/main" id="{1277E3D9-71A8-CC48-8C91-8B37826131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B8A4CB4-90E5-4EB3-9CD3-E78F96F2B48B}" type="slidenum">
              <a:rPr lang="en-US" altLang="en-US" sz="1400" smtClean="0"/>
              <a:pPr/>
              <a:t>30</a:t>
            </a:fld>
            <a:endParaRPr lang="en-US" altLang="en-US" sz="1400"/>
          </a:p>
        </p:txBody>
      </p:sp>
      <p:sp>
        <p:nvSpPr>
          <p:cNvPr id="44037" name="TextBox 5">
            <a:extLst>
              <a:ext uri="{FF2B5EF4-FFF2-40B4-BE49-F238E27FC236}">
                <a16:creationId xmlns:a16="http://schemas.microsoft.com/office/drawing/2014/main" id="{3586B7CD-F189-6673-E3C1-6F73C46B5B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013" y="2636838"/>
            <a:ext cx="7848600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 b="1"/>
              <a:t>Applications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800"/>
              <a:t>Pitch Detection: Using peaks in STACF to determine the fundamental frequency.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800"/>
              <a:t>Voiced/Unvoiced Detection: Analyzing periodicity to differentiate between voiced and unvoiced sounds.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800"/>
              <a:t>Speech Analysis and Synthesis: Enhancing coding efficiency and improving synthetic speech quality.</a:t>
            </a:r>
          </a:p>
        </p:txBody>
      </p:sp>
      <p:sp>
        <p:nvSpPr>
          <p:cNvPr id="44038" name="TextBox 6">
            <a:extLst>
              <a:ext uri="{FF2B5EF4-FFF2-40B4-BE49-F238E27FC236}">
                <a16:creationId xmlns:a16="http://schemas.microsoft.com/office/drawing/2014/main" id="{3388E1CA-07F4-D3E7-AAC4-BC74D4233F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013" y="4943475"/>
            <a:ext cx="7848600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 b="1"/>
              <a:t>Examples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800"/>
              <a:t>Real-world applications where STACF is effectively used, such as in speech recognition systems and voice activity detection.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EF78A8DD-AF55-ECE3-72C4-4112E81F8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49A40EB3-C04D-D199-2B19-E2AB693860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229600" cy="1143000"/>
          </a:xfrm>
        </p:spPr>
        <p:txBody>
          <a:bodyPr/>
          <a:lstStyle/>
          <a:p>
            <a:r>
              <a:rPr lang="en-US" altLang="en-US" sz="3400"/>
              <a:t>The Short-Time Autocorrelation Function</a:t>
            </a:r>
          </a:p>
        </p:txBody>
      </p:sp>
      <p:sp>
        <p:nvSpPr>
          <p:cNvPr id="45059" name="Tex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FB77719-1BC6-23F0-F108-4F5F063B2CA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7543800" cy="457200"/>
          </a:xfrm>
        </p:spPr>
        <p:txBody>
          <a:bodyPr/>
          <a:lstStyle/>
          <a:p>
            <a:r>
              <a:rPr lang="en-US" altLang="en-US" sz="2000" b="1"/>
              <a:t>Practical Assignment</a:t>
            </a:r>
          </a:p>
        </p:txBody>
      </p:sp>
      <p:sp>
        <p:nvSpPr>
          <p:cNvPr id="45060" name="Slide Number Placeholder 4">
            <a:extLst>
              <a:ext uri="{FF2B5EF4-FFF2-40B4-BE49-F238E27FC236}">
                <a16:creationId xmlns:a16="http://schemas.microsoft.com/office/drawing/2014/main" id="{C13C0DDD-9E93-EFA8-FC0E-305CF4E1B0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A87EB20-9971-4CF3-B68B-4FB51F9480E2}" type="slidenum">
              <a:rPr lang="en-US" altLang="en-US" sz="1400" smtClean="0"/>
              <a:pPr/>
              <a:t>31</a:t>
            </a:fld>
            <a:endParaRPr lang="en-US" altLang="en-US" sz="1400"/>
          </a:p>
        </p:txBody>
      </p:sp>
      <p:sp>
        <p:nvSpPr>
          <p:cNvPr id="45061" name="TextBox 5">
            <a:extLst>
              <a:ext uri="{FF2B5EF4-FFF2-40B4-BE49-F238E27FC236}">
                <a16:creationId xmlns:a16="http://schemas.microsoft.com/office/drawing/2014/main" id="{B03A04D0-BA58-4D18-A127-2F7157FFCF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013" y="2636838"/>
            <a:ext cx="7848600" cy="286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 b="1"/>
              <a:t>Task: </a:t>
            </a:r>
            <a:r>
              <a:rPr lang="en-US" altLang="en-US" sz="1800"/>
              <a:t>Implement short-time autocorrelation function analysis on a speech dataset.</a:t>
            </a:r>
          </a:p>
          <a:p>
            <a:endParaRPr lang="en-US" altLang="en-US" sz="1800" b="1"/>
          </a:p>
          <a:p>
            <a:r>
              <a:rPr lang="en-US" altLang="en-US" sz="1800" b="1"/>
              <a:t>Dataset: </a:t>
            </a:r>
            <a:r>
              <a:rPr lang="en-US" altLang="en-US" sz="1800"/>
              <a:t>Sample speech dataset with multiple audio files (URL).</a:t>
            </a:r>
          </a:p>
          <a:p>
            <a:endParaRPr lang="en-US" altLang="en-US" sz="1800" b="1"/>
          </a:p>
          <a:p>
            <a:r>
              <a:rPr lang="en-US" altLang="en-US" sz="1800" b="1"/>
              <a:t>Steps: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800"/>
              <a:t>Load speech audio files and preprocess using Librosa.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800"/>
              <a:t>Compute short-time autocorrelation function for each frame.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800"/>
              <a:t>Visualize STACF variations over time.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800"/>
              <a:t>Apply basic pitch detection using STACF.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408D73EA-2E73-AD17-AB82-DAC080AA35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A9B6435E-1CF4-6ACC-AA85-33EB97AB72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229600" cy="1143000"/>
          </a:xfrm>
        </p:spPr>
        <p:txBody>
          <a:bodyPr/>
          <a:lstStyle/>
          <a:p>
            <a:r>
              <a:rPr lang="en-US" altLang="en-US" sz="3400"/>
              <a:t>The Short-Time Autocorrelation Function</a:t>
            </a:r>
          </a:p>
        </p:txBody>
      </p:sp>
      <p:sp>
        <p:nvSpPr>
          <p:cNvPr id="46083" name="Tex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5908570-8BEE-9700-A54A-9196CA8D0FA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00100" y="1555750"/>
            <a:ext cx="7543800" cy="457200"/>
          </a:xfrm>
        </p:spPr>
        <p:txBody>
          <a:bodyPr/>
          <a:lstStyle/>
          <a:p>
            <a:r>
              <a:rPr lang="en-US" altLang="en-US" sz="2000" b="1"/>
              <a:t>Practical Assignment (Solution)</a:t>
            </a:r>
          </a:p>
        </p:txBody>
      </p:sp>
      <p:sp>
        <p:nvSpPr>
          <p:cNvPr id="46084" name="Slide Number Placeholder 4">
            <a:extLst>
              <a:ext uri="{FF2B5EF4-FFF2-40B4-BE49-F238E27FC236}">
                <a16:creationId xmlns:a16="http://schemas.microsoft.com/office/drawing/2014/main" id="{390BC784-08D8-A921-9B9D-839301314D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61CA23F-E8DB-4959-9324-228C06ACB979}" type="slidenum">
              <a:rPr lang="en-US" altLang="en-US" sz="1400" smtClean="0"/>
              <a:pPr/>
              <a:t>32</a:t>
            </a:fld>
            <a:endParaRPr lang="en-US" altLang="en-US" sz="1400"/>
          </a:p>
        </p:txBody>
      </p:sp>
      <p:pic>
        <p:nvPicPr>
          <p:cNvPr id="46085" name="Picture 6">
            <a:extLst>
              <a:ext uri="{FF2B5EF4-FFF2-40B4-BE49-F238E27FC236}">
                <a16:creationId xmlns:a16="http://schemas.microsoft.com/office/drawing/2014/main" id="{5B34F902-FCC1-134D-CB3C-012C8CD75E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1995488"/>
            <a:ext cx="4600575" cy="271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6" name="Picture 8">
            <a:extLst>
              <a:ext uri="{FF2B5EF4-FFF2-40B4-BE49-F238E27FC236}">
                <a16:creationId xmlns:a16="http://schemas.microsoft.com/office/drawing/2014/main" id="{60957851-1066-F7C7-34F7-C334B61BC0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3" y="4711700"/>
            <a:ext cx="4945062" cy="203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FB34C933-999A-1229-559E-6E3D80FB75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B5F2A662-EE64-F31C-7856-09A9141CBB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229600" cy="1143000"/>
          </a:xfrm>
        </p:spPr>
        <p:txBody>
          <a:bodyPr/>
          <a:lstStyle/>
          <a:p>
            <a:r>
              <a:rPr lang="en-US" altLang="en-US" sz="3400"/>
              <a:t>The Short-Time Autocorrelation Function</a:t>
            </a:r>
          </a:p>
        </p:txBody>
      </p:sp>
      <p:sp>
        <p:nvSpPr>
          <p:cNvPr id="47107" name="Tex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112E7D9-5A4B-AD1B-0047-1F49A379111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7543800" cy="457200"/>
          </a:xfrm>
        </p:spPr>
        <p:txBody>
          <a:bodyPr/>
          <a:lstStyle/>
          <a:p>
            <a:r>
              <a:rPr lang="en-US" altLang="en-US" sz="2000" b="1"/>
              <a:t>Summary</a:t>
            </a:r>
          </a:p>
        </p:txBody>
      </p:sp>
      <p:sp>
        <p:nvSpPr>
          <p:cNvPr id="47108" name="Slide Number Placeholder 4">
            <a:extLst>
              <a:ext uri="{FF2B5EF4-FFF2-40B4-BE49-F238E27FC236}">
                <a16:creationId xmlns:a16="http://schemas.microsoft.com/office/drawing/2014/main" id="{B9E42E2A-4BF0-F058-5625-494F2D5229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C1FDD42-F14D-48B5-95A2-91DF3153C447}" type="slidenum">
              <a:rPr lang="en-US" altLang="en-US" sz="1400" smtClean="0"/>
              <a:pPr/>
              <a:t>33</a:t>
            </a:fld>
            <a:endParaRPr lang="en-US" altLang="en-US" sz="1400"/>
          </a:p>
        </p:txBody>
      </p:sp>
      <p:sp>
        <p:nvSpPr>
          <p:cNvPr id="47109" name="TextBox 3">
            <a:extLst>
              <a:ext uri="{FF2B5EF4-FFF2-40B4-BE49-F238E27FC236}">
                <a16:creationId xmlns:a16="http://schemas.microsoft.com/office/drawing/2014/main" id="{5ABE480E-432C-3211-1043-58CA91BAEF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013" y="2636838"/>
            <a:ext cx="78486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en-US" sz="1800"/>
              <a:t>The short-time autocorrelation function is a valuable time-domain feature for speech processing.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1800"/>
              <a:t>Python libraries like Librosa facilitate the practical implementation of STACF analysis.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1800"/>
              <a:t>Future directions and applications of STACF in various speech processing tasks, including advanced pitch detection and speech synthesis.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BDA43270-EC24-5333-16E0-D9B6BCB502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29DB100F-1F1C-DB73-0E81-3F1D322D88F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6477000" cy="1143000"/>
          </a:xfrm>
        </p:spPr>
        <p:txBody>
          <a:bodyPr/>
          <a:lstStyle/>
          <a:p>
            <a:pPr eaLnBrk="1" hangingPunct="1"/>
            <a:r>
              <a:rPr lang="en-US" altLang="en-US"/>
              <a:t>The Modified Short-Time Autocorrelation Function</a:t>
            </a:r>
          </a:p>
        </p:txBody>
      </p:sp>
      <p:pic>
        <p:nvPicPr>
          <p:cNvPr id="48131" name="Picture 3">
            <a:extLst>
              <a:ext uri="{FF2B5EF4-FFF2-40B4-BE49-F238E27FC236}">
                <a16:creationId xmlns:a16="http://schemas.microsoft.com/office/drawing/2014/main" id="{675B2FB2-B52D-4A4E-D02C-8E1446E607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D4E36D2A-053D-4EBC-6475-A0F8502DF7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229600" cy="1143000"/>
          </a:xfrm>
        </p:spPr>
        <p:txBody>
          <a:bodyPr/>
          <a:lstStyle/>
          <a:p>
            <a:r>
              <a:rPr lang="en-US" altLang="en-US" sz="3400"/>
              <a:t>The Modified Short-Time </a:t>
            </a:r>
            <a:br>
              <a:rPr lang="en-US" altLang="en-US" sz="3400"/>
            </a:br>
            <a:r>
              <a:rPr lang="en-US" altLang="en-US" sz="3400"/>
              <a:t>Autocorrelation Function</a:t>
            </a:r>
          </a:p>
        </p:txBody>
      </p:sp>
      <p:sp>
        <p:nvSpPr>
          <p:cNvPr id="50179" name="Tex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41739F29-67E6-9E25-4A22-CB58A0BDCCC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7543800" cy="457200"/>
          </a:xfrm>
        </p:spPr>
        <p:txBody>
          <a:bodyPr/>
          <a:lstStyle/>
          <a:p>
            <a:r>
              <a:rPr lang="en-US" altLang="en-US" sz="2000" b="1"/>
              <a:t>Introduction</a:t>
            </a:r>
          </a:p>
        </p:txBody>
      </p:sp>
      <p:sp>
        <p:nvSpPr>
          <p:cNvPr id="50180" name="Slide Number Placeholder 4">
            <a:extLst>
              <a:ext uri="{FF2B5EF4-FFF2-40B4-BE49-F238E27FC236}">
                <a16:creationId xmlns:a16="http://schemas.microsoft.com/office/drawing/2014/main" id="{489E5E18-4665-5B52-57B9-E012604205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1EE1003-FB28-45F0-936E-F713BADE9C47}" type="slidenum">
              <a:rPr lang="en-US" altLang="en-US" sz="1400" smtClean="0"/>
              <a:pPr/>
              <a:t>35</a:t>
            </a:fld>
            <a:endParaRPr lang="en-US" altLang="en-US" sz="1400"/>
          </a:p>
        </p:txBody>
      </p:sp>
      <p:sp>
        <p:nvSpPr>
          <p:cNvPr id="50181" name="TextBox 5">
            <a:extLst>
              <a:ext uri="{FF2B5EF4-FFF2-40B4-BE49-F238E27FC236}">
                <a16:creationId xmlns:a16="http://schemas.microsoft.com/office/drawing/2014/main" id="{E9A4EF10-5CA0-0437-8935-F033DC772B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667000"/>
            <a:ext cx="6300788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/>
              <a:t>MSTACF enhances the standard STACF by applying a windowing function to the signal and its delayed version before computing the product.</a:t>
            </a:r>
          </a:p>
          <a:p>
            <a:endParaRPr lang="en-US" altLang="en-US" sz="1800"/>
          </a:p>
          <a:p>
            <a:endParaRPr lang="en-US" altLang="en-US" sz="1800"/>
          </a:p>
          <a:p>
            <a:r>
              <a:rPr lang="en-US" altLang="en-US" sz="1800"/>
              <a:t>This modification helps analyze speech signals better by reducing noise and emphasizing significant components.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D0AE9813-0FE4-48AE-B8D6-43CC246BC0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7A5783F8-6125-AF1D-A6C5-D183BD8361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229600" cy="1143000"/>
          </a:xfrm>
        </p:spPr>
        <p:txBody>
          <a:bodyPr/>
          <a:lstStyle/>
          <a:p>
            <a:r>
              <a:rPr lang="en-US" altLang="en-US" sz="3400"/>
              <a:t>The Modified Short-Time </a:t>
            </a:r>
            <a:br>
              <a:rPr lang="en-US" altLang="en-US" sz="3400"/>
            </a:br>
            <a:r>
              <a:rPr lang="en-US" altLang="en-US" sz="3400"/>
              <a:t>Autocorrelation Function</a:t>
            </a:r>
          </a:p>
        </p:txBody>
      </p:sp>
      <p:sp>
        <p:nvSpPr>
          <p:cNvPr id="51203" name="Tex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24D8433E-BD80-62AA-6796-EBFFF71C8BD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7543800" cy="457200"/>
          </a:xfrm>
        </p:spPr>
        <p:txBody>
          <a:bodyPr/>
          <a:lstStyle/>
          <a:p>
            <a:r>
              <a:rPr lang="en-US" altLang="en-US" sz="2000" b="1"/>
              <a:t>Formulation</a:t>
            </a:r>
          </a:p>
        </p:txBody>
      </p:sp>
      <p:sp>
        <p:nvSpPr>
          <p:cNvPr id="51204" name="Slide Number Placeholder 4">
            <a:extLst>
              <a:ext uri="{FF2B5EF4-FFF2-40B4-BE49-F238E27FC236}">
                <a16:creationId xmlns:a16="http://schemas.microsoft.com/office/drawing/2014/main" id="{35433530-02A8-BA01-9F1F-892D0C6269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1AE73B7-7EF5-4D97-BAE8-18116750FCBF}" type="slidenum">
              <a:rPr lang="en-US" altLang="en-US" sz="1400" smtClean="0"/>
              <a:pPr/>
              <a:t>36</a:t>
            </a:fld>
            <a:endParaRPr lang="en-US" altLang="en-US" sz="1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606F71-5B9C-C714-C21F-879465E56457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143000" y="2667000"/>
            <a:ext cx="7467600" cy="2256195"/>
          </a:xfrm>
          <a:prstGeom prst="rect">
            <a:avLst/>
          </a:prstGeom>
          <a:blipFill>
            <a:blip r:embed="rId2"/>
            <a:stretch>
              <a:fillRect l="-571" b="-3243"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D34E01F1-7C35-9FA5-51CD-4E53EA7643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2CC28CA5-D031-3C6B-BE88-763D6FFA7C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229600" cy="1143000"/>
          </a:xfrm>
        </p:spPr>
        <p:txBody>
          <a:bodyPr/>
          <a:lstStyle/>
          <a:p>
            <a:r>
              <a:rPr lang="en-US" altLang="en-US" sz="3400"/>
              <a:t>The Modified Short-Time </a:t>
            </a:r>
            <a:br>
              <a:rPr lang="en-US" altLang="en-US" sz="3400"/>
            </a:br>
            <a:r>
              <a:rPr lang="en-US" altLang="en-US" sz="3400"/>
              <a:t>Autocorrelation Function</a:t>
            </a:r>
          </a:p>
        </p:txBody>
      </p:sp>
      <p:sp>
        <p:nvSpPr>
          <p:cNvPr id="52227" name="Tex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6665E97-001E-ED0F-9257-FB6A7E71D42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7543800" cy="457200"/>
          </a:xfrm>
        </p:spPr>
        <p:txBody>
          <a:bodyPr/>
          <a:lstStyle/>
          <a:p>
            <a:r>
              <a:rPr lang="en-US" altLang="en-US" sz="2000" b="1"/>
              <a:t>Windowing and Its Importance</a:t>
            </a:r>
          </a:p>
        </p:txBody>
      </p:sp>
      <p:sp>
        <p:nvSpPr>
          <p:cNvPr id="52228" name="Slide Number Placeholder 4">
            <a:extLst>
              <a:ext uri="{FF2B5EF4-FFF2-40B4-BE49-F238E27FC236}">
                <a16:creationId xmlns:a16="http://schemas.microsoft.com/office/drawing/2014/main" id="{87AD724E-07A1-7788-EB37-F8FC609545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CE332C7-BC03-4B74-9E46-112231D54CF7}" type="slidenum">
              <a:rPr lang="en-US" altLang="en-US" sz="1400" smtClean="0"/>
              <a:pPr/>
              <a:t>37</a:t>
            </a:fld>
            <a:endParaRPr lang="en-US" altLang="en-US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E85883-750F-53A5-5DC2-08E8843A986B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62321" y="2636886"/>
            <a:ext cx="7848600" cy="3449278"/>
          </a:xfrm>
          <a:prstGeom prst="rect">
            <a:avLst/>
          </a:prstGeom>
          <a:blipFill>
            <a:blip r:embed="rId2"/>
            <a:stretch>
              <a:fillRect l="-621" t="-1062"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BFFB7A1E-E8E5-A1A6-6BD9-67EBF82A76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id="{EBC9D2BB-59B0-0007-89C2-A9FC228AFD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229600" cy="1143000"/>
          </a:xfrm>
        </p:spPr>
        <p:txBody>
          <a:bodyPr/>
          <a:lstStyle/>
          <a:p>
            <a:r>
              <a:rPr lang="en-US" altLang="en-US" sz="3400"/>
              <a:t>The Modified Short-Time </a:t>
            </a:r>
            <a:br>
              <a:rPr lang="en-US" altLang="en-US" sz="3400"/>
            </a:br>
            <a:r>
              <a:rPr lang="en-US" altLang="en-US" sz="3400"/>
              <a:t>Autocorrelation Function</a:t>
            </a:r>
          </a:p>
        </p:txBody>
      </p:sp>
      <p:sp>
        <p:nvSpPr>
          <p:cNvPr id="53251" name="Tex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32ABD66-1996-CDB9-4815-086313B3461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7543800" cy="457200"/>
          </a:xfrm>
        </p:spPr>
        <p:txBody>
          <a:bodyPr/>
          <a:lstStyle/>
          <a:p>
            <a:r>
              <a:rPr lang="en-US" altLang="en-US" sz="2000" b="1"/>
              <a:t>Practical Assigment</a:t>
            </a:r>
          </a:p>
        </p:txBody>
      </p:sp>
      <p:sp>
        <p:nvSpPr>
          <p:cNvPr id="53252" name="Slide Number Placeholder 4">
            <a:extLst>
              <a:ext uri="{FF2B5EF4-FFF2-40B4-BE49-F238E27FC236}">
                <a16:creationId xmlns:a16="http://schemas.microsoft.com/office/drawing/2014/main" id="{B4F516C7-643F-CA8D-D0AD-2136181536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B5C6507-B415-43E9-83AF-1CCEE6698669}" type="slidenum">
              <a:rPr lang="en-US" altLang="en-US" sz="1400" smtClean="0"/>
              <a:pPr/>
              <a:t>38</a:t>
            </a:fld>
            <a:endParaRPr lang="en-US" altLang="en-US" sz="1400"/>
          </a:p>
        </p:txBody>
      </p:sp>
      <p:sp>
        <p:nvSpPr>
          <p:cNvPr id="53253" name="TextBox 3">
            <a:extLst>
              <a:ext uri="{FF2B5EF4-FFF2-40B4-BE49-F238E27FC236}">
                <a16:creationId xmlns:a16="http://schemas.microsoft.com/office/drawing/2014/main" id="{FFA5EE12-A155-3EDE-AC43-6177AE8A1D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013" y="2636838"/>
            <a:ext cx="7848600" cy="258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 b="1"/>
              <a:t>Task</a:t>
            </a:r>
            <a:r>
              <a:rPr lang="en-US" altLang="en-US" sz="1800"/>
              <a:t>: Implement modified short-time autocorrelation function analysis on a speech dataset.</a:t>
            </a:r>
          </a:p>
          <a:p>
            <a:r>
              <a:rPr lang="en-US" altLang="en-US" sz="1800" b="1"/>
              <a:t>Dataset</a:t>
            </a:r>
            <a:r>
              <a:rPr lang="en-US" altLang="en-US" sz="1800"/>
              <a:t>: Sample speech dataset with multiple audio files (URL).</a:t>
            </a:r>
          </a:p>
          <a:p>
            <a:r>
              <a:rPr lang="en-US" altLang="en-US" sz="1800" b="1"/>
              <a:t>Steps</a:t>
            </a:r>
            <a:r>
              <a:rPr lang="en-US" altLang="en-US" sz="180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800"/>
              <a:t>Load speech audio files and preprocess using Librosa.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800"/>
              <a:t>Compute modified short-time autocorrelation function for each frame.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800"/>
              <a:t>Visualize MSTACF variations over time.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800"/>
              <a:t>Apply basic pitch detection using MSTACF.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7C89D938-062D-B868-461A-EC59C0B108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>
            <a:extLst>
              <a:ext uri="{FF2B5EF4-FFF2-40B4-BE49-F238E27FC236}">
                <a16:creationId xmlns:a16="http://schemas.microsoft.com/office/drawing/2014/main" id="{166727A2-0FD4-2187-8D4A-923D3B6BDE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229600" cy="1143000"/>
          </a:xfrm>
        </p:spPr>
        <p:txBody>
          <a:bodyPr/>
          <a:lstStyle/>
          <a:p>
            <a:r>
              <a:rPr lang="en-US" altLang="en-US" sz="3400"/>
              <a:t>The Modified Short-Time </a:t>
            </a:r>
            <a:br>
              <a:rPr lang="en-US" altLang="en-US" sz="3400"/>
            </a:br>
            <a:r>
              <a:rPr lang="en-US" altLang="en-US" sz="3400"/>
              <a:t>Autocorrelation Function</a:t>
            </a:r>
          </a:p>
        </p:txBody>
      </p:sp>
      <p:sp>
        <p:nvSpPr>
          <p:cNvPr id="54275" name="Tex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AC24D48B-93AC-C4B8-9AED-DB551B83745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7543800" cy="457200"/>
          </a:xfrm>
        </p:spPr>
        <p:txBody>
          <a:bodyPr/>
          <a:lstStyle/>
          <a:p>
            <a:r>
              <a:rPr lang="en-US" altLang="en-US" sz="2000" b="1"/>
              <a:t>Practical Assigment (Solution)</a:t>
            </a:r>
          </a:p>
        </p:txBody>
      </p:sp>
      <p:sp>
        <p:nvSpPr>
          <p:cNvPr id="54276" name="Slide Number Placeholder 4">
            <a:extLst>
              <a:ext uri="{FF2B5EF4-FFF2-40B4-BE49-F238E27FC236}">
                <a16:creationId xmlns:a16="http://schemas.microsoft.com/office/drawing/2014/main" id="{9D85B0D9-274D-2083-F74D-DBCBA348B9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E5ABE5F-BCC4-4E6D-8ECE-C249A7F9D560}" type="slidenum">
              <a:rPr lang="en-US" altLang="en-US" sz="1400" smtClean="0"/>
              <a:pPr/>
              <a:t>39</a:t>
            </a:fld>
            <a:endParaRPr lang="en-US" altLang="en-US" sz="1400"/>
          </a:p>
        </p:txBody>
      </p:sp>
      <p:pic>
        <p:nvPicPr>
          <p:cNvPr id="54277" name="Picture 6">
            <a:extLst>
              <a:ext uri="{FF2B5EF4-FFF2-40B4-BE49-F238E27FC236}">
                <a16:creationId xmlns:a16="http://schemas.microsoft.com/office/drawing/2014/main" id="{66EE31C1-2D86-A6E1-8160-CBC5C1D64B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413000"/>
            <a:ext cx="3446463" cy="416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8FD97627-8F09-7E83-69C1-C9D9DF8BFA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0923A01C-CB2D-F317-5BE7-CE1529815F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229600" cy="1143000"/>
          </a:xfrm>
        </p:spPr>
        <p:txBody>
          <a:bodyPr/>
          <a:lstStyle/>
          <a:p>
            <a:r>
              <a:rPr lang="en-US" altLang="en-US" sz="3400"/>
              <a:t>The Modified Short-Time </a:t>
            </a:r>
            <a:br>
              <a:rPr lang="en-US" altLang="en-US" sz="3400"/>
            </a:br>
            <a:r>
              <a:rPr lang="en-US" altLang="en-US" sz="3400"/>
              <a:t>Autocorrelation Function</a:t>
            </a:r>
          </a:p>
        </p:txBody>
      </p:sp>
      <p:sp>
        <p:nvSpPr>
          <p:cNvPr id="55299" name="Tex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1B00E74-4859-34A8-D8C8-E1B595D27D9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7543800" cy="457200"/>
          </a:xfrm>
        </p:spPr>
        <p:txBody>
          <a:bodyPr/>
          <a:lstStyle/>
          <a:p>
            <a:r>
              <a:rPr lang="en-US" altLang="en-US" sz="2000" b="1"/>
              <a:t>Summary</a:t>
            </a:r>
          </a:p>
        </p:txBody>
      </p:sp>
      <p:sp>
        <p:nvSpPr>
          <p:cNvPr id="55300" name="Slide Number Placeholder 4">
            <a:extLst>
              <a:ext uri="{FF2B5EF4-FFF2-40B4-BE49-F238E27FC236}">
                <a16:creationId xmlns:a16="http://schemas.microsoft.com/office/drawing/2014/main" id="{9B02CCCB-8913-8EA7-F2FC-31F154E83E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CCCE32E-9E2C-4576-B662-91D9A5E11888}" type="slidenum">
              <a:rPr lang="en-US" altLang="en-US" sz="1400" smtClean="0"/>
              <a:pPr/>
              <a:t>40</a:t>
            </a:fld>
            <a:endParaRPr lang="en-US" altLang="en-US" sz="1400"/>
          </a:p>
        </p:txBody>
      </p:sp>
      <p:sp>
        <p:nvSpPr>
          <p:cNvPr id="55301" name="TextBox 3">
            <a:extLst>
              <a:ext uri="{FF2B5EF4-FFF2-40B4-BE49-F238E27FC236}">
                <a16:creationId xmlns:a16="http://schemas.microsoft.com/office/drawing/2014/main" id="{AD09B6AC-F288-951B-50DE-FA992384D0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013" y="2636838"/>
            <a:ext cx="7848600" cy="258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en-US" sz="1800"/>
              <a:t>The modified short-time autocorrelation function (MSTACF) is a valuable enhancement of STACF for speech processing.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1800"/>
              <a:t>Python libraries like Librosa facilitate the practical implementation of MSTACF analysis.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1800"/>
              <a:t>Future directions and applications of MSTACF in various speech processing tasks, including advanced pitch detection, noise-robust speech recognition, and speech enhancement.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6BC77C79-BECA-E7A7-711F-3265FB4BCA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AC057C35-76AA-5C9B-4C18-5373624EC92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72390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The Short-Time Average Magnitude Difference Function</a:t>
            </a:r>
          </a:p>
        </p:txBody>
      </p:sp>
      <p:pic>
        <p:nvPicPr>
          <p:cNvPr id="56323" name="Picture 3">
            <a:extLst>
              <a:ext uri="{FF2B5EF4-FFF2-40B4-BE49-F238E27FC236}">
                <a16:creationId xmlns:a16="http://schemas.microsoft.com/office/drawing/2014/main" id="{E7BEF8BB-D851-F9FD-60C0-98F1D58B44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>
            <a:extLst>
              <a:ext uri="{FF2B5EF4-FFF2-40B4-BE49-F238E27FC236}">
                <a16:creationId xmlns:a16="http://schemas.microsoft.com/office/drawing/2014/main" id="{83877AF1-BF15-A304-593F-F0F2BA61C3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229600" cy="1143000"/>
          </a:xfrm>
        </p:spPr>
        <p:txBody>
          <a:bodyPr/>
          <a:lstStyle/>
          <a:p>
            <a:r>
              <a:rPr lang="en-US" altLang="en-US" sz="3400"/>
              <a:t>The Short-Time Average Magnitude Difference Function</a:t>
            </a:r>
          </a:p>
        </p:txBody>
      </p:sp>
      <p:sp>
        <p:nvSpPr>
          <p:cNvPr id="58371" name="Tex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4A3C2AA-B1D2-D7CC-D88F-4C2092EB025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7543800" cy="457200"/>
          </a:xfrm>
        </p:spPr>
        <p:txBody>
          <a:bodyPr/>
          <a:lstStyle/>
          <a:p>
            <a:r>
              <a:rPr lang="en-US" altLang="en-US" sz="2000" b="1"/>
              <a:t>Average Magnitude Difference Function (AMDF)</a:t>
            </a:r>
          </a:p>
        </p:txBody>
      </p:sp>
      <p:sp>
        <p:nvSpPr>
          <p:cNvPr id="58372" name="Slide Number Placeholder 4">
            <a:extLst>
              <a:ext uri="{FF2B5EF4-FFF2-40B4-BE49-F238E27FC236}">
                <a16:creationId xmlns:a16="http://schemas.microsoft.com/office/drawing/2014/main" id="{903A7E69-17F7-F103-2214-8634E649C1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046FFF2-B2A5-405E-9C81-663819F053E1}" type="slidenum">
              <a:rPr lang="en-US" altLang="en-US" sz="1400" smtClean="0"/>
              <a:pPr/>
              <a:t>42</a:t>
            </a:fld>
            <a:endParaRPr lang="en-US" altLang="en-US" sz="1400"/>
          </a:p>
        </p:txBody>
      </p:sp>
      <p:sp>
        <p:nvSpPr>
          <p:cNvPr id="58373" name="TextBox 5">
            <a:extLst>
              <a:ext uri="{FF2B5EF4-FFF2-40B4-BE49-F238E27FC236}">
                <a16:creationId xmlns:a16="http://schemas.microsoft.com/office/drawing/2014/main" id="{5F7963B5-F94B-D879-EEE6-DD0AFEB34A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013" y="2636838"/>
            <a:ext cx="7848600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 b="1"/>
              <a:t>Definition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800"/>
              <a:t>The Average Magnitude Difference Function measures the average absolute difference between a signal and its delayed version.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800"/>
              <a:t>Useful for detecting periodicity and fundamental frequencies in a signal.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A6B0D7-2DE0-EB42-E3F1-D81F77361A2E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62321" y="4191000"/>
            <a:ext cx="7848600" cy="1979453"/>
          </a:xfrm>
          <a:prstGeom prst="rect">
            <a:avLst/>
          </a:prstGeom>
          <a:blipFill>
            <a:blip r:embed="rId2"/>
            <a:stretch>
              <a:fillRect l="-621" t="-1852" b="-3704"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F85F0A77-6397-A853-A3A0-F2E20AFBA1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6DB2D2D7-D7A3-2ABF-6DAA-CD2A74EACF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229600" cy="1143000"/>
          </a:xfrm>
        </p:spPr>
        <p:txBody>
          <a:bodyPr/>
          <a:lstStyle/>
          <a:p>
            <a:r>
              <a:rPr lang="en-US" altLang="en-US" sz="3400"/>
              <a:t>The Short-Time Average Magnitude Difference Function</a:t>
            </a:r>
          </a:p>
        </p:txBody>
      </p:sp>
      <p:sp>
        <p:nvSpPr>
          <p:cNvPr id="59395" name="Tex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14CD9DC-0E36-E5E1-37EC-D7B08A3D4AC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7543800" cy="457200"/>
          </a:xfrm>
        </p:spPr>
        <p:txBody>
          <a:bodyPr/>
          <a:lstStyle/>
          <a:p>
            <a:r>
              <a:rPr lang="en-US" altLang="en-US" sz="2000" b="1"/>
              <a:t>Importance of AMDF in Speech Processing</a:t>
            </a:r>
          </a:p>
        </p:txBody>
      </p:sp>
      <p:sp>
        <p:nvSpPr>
          <p:cNvPr id="59396" name="Slide Number Placeholder 4">
            <a:extLst>
              <a:ext uri="{FF2B5EF4-FFF2-40B4-BE49-F238E27FC236}">
                <a16:creationId xmlns:a16="http://schemas.microsoft.com/office/drawing/2014/main" id="{AC384B80-44CF-72B6-843D-3D09A4D562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F3DCC82-3067-4607-8DFC-86FD4E7341D8}" type="slidenum">
              <a:rPr lang="en-US" altLang="en-US" sz="1400" smtClean="0"/>
              <a:pPr/>
              <a:t>43</a:t>
            </a:fld>
            <a:endParaRPr lang="en-US" altLang="en-US" sz="1400"/>
          </a:p>
        </p:txBody>
      </p:sp>
      <p:sp>
        <p:nvSpPr>
          <p:cNvPr id="59397" name="TextBox 5">
            <a:extLst>
              <a:ext uri="{FF2B5EF4-FFF2-40B4-BE49-F238E27FC236}">
                <a16:creationId xmlns:a16="http://schemas.microsoft.com/office/drawing/2014/main" id="{564A30C1-CC5F-93CC-E07D-41F2C5E489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514600"/>
            <a:ext cx="5767388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 b="1"/>
              <a:t>Pitch Detection: </a:t>
            </a:r>
            <a:r>
              <a:rPr lang="en-US" altLang="en-US" sz="1800"/>
              <a:t>Identifying the fundamental frequency of voiced speech.</a:t>
            </a:r>
          </a:p>
          <a:p>
            <a:endParaRPr lang="en-US" altLang="en-US" sz="1800" b="1"/>
          </a:p>
          <a:p>
            <a:r>
              <a:rPr lang="en-US" altLang="en-US" sz="1800" b="1"/>
              <a:t>Speech Segmentation: </a:t>
            </a:r>
            <a:r>
              <a:rPr lang="en-US" altLang="en-US" sz="1800"/>
              <a:t>Differentiating between voiced and unvoiced speech segments.</a:t>
            </a:r>
          </a:p>
          <a:p>
            <a:endParaRPr lang="en-US" altLang="en-US" sz="1800" b="1"/>
          </a:p>
          <a:p>
            <a:r>
              <a:rPr lang="en-US" altLang="en-US" sz="1800" b="1"/>
              <a:t>Pattern Recognition: </a:t>
            </a:r>
            <a:r>
              <a:rPr lang="en-US" altLang="en-US" sz="1800"/>
              <a:t>Recognizing periodic structures within the speech signal.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D4F856C4-0511-DAB7-A984-29FFA8BE06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>
            <a:extLst>
              <a:ext uri="{FF2B5EF4-FFF2-40B4-BE49-F238E27FC236}">
                <a16:creationId xmlns:a16="http://schemas.microsoft.com/office/drawing/2014/main" id="{B21A5941-40B8-CE12-B2A9-EF4B94E7D6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229600" cy="1143000"/>
          </a:xfrm>
        </p:spPr>
        <p:txBody>
          <a:bodyPr/>
          <a:lstStyle/>
          <a:p>
            <a:r>
              <a:rPr lang="en-US" altLang="en-US" sz="3400"/>
              <a:t>The Short-Time Average Magnitude Difference Function</a:t>
            </a:r>
          </a:p>
        </p:txBody>
      </p:sp>
      <p:sp>
        <p:nvSpPr>
          <p:cNvPr id="60419" name="Tex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5F7122EF-7D38-951D-21FE-2F31D49FC3F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8001000" cy="457200"/>
          </a:xfrm>
        </p:spPr>
        <p:txBody>
          <a:bodyPr/>
          <a:lstStyle/>
          <a:p>
            <a:r>
              <a:rPr lang="en-US" altLang="en-US" sz="1800" b="1"/>
              <a:t>Short-Time Average Magnitude Difference Function (STAMDF)</a:t>
            </a:r>
          </a:p>
        </p:txBody>
      </p:sp>
      <p:sp>
        <p:nvSpPr>
          <p:cNvPr id="60420" name="Slide Number Placeholder 4">
            <a:extLst>
              <a:ext uri="{FF2B5EF4-FFF2-40B4-BE49-F238E27FC236}">
                <a16:creationId xmlns:a16="http://schemas.microsoft.com/office/drawing/2014/main" id="{68AB7C4B-D953-53A5-E700-FD99EEDDCA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AC144A0-1C41-447A-A5A9-A0025CDF5F4B}" type="slidenum">
              <a:rPr lang="en-US" altLang="en-US" sz="1400" smtClean="0"/>
              <a:pPr/>
              <a:t>44</a:t>
            </a:fld>
            <a:endParaRPr lang="en-US" altLang="en-US" sz="1400"/>
          </a:p>
        </p:txBody>
      </p:sp>
      <p:sp>
        <p:nvSpPr>
          <p:cNvPr id="60421" name="TextBox 5">
            <a:extLst>
              <a:ext uri="{FF2B5EF4-FFF2-40B4-BE49-F238E27FC236}">
                <a16:creationId xmlns:a16="http://schemas.microsoft.com/office/drawing/2014/main" id="{38F679A4-9146-82A7-953A-2535C9AD76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013" y="2636838"/>
            <a:ext cx="78486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 b="1"/>
              <a:t>Definition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800"/>
              <a:t>The STAMDF captures the local periodicity within short frames of the signal.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3241F0-9384-F04A-4123-65E7A01C3E93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67255" y="3657600"/>
            <a:ext cx="7848600" cy="2810193"/>
          </a:xfrm>
          <a:prstGeom prst="rect">
            <a:avLst/>
          </a:prstGeom>
          <a:blipFill>
            <a:blip r:embed="rId2"/>
            <a:stretch>
              <a:fillRect l="-621" t="-1085" b="-2386"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CA89DEF8-1C07-C6C9-3FF1-88FCD8B0CF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>
            <a:extLst>
              <a:ext uri="{FF2B5EF4-FFF2-40B4-BE49-F238E27FC236}">
                <a16:creationId xmlns:a16="http://schemas.microsoft.com/office/drawing/2014/main" id="{7729354E-5323-C53E-2B19-55171E4E03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229600" cy="1143000"/>
          </a:xfrm>
        </p:spPr>
        <p:txBody>
          <a:bodyPr/>
          <a:lstStyle/>
          <a:p>
            <a:r>
              <a:rPr lang="en-US" altLang="en-US" sz="3400"/>
              <a:t>The Short-Time Average Magnitude Difference Function</a:t>
            </a:r>
          </a:p>
        </p:txBody>
      </p:sp>
      <p:sp>
        <p:nvSpPr>
          <p:cNvPr id="61443" name="Tex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112FFDA-A6AD-743F-F194-AC9A2C452C5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8001000" cy="457200"/>
          </a:xfrm>
        </p:spPr>
        <p:txBody>
          <a:bodyPr/>
          <a:lstStyle/>
          <a:p>
            <a:r>
              <a:rPr lang="en-US" altLang="en-US" sz="2000" b="1"/>
              <a:t>Windowing and Framing</a:t>
            </a:r>
          </a:p>
        </p:txBody>
      </p:sp>
      <p:sp>
        <p:nvSpPr>
          <p:cNvPr id="61444" name="Slide Number Placeholder 4">
            <a:extLst>
              <a:ext uri="{FF2B5EF4-FFF2-40B4-BE49-F238E27FC236}">
                <a16:creationId xmlns:a16="http://schemas.microsoft.com/office/drawing/2014/main" id="{F906EB84-DEBB-BD0E-44F2-6D34BD7BE4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CC96E1F-0E8A-4E53-ACB8-1D5A9202DA3C}" type="slidenum">
              <a:rPr lang="en-US" altLang="en-US" sz="1400" smtClean="0"/>
              <a:pPr/>
              <a:t>45</a:t>
            </a:fld>
            <a:endParaRPr lang="en-US" altLang="en-US" sz="1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815003-85BC-4DB9-0DD3-931094A1281C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62321" y="2636886"/>
            <a:ext cx="7848600" cy="1477328"/>
          </a:xfrm>
          <a:prstGeom prst="rect">
            <a:avLst/>
          </a:prstGeom>
          <a:blipFill>
            <a:blip r:embed="rId2"/>
            <a:stretch>
              <a:fillRect l="-621" t="-2479" b="-5785"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61446" name="TextBox 7">
            <a:extLst>
              <a:ext uri="{FF2B5EF4-FFF2-40B4-BE49-F238E27FC236}">
                <a16:creationId xmlns:a16="http://schemas.microsoft.com/office/drawing/2014/main" id="{6E896320-05B5-319D-E980-4416BB813C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013" y="4392613"/>
            <a:ext cx="7848600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 b="1"/>
              <a:t>Framing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800"/>
              <a:t>Segmenting the speech signal into overlapping frames.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800"/>
              <a:t>Parameters include frame size (N) and frameshift (hop size).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D8B2BD50-89C3-8A0E-0022-0517B39E71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>
            <a:extLst>
              <a:ext uri="{FF2B5EF4-FFF2-40B4-BE49-F238E27FC236}">
                <a16:creationId xmlns:a16="http://schemas.microsoft.com/office/drawing/2014/main" id="{9DB02D54-B121-A960-22A7-D33856F4E6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229600" cy="1143000"/>
          </a:xfrm>
        </p:spPr>
        <p:txBody>
          <a:bodyPr/>
          <a:lstStyle/>
          <a:p>
            <a:r>
              <a:rPr lang="en-US" altLang="en-US" sz="3400"/>
              <a:t>The Short-Time Average Magnitude Difference Function</a:t>
            </a:r>
          </a:p>
        </p:txBody>
      </p:sp>
      <p:sp>
        <p:nvSpPr>
          <p:cNvPr id="62467" name="Tex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2E9F1DAB-6C4E-1B62-403E-5CFCF424F90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8001000" cy="457200"/>
          </a:xfrm>
        </p:spPr>
        <p:txBody>
          <a:bodyPr/>
          <a:lstStyle/>
          <a:p>
            <a:r>
              <a:rPr lang="en-US" altLang="en-US" sz="2000" b="1"/>
              <a:t>Practical Assignment</a:t>
            </a:r>
          </a:p>
        </p:txBody>
      </p:sp>
      <p:sp>
        <p:nvSpPr>
          <p:cNvPr id="62468" name="Slide Number Placeholder 4">
            <a:extLst>
              <a:ext uri="{FF2B5EF4-FFF2-40B4-BE49-F238E27FC236}">
                <a16:creationId xmlns:a16="http://schemas.microsoft.com/office/drawing/2014/main" id="{4C2FCE5A-5965-4904-117D-B687E89577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F1FA1B4-1AA2-4D95-B12D-A729E134EF25}" type="slidenum">
              <a:rPr lang="en-US" altLang="en-US" sz="1400" smtClean="0"/>
              <a:pPr/>
              <a:t>46</a:t>
            </a:fld>
            <a:endParaRPr lang="en-US" altLang="en-US" sz="1400"/>
          </a:p>
        </p:txBody>
      </p:sp>
      <p:sp>
        <p:nvSpPr>
          <p:cNvPr id="62469" name="TextBox 5">
            <a:extLst>
              <a:ext uri="{FF2B5EF4-FFF2-40B4-BE49-F238E27FC236}">
                <a16:creationId xmlns:a16="http://schemas.microsoft.com/office/drawing/2014/main" id="{864990AA-DCAC-D678-B9B0-1C414CF1AE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78075"/>
            <a:ext cx="7848600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 b="1"/>
              <a:t>Task: </a:t>
            </a:r>
            <a:r>
              <a:rPr lang="en-US" altLang="en-US" sz="1800"/>
              <a:t>Implement short-time average magnitude difference function analysis on a speech dataset.</a:t>
            </a:r>
          </a:p>
          <a:p>
            <a:endParaRPr lang="en-US" altLang="en-US" sz="1800"/>
          </a:p>
          <a:p>
            <a:r>
              <a:rPr lang="en-US" altLang="en-US" sz="1800" b="1"/>
              <a:t>Dataset: </a:t>
            </a:r>
            <a:r>
              <a:rPr lang="en-US" altLang="en-US" sz="1800"/>
              <a:t>Sample speech dataset with multiple audio files.</a:t>
            </a:r>
          </a:p>
          <a:p>
            <a:endParaRPr lang="en-US" altLang="en-US" sz="1800"/>
          </a:p>
          <a:p>
            <a:r>
              <a:rPr lang="en-US" altLang="en-US" sz="1800" b="1"/>
              <a:t>Steps: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800"/>
              <a:t>Load speech audio files and preprocess using Librosa.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800"/>
              <a:t>Compute short-time average magnitude difference function for each frame.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800"/>
              <a:t>Visualize STAMDF variations over time.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800"/>
              <a:t>Apply basic pitch detection using STAMDF.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362A79B1-EF43-101D-5615-C73F93DE08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>
            <a:extLst>
              <a:ext uri="{FF2B5EF4-FFF2-40B4-BE49-F238E27FC236}">
                <a16:creationId xmlns:a16="http://schemas.microsoft.com/office/drawing/2014/main" id="{6382228A-9225-D43E-0E5D-0302097AFE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229600" cy="1143000"/>
          </a:xfrm>
        </p:spPr>
        <p:txBody>
          <a:bodyPr/>
          <a:lstStyle/>
          <a:p>
            <a:r>
              <a:rPr lang="en-US" altLang="en-US" sz="3400"/>
              <a:t>The Short-Time Average Magnitude Difference Function</a:t>
            </a:r>
          </a:p>
        </p:txBody>
      </p:sp>
      <p:sp>
        <p:nvSpPr>
          <p:cNvPr id="63491" name="Tex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E7B2BA3-F8B3-BA3A-E677-DBF76BE3268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8001000" cy="457200"/>
          </a:xfrm>
        </p:spPr>
        <p:txBody>
          <a:bodyPr/>
          <a:lstStyle/>
          <a:p>
            <a:r>
              <a:rPr lang="en-US" altLang="en-US" sz="2000" b="1"/>
              <a:t>Practical Assignment (Solution)</a:t>
            </a:r>
          </a:p>
        </p:txBody>
      </p:sp>
      <p:sp>
        <p:nvSpPr>
          <p:cNvPr id="63492" name="Slide Number Placeholder 4">
            <a:extLst>
              <a:ext uri="{FF2B5EF4-FFF2-40B4-BE49-F238E27FC236}">
                <a16:creationId xmlns:a16="http://schemas.microsoft.com/office/drawing/2014/main" id="{C659CB88-362B-109E-0715-938044F26A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667DB87-A23B-48D3-AE87-1CDC3D3EA7EF}" type="slidenum">
              <a:rPr lang="en-US" altLang="en-US" sz="1400" smtClean="0"/>
              <a:pPr/>
              <a:t>47</a:t>
            </a:fld>
            <a:endParaRPr lang="en-US" altLang="en-US" sz="1400"/>
          </a:p>
        </p:txBody>
      </p:sp>
      <p:pic>
        <p:nvPicPr>
          <p:cNvPr id="63493" name="Picture 6">
            <a:extLst>
              <a:ext uri="{FF2B5EF4-FFF2-40B4-BE49-F238E27FC236}">
                <a16:creationId xmlns:a16="http://schemas.microsoft.com/office/drawing/2014/main" id="{12CA8016-5873-7D69-3CFF-802BCA1532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362200"/>
            <a:ext cx="4060825" cy="407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1DB789E4-687D-73E7-6C9F-ADDBBAFE75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>
            <a:extLst>
              <a:ext uri="{FF2B5EF4-FFF2-40B4-BE49-F238E27FC236}">
                <a16:creationId xmlns:a16="http://schemas.microsoft.com/office/drawing/2014/main" id="{7C578535-4B9D-A0B3-43E8-3CA5C6B57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229600" cy="1143000"/>
          </a:xfrm>
        </p:spPr>
        <p:txBody>
          <a:bodyPr/>
          <a:lstStyle/>
          <a:p>
            <a:r>
              <a:rPr lang="en-US" altLang="en-US" sz="3400"/>
              <a:t>The Short-Time Average Magnitude Difference Function</a:t>
            </a:r>
          </a:p>
        </p:txBody>
      </p:sp>
      <p:sp>
        <p:nvSpPr>
          <p:cNvPr id="64515" name="Tex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25B25366-B6E5-F722-D204-4D160894AD5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8001000" cy="457200"/>
          </a:xfrm>
        </p:spPr>
        <p:txBody>
          <a:bodyPr/>
          <a:lstStyle/>
          <a:p>
            <a:r>
              <a:rPr lang="en-US" altLang="en-US" sz="2000" b="1"/>
              <a:t>Summary</a:t>
            </a:r>
          </a:p>
        </p:txBody>
      </p:sp>
      <p:sp>
        <p:nvSpPr>
          <p:cNvPr id="64516" name="Slide Number Placeholder 4">
            <a:extLst>
              <a:ext uri="{FF2B5EF4-FFF2-40B4-BE49-F238E27FC236}">
                <a16:creationId xmlns:a16="http://schemas.microsoft.com/office/drawing/2014/main" id="{F4F85113-1D07-2BB9-A9E4-831BBAAD5A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600CCAD-53D3-4D92-B40F-C27A72CC0E66}" type="slidenum">
              <a:rPr lang="en-US" altLang="en-US" sz="1400" smtClean="0"/>
              <a:pPr/>
              <a:t>48</a:t>
            </a:fld>
            <a:endParaRPr lang="en-US" altLang="en-US" sz="1400"/>
          </a:p>
        </p:txBody>
      </p:sp>
      <p:sp>
        <p:nvSpPr>
          <p:cNvPr id="64517" name="TextBox 5">
            <a:extLst>
              <a:ext uri="{FF2B5EF4-FFF2-40B4-BE49-F238E27FC236}">
                <a16:creationId xmlns:a16="http://schemas.microsoft.com/office/drawing/2014/main" id="{7F99F5B1-E81B-AAE0-592E-2E8B57BE62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600" y="2590800"/>
            <a:ext cx="7848600" cy="258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en-US" sz="1800"/>
              <a:t>The short-time average magnitude difference function (STAMDF) is a valuable time-domain feature for speech processing.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1800"/>
              <a:t>Python libraries like Librosa facilitate practical implementation of STAMDF analysis.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1800"/>
              <a:t>Future directions and applications of STAMDF in various speech processing tasks, including advanced pitch detection and speech synthesis.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395054AD-FF97-0CAE-2B75-A23B2D02DA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>
            <a:extLst>
              <a:ext uri="{FF2B5EF4-FFF2-40B4-BE49-F238E27FC236}">
                <a16:creationId xmlns:a16="http://schemas.microsoft.com/office/drawing/2014/main" id="{F1DB9625-1EE7-5617-198D-BE898F9C91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3124200"/>
            <a:ext cx="6705600" cy="1143000"/>
          </a:xfrm>
        </p:spPr>
        <p:txBody>
          <a:bodyPr/>
          <a:lstStyle/>
          <a:p>
            <a:pPr algn="ctr"/>
            <a:r>
              <a:rPr lang="vi-VN" altLang="en-US"/>
              <a:t>Q &amp; A</a:t>
            </a:r>
            <a:endParaRPr lang="en-US" altLang="en-US"/>
          </a:p>
        </p:txBody>
      </p:sp>
      <p:sp>
        <p:nvSpPr>
          <p:cNvPr id="65539" name="Slide Number Placeholder 6">
            <a:extLst>
              <a:ext uri="{FF2B5EF4-FFF2-40B4-BE49-F238E27FC236}">
                <a16:creationId xmlns:a16="http://schemas.microsoft.com/office/drawing/2014/main" id="{A82B39ED-1A2E-AB2F-AC22-E1F0C8261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3A23BAF-CAFF-481A-99DE-6ABA27A51DE0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lang="en-US" altLang="en-US" sz="1400"/>
          </a:p>
        </p:txBody>
      </p:sp>
      <p:pic>
        <p:nvPicPr>
          <p:cNvPr id="65540" name="Picture 3">
            <a:extLst>
              <a:ext uri="{FF2B5EF4-FFF2-40B4-BE49-F238E27FC236}">
                <a16:creationId xmlns:a16="http://schemas.microsoft.com/office/drawing/2014/main" id="{260CF80E-0D64-B9D6-A135-40B5677C73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15641</TotalTime>
  <Words>1820</Words>
  <Application>Microsoft Office PowerPoint</Application>
  <PresentationFormat>On-screen Show (4:3)</PresentationFormat>
  <Paragraphs>298</Paragraphs>
  <Slides>49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5" baseType="lpstr">
      <vt:lpstr>Tahoma</vt:lpstr>
      <vt:lpstr>MS PGothic</vt:lpstr>
      <vt:lpstr>Arial</vt:lpstr>
      <vt:lpstr>Wingdings</vt:lpstr>
      <vt:lpstr>Times New Roman</vt:lpstr>
      <vt:lpstr>Blueprint</vt:lpstr>
      <vt:lpstr>Time-Domain Methods for Speech Processing</vt:lpstr>
      <vt:lpstr>Contents</vt:lpstr>
      <vt:lpstr>Short-Time Analysis of Speech</vt:lpstr>
      <vt:lpstr>Short-Time Analysis of Speech</vt:lpstr>
      <vt:lpstr>Short-Time Analysis of Speech</vt:lpstr>
      <vt:lpstr>Short-Time Analysis of Speech</vt:lpstr>
      <vt:lpstr>Short-Time Analysis of Speech</vt:lpstr>
      <vt:lpstr>Short-Time Analysis of Speech</vt:lpstr>
      <vt:lpstr>Short-Time Analysis of Speech</vt:lpstr>
      <vt:lpstr>Short-Time Energy and Short-Time Magnitude</vt:lpstr>
      <vt:lpstr>Short-Time Energy and Short-Time Magnitude</vt:lpstr>
      <vt:lpstr>Short-Time Energy and Short-Time Magnitude</vt:lpstr>
      <vt:lpstr>Short-Time Energy and Short-Time Magnitude</vt:lpstr>
      <vt:lpstr>Short-Time Energy and Short-Time Magnitude</vt:lpstr>
      <vt:lpstr>Short-Time Energy and Short-Time Magnitude</vt:lpstr>
      <vt:lpstr>Short-Time Energy and Short-Time Magnitude</vt:lpstr>
      <vt:lpstr>Short-Time Energy and Short-Time Magnitude</vt:lpstr>
      <vt:lpstr>Short-Time Energy and Short-Time Magnitude</vt:lpstr>
      <vt:lpstr>Short-Time Energy and Short-Time Magnitude</vt:lpstr>
      <vt:lpstr>Short-Time Zero-Crossing Rate</vt:lpstr>
      <vt:lpstr>Short-Time Zero-Crossing Rate</vt:lpstr>
      <vt:lpstr>Short-Time Zero-Crossing Rate</vt:lpstr>
      <vt:lpstr>Short-Time Zero-Crossing Rate</vt:lpstr>
      <vt:lpstr>Short-Time Zero-Crossing Rate</vt:lpstr>
      <vt:lpstr>Short-Time Zero-Crossing Rate</vt:lpstr>
      <vt:lpstr>Short-Time Zero-Crossing Rate</vt:lpstr>
      <vt:lpstr>The Short-Time Autocorrelation Function</vt:lpstr>
      <vt:lpstr>The Short-Time Autocorrelation Function</vt:lpstr>
      <vt:lpstr>The Short-Time Autocorrelation Function</vt:lpstr>
      <vt:lpstr>The Short-Time Autocorrelation Function</vt:lpstr>
      <vt:lpstr>The Short-Time Autocorrelation Function</vt:lpstr>
      <vt:lpstr>The Short-Time Autocorrelation Function</vt:lpstr>
      <vt:lpstr>The Short-Time Autocorrelation Function</vt:lpstr>
      <vt:lpstr>The Modified Short-Time Autocorrelation Function</vt:lpstr>
      <vt:lpstr>The Modified Short-Time  Autocorrelation Function</vt:lpstr>
      <vt:lpstr>The Modified Short-Time  Autocorrelation Function</vt:lpstr>
      <vt:lpstr>The Modified Short-Time  Autocorrelation Function</vt:lpstr>
      <vt:lpstr>The Modified Short-Time  Autocorrelation Function</vt:lpstr>
      <vt:lpstr>The Modified Short-Time  Autocorrelation Function</vt:lpstr>
      <vt:lpstr>The Modified Short-Time  Autocorrelation Function</vt:lpstr>
      <vt:lpstr>The Short-Time Average Magnitude Difference Function</vt:lpstr>
      <vt:lpstr>The Short-Time Average Magnitude Difference Function</vt:lpstr>
      <vt:lpstr>The Short-Time Average Magnitude Difference Function</vt:lpstr>
      <vt:lpstr>The Short-Time Average Magnitude Difference Function</vt:lpstr>
      <vt:lpstr>The Short-Time Average Magnitude Difference Function</vt:lpstr>
      <vt:lpstr>The Short-Time Average Magnitude Difference Function</vt:lpstr>
      <vt:lpstr>The Short-Time Average Magnitude Difference Function</vt:lpstr>
      <vt:lpstr>The Short-Time Average Magnitude Difference Function</vt:lpstr>
      <vt:lpstr>Q &amp; 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Tittlehere</dc:title>
  <dc:subject/>
  <dc:creator>Microsoft Office User</dc:creator>
  <cp:keywords/>
  <dc:description/>
  <cp:lastModifiedBy>Vuong Nguyen Luong</cp:lastModifiedBy>
  <cp:revision>253</cp:revision>
  <dcterms:created xsi:type="dcterms:W3CDTF">2022-10-28T07:26:15Z</dcterms:created>
  <dcterms:modified xsi:type="dcterms:W3CDTF">2024-08-29T08:56:27Z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0</vt:i4>
  </property>
  <property fmtid="{D5CDD505-2E9C-101B-9397-08002B2CF9AE}" pid="3" name="GraphicType">
    <vt:i4>0</vt:i4>
  </property>
  <property fmtid="{D5CDD505-2E9C-101B-9397-08002B2CF9AE}" pid="4" name="Compression">
    <vt:i4>0</vt:i4>
  </property>
  <property fmtid="{D5CDD505-2E9C-101B-9397-08002B2CF9AE}" pid="5" name="ScreenSize">
    <vt:i4>0</vt:i4>
  </property>
  <property fmtid="{D5CDD505-2E9C-101B-9397-08002B2CF9AE}" pid="6" name="ScreenUsage">
    <vt:i4>0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0</vt:i4>
  </property>
  <property fmtid="{D5CDD505-2E9C-101B-9397-08002B2CF9AE}" pid="14" name="TextColor">
    <vt:i4>0</vt:i4>
  </property>
  <property fmtid="{D5CDD505-2E9C-101B-9397-08002B2CF9AE}" pid="15" name="LinkColor">
    <vt:i4>0</vt:i4>
  </property>
  <property fmtid="{D5CDD505-2E9C-101B-9397-08002B2CF9AE}" pid="16" name="VisitedColor">
    <vt:i4>0</vt:i4>
  </property>
  <property fmtid="{D5CDD505-2E9C-101B-9397-08002B2CF9AE}" pid="17" name="TransparentButton">
    <vt:i4>0</vt:i4>
  </property>
  <property fmtid="{D5CDD505-2E9C-101B-9397-08002B2CF9AE}" pid="18" name="ButtonType">
    <vt:i4>0</vt:i4>
  </property>
  <property fmtid="{D5CDD505-2E9C-101B-9397-08002B2CF9AE}" pid="19" name="ShowNotes">
    <vt:bool>false</vt:bool>
  </property>
  <property fmtid="{D5CDD505-2E9C-101B-9397-08002B2CF9AE}" pid="20" name="NavBtnPos">
    <vt:i4>0</vt:i4>
  </property>
  <property fmtid="{D5CDD505-2E9C-101B-9397-08002B2CF9AE}" pid="21" name="OutputDir">
    <vt:lpwstr>C:\Work\html</vt:lpwstr>
  </property>
</Properties>
</file>