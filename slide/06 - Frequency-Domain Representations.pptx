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0"/>
  </p:notesMasterIdLst>
  <p:handoutMasterIdLst>
    <p:handoutMasterId r:id="rId51"/>
  </p:handoutMasterIdLst>
  <p:sldIdLst>
    <p:sldId id="256" r:id="rId2"/>
    <p:sldId id="363" r:id="rId3"/>
    <p:sldId id="376" r:id="rId4"/>
    <p:sldId id="439" r:id="rId5"/>
    <p:sldId id="448" r:id="rId6"/>
    <p:sldId id="449" r:id="rId7"/>
    <p:sldId id="450" r:id="rId8"/>
    <p:sldId id="451" r:id="rId9"/>
    <p:sldId id="452" r:id="rId10"/>
    <p:sldId id="453" r:id="rId11"/>
    <p:sldId id="456" r:id="rId12"/>
    <p:sldId id="454" r:id="rId13"/>
    <p:sldId id="457" r:id="rId14"/>
    <p:sldId id="440" r:id="rId15"/>
    <p:sldId id="441" r:id="rId16"/>
    <p:sldId id="458" r:id="rId17"/>
    <p:sldId id="459" r:id="rId18"/>
    <p:sldId id="460" r:id="rId19"/>
    <p:sldId id="461" r:id="rId20"/>
    <p:sldId id="462" r:id="rId21"/>
    <p:sldId id="464" r:id="rId22"/>
    <p:sldId id="463" r:id="rId23"/>
    <p:sldId id="465" r:id="rId24"/>
    <p:sldId id="442" r:id="rId25"/>
    <p:sldId id="466" r:id="rId26"/>
    <p:sldId id="443" r:id="rId27"/>
    <p:sldId id="467" r:id="rId28"/>
    <p:sldId id="468" r:id="rId29"/>
    <p:sldId id="469" r:id="rId30"/>
    <p:sldId id="470" r:id="rId31"/>
    <p:sldId id="471" r:id="rId32"/>
    <p:sldId id="444" r:id="rId33"/>
    <p:sldId id="445" r:id="rId34"/>
    <p:sldId id="472" r:id="rId35"/>
    <p:sldId id="473" r:id="rId36"/>
    <p:sldId id="474" r:id="rId37"/>
    <p:sldId id="475" r:id="rId38"/>
    <p:sldId id="476" r:id="rId39"/>
    <p:sldId id="477" r:id="rId40"/>
    <p:sldId id="446" r:id="rId41"/>
    <p:sldId id="447" r:id="rId42"/>
    <p:sldId id="478" r:id="rId43"/>
    <p:sldId id="479" r:id="rId44"/>
    <p:sldId id="480" r:id="rId45"/>
    <p:sldId id="481" r:id="rId46"/>
    <p:sldId id="482" r:id="rId47"/>
    <p:sldId id="483" r:id="rId48"/>
    <p:sldId id="347" r:id="rId49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145" d="100"/>
          <a:sy n="145" d="100"/>
        </p:scale>
        <p:origin x="108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338809-D953-94D1-9754-11D8F8D1C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60D7658-0531-EA58-117C-2F8ED94E38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1D5360A-863D-5697-4AA7-A59810F38E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E3809DC-76A2-C1B7-EE0D-0EB62B04AD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81A1F29-67CC-443F-8363-D88C90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CE4AF9-3319-8C3E-4843-6ACC331514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13330-DC16-EC4B-3DFA-D311F7666C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33F0FA-D85F-3D30-DEA4-6BAE68E22F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AF8B5-D074-95AB-A91A-7927878F8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46D5D-DCE0-FE1A-13AF-03D03E30CD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C38221B-9593-FFDE-FE9A-2F9DAF173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C6BAAAC6-C646-422F-865A-3CB97DC27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5BD963B-31A8-E2CB-8F81-0EEBC8A3D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3EE4A-1F56-C3DC-AFFA-1882F884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6A803A6-DEA9-BEC5-9126-4ABFD559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84AD6-AD12-4D1A-ADF9-0742BB71028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FCF47B-723C-62A4-2D40-12FE68AED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678B112C-C731-4AEC-FA8C-3B51B6685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0F484324-3F68-2412-FBD1-49DCA5779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B0A3D4-18DA-4E55-ACDC-4EDABB4172B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864DA07C-E8F7-B124-D9BA-2CA566D1F6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31492B8-8DF5-578B-4379-7BE5D4025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3FF544C1-90F6-9232-E8FC-49B1B9418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1CD842-7918-4F0E-B707-A5B25466398F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38CA61E7-3558-EA34-85A1-6C2F89F56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A37D9CE8-7EE5-1084-5885-616EB9F90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5B193CD-078C-F49E-95C6-E11D53F19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31675B-9EBA-4E55-9DD5-62A1F7D63618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FD31AA3-2791-03DF-7849-2CF64A365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411FA81-A2A5-487B-8034-00329AEF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060352D-4937-1FE0-2CB8-53364321F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4E54AD-075D-4E45-89FB-BD9E9B928C40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EB57C886-C6D4-23FF-9086-91B971EDE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B3BA672C-A183-652D-8FA9-AA8DE30E1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AC72CE4F-78E5-84A4-FD60-63950659F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8C2BE9-1989-40A0-8FB7-77BB2DF95D63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60B94BF-AAF6-83E1-C32E-35AD94C0D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C9782662-BE42-8442-231F-F126D71C3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803FC213-83A8-AAE3-FEE2-4A4559634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976BC8-9FF8-4A9E-89E2-F6E157FA672C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87998E4C-1572-15F3-A1CC-DF026E0147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3AD014F1-28D6-C73B-9DD4-522EFA29F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4938078-6EA2-F6E4-83BC-829921E94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D1E4848-3D42-431A-B87B-3FC5A8D70DD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F830158B-83B0-F4A4-E5FC-6A8ECF8D68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06599AB6-1B29-68EA-326E-30651AC3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C41AAEC0-DA73-9D9C-CD3C-A89B11784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923A39-6DD3-4B00-B09B-1A3AE9AF7407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0D6BCBA2-9EA8-097C-88CC-6F189C0DF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02559DBE-A77D-C920-3950-E82CB75E1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222E89EB-FAC8-7B10-D612-4D226C20B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E7BA2A-41E3-49CD-8812-8D30D16756AB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87706189-C15F-CDC2-B866-A7856F0E87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5F1CE827-EA22-CD0C-DD7D-B2D54341D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954436CD-1BF8-3440-5256-DF326BA22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3DD8C-E9A7-4107-B154-1B48F49ED5C0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A034232B-9276-45DD-A5F2-AF8FFD06E9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96978688-3841-F389-D479-EF54F4991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F03B09E6-9AB4-1C4A-C6F0-BF13BE589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15CB0A-0FE3-4D6D-BA13-00C1D2CD0667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258B57C8-BE7B-11A4-0B5E-08918F8F60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C455AD13-938E-BA3B-6C87-E8A92A7C0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A71EB5A8-C385-75E0-53BD-105C6D048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72D5F8-A7A2-4786-8263-FF89683EB164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850DD264-CCC9-0798-A555-6608E77B4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05AC4767-3623-170F-A1A0-0CB00D661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B2E0DFBC-D57C-838F-F8A9-9B453062C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B0D19A8-9E75-456E-9978-74910A1E2F4A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0D9D067E-654A-F7AC-18D4-B7E2CDDC39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8E2D1D92-400A-C652-ECCC-929FB5498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2FA3C03C-1B35-FF1C-50A4-6A98A35AB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03E3D9-DB2C-466C-9DBF-6618919E37B3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1DA85D50-3B7E-9F9B-0655-7CE647ED91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79F73143-ADB7-BB7C-57FF-A6BF1D638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56E0C940-4547-E00F-100A-549D0F675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139B96E-5049-45EA-8573-FFA18618341D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143A31F8-EDBE-2A9C-E821-E32828D48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E75FAB5C-4F45-5166-76B7-CB341835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4EF59B9E-D3DB-756E-9CB0-B03735ADD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CFE365-FE93-49E9-A525-4DD0B5CB00C3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F11BB249-FF54-F1D6-75D5-6B5E9E87D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AC0AA50A-7AA6-0261-9EDE-58BF7D582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60B6A6E5-A683-9A4B-3EAD-07BFF168B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1619F1-26B9-4AC0-AEAE-A5FCC81098F3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13D2ACD9-F02A-E0FF-5A71-FE88E21A34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899C7873-23C7-F5D0-8C64-13345F252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13757DAA-7DFA-F50A-C407-B97A5A486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ACF9FF-55EA-4FE4-82D6-AAA45B827960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363A86B-B5D8-B524-4514-8CB78FF8EB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1A43BC8-4116-4F75-7727-46976D228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F4317643-20C3-EB57-7BC3-EA4ECAF8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EF625A-365D-4687-B73A-E1FF2057DADE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01F38699-5AB2-0D3F-C2E6-742A7BB09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F3535FF6-0A40-F319-88F9-D49CA503C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A05C53CC-32F3-159B-560A-FD510465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8356C2-3170-4DA3-8522-9F620F9B849F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717D57EB-2E9B-76DE-5065-540440A3A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74ECC0DF-1536-A454-71A3-D2B8F2B1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3609903-73DF-0D44-1FCA-DA60898D6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55C4F6-E732-4F2B-A6C0-C7DBD6F6743E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C6AD937F-48FA-D1F9-3206-0E7578DFDD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59082647-0832-8000-2D52-651FADD65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F43ECB30-446C-E334-F902-4CB892794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97CB736-A33A-429B-872B-AB8F0BAE8F50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6690B68D-DCAC-F568-1AF0-E7056C0737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84CCBB52-7B8D-6BC9-63A0-AB2DA287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EF8FEA1A-C6A8-F228-7B00-B7D52460F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0FAAA3-C3D8-4F58-9C21-A9F7DFE3A5FD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F917066D-1F25-13DC-93AE-F21F539A7D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C71D5223-8B9D-2B20-770E-F99227D5D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5963298A-B284-8C36-372C-6D45696A5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FEF130-6674-4B02-99EF-4289732B1DBD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5AA89602-BA22-30F7-8D31-C8E3EF7787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9FEBB5CD-5C85-FC31-6236-8FF43D73B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25928943-3ACB-10B3-57CC-AD795B260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A51E17-E23A-4653-B0A2-09EE9054C820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BE72E2B8-2A35-D8CE-3E71-FD6A1671C1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287AC6A7-06F9-9915-FCDB-47DDBBF7C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6208B0DC-E761-94E5-A9A9-13560F7CD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35412F-4519-4EEC-A978-B5B6C43C4798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3B414C4E-1F0B-922D-A64A-E08B4B0582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95162344-32DE-0C6B-F231-78EB73B7E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8A4E6305-2D1B-C20C-D4F0-E59EC89D7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5EA472-CC0F-467A-BD64-C4C32F78D73E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566E298B-D747-DACC-414C-DA6DB7330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D5950465-3535-AA33-6E18-FF3C2F41F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2960827F-283C-1592-0575-D396E4183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DB4046-1C26-4807-B3FD-72CE5E2CA0F5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1F31402D-3559-8742-0B2E-00D7E3FBC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E6CC44C4-65ED-1875-16FC-2570CA867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11FDD22D-FA1E-AE07-0EF6-25F97CDF8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120B01-841C-49BC-B146-AD4B77DBCD43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6F9F106E-A76A-3ED7-A72C-0B4DF4CAD1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172CCF8B-1030-72B5-DD10-701AAAF40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5B540F10-6C65-908E-96D7-92B7A66B6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49DE99-BD23-430B-AE56-4851CF58739D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C1862D84-D4C3-90E1-8C4D-E446A25934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181102AD-C8C2-35F6-9C96-769C7FA26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3A24AAE3-B825-DDC7-3F30-CAB3E9FC4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92B92B-CC6C-4C6A-A46B-2888F1E02E53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F63B4C4E-B8C4-F081-34FA-E5C5374F4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E0F09801-3064-F742-1C5D-886D59067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14E0BF4D-3D30-4660-D9A4-046C95EB5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FBE8FF-3A17-47F2-955C-69B7FB820117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58734770-AEDE-2429-B510-9DE6EED34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B7E78EFD-E120-74C2-92BC-2F7F68DAC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D5CF7048-FE2A-98FB-64D9-389A9D227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EEF8D3-E45B-4B90-A800-0DF2FD0AAB47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58734770-AEDE-2429-B510-9DE6EED34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B7E78EFD-E120-74C2-92BC-2F7F68DAC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D5CF7048-FE2A-98FB-64D9-389A9D227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EEF8D3-E45B-4B90-A800-0DF2FD0AAB47}" type="slidenum">
              <a:rPr lang="en-US" altLang="en-US" sz="1300" smtClean="0"/>
              <a:pPr/>
              <a:t>36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357595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58734770-AEDE-2429-B510-9DE6EED34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B7E78EFD-E120-74C2-92BC-2F7F68DAC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D5CF7048-FE2A-98FB-64D9-389A9D227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EEF8D3-E45B-4B90-A800-0DF2FD0AAB47}" type="slidenum">
              <a:rPr lang="en-US" altLang="en-US" sz="1300" smtClean="0"/>
              <a:pPr/>
              <a:t>37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220464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58734770-AEDE-2429-B510-9DE6EED34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B7E78EFD-E120-74C2-92BC-2F7F68DAC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D5CF7048-FE2A-98FB-64D9-389A9D227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EEF8D3-E45B-4B90-A800-0DF2FD0AAB47}" type="slidenum">
              <a:rPr lang="en-US" altLang="en-US" sz="1300" smtClean="0"/>
              <a:pPr/>
              <a:t>38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8665222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58734770-AEDE-2429-B510-9DE6EED34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B7E78EFD-E120-74C2-92BC-2F7F68DAC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D5CF7048-FE2A-98FB-64D9-389A9D227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EEF8D3-E45B-4B90-A800-0DF2FD0AAB47}" type="slidenum">
              <a:rPr lang="en-US" altLang="en-US" sz="1300" smtClean="0"/>
              <a:pPr/>
              <a:t>39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187094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40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0704137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570101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267320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18427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315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6308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BF9D-1CAD-9CDB-C0CF-13BCE1C17ED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8A5B79-600D-770B-CAB6-12A5D199F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09E70B30-CA00-6BA8-083C-A00541DB027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8DCCA53-F812-0B67-E237-BF2E126B1A2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BB9907D4-8B67-ABB2-6A25-82B218372D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74977C9-7A2B-8F94-DE66-5A322CCC5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420CBAD2-8D75-2592-8F51-F96327ED1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A0A86779-9127-21EB-52A0-B5818A424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6EC6A224-8B2B-38E7-3CDC-3245A0D21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162B50A8-F175-F0D1-63B6-C076387D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3BF02FD9-926D-6A18-37E3-3AFA0F4B1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80AE387-4B4D-2C74-D102-6287DA7EC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6B36E532-5614-B444-C0C7-49411DD25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31C863B-16E2-411E-8BBF-DC31B1634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9773588-FFC9-CAAB-5738-0723DCA89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73A52314-2D74-9198-A6D6-8047C1F0C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DBD03CAF-0BCF-B83E-1C7F-EC2D6816E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B888EEA-9C41-6670-F661-E0DF5609B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68756E8-3BBF-AB45-21D8-1FD837B6DC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FE8BE401-B82F-6266-F755-88126CAE8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E717D8F4-17A3-C507-FA3D-2AB421C58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FCBCE48-0F8B-A384-6B4B-5A62E42D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1088338-752C-8D9B-1C77-C0263920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FE635CE8-F02A-97C3-234A-7704BC0B9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3338E54-4ACC-BB57-FB46-F7A181DA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C8DBA3-A962-2AD7-D640-9A2F6D446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9DAB08E-C07C-F3D7-7D69-E97664983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0DBF8CD-A19B-7273-71D7-E1FE7AC22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B75966A-F0F6-23E9-C08E-F85E0925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2B5C2A31-4650-5576-3164-694B6E2B5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26896B17-2548-D3BC-E2CB-C55B2D552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4BB5DD60-1568-20B9-522C-2652C0756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F950ED97-1420-A567-1B20-508C64FB2C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E575431C-4EBD-7619-E30A-7E4A1D9D9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3B6D6372-285F-E867-1207-37144DC30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D673BBA-3EC0-AEA5-0BC3-61D4DF56F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A3F5B1C-FC65-AC9F-7FD0-04334DF49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C992FDDD-B9FA-E9A4-1919-97492D1CB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B234D90-28D3-2ECD-8543-821C599B4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7EDCD38-160E-7762-3B79-0B27C6BF0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E68FB73D-F6F9-8DC1-4704-BBF1FED98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EFFEB4AC-6F38-B201-C2D3-8E5406CED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CE656A7-7BD6-0C05-8D2F-0053E6C6D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ECBC487-0532-545D-37C2-84DBB3F97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225A15E-0F6F-FA48-F427-8F3531E5D4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5B2B30A-9AD7-D605-8B09-DCFE87195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555DD737-E11D-4C51-70EE-27AC7C37F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EAED3068-F655-ED98-ADF0-6FE7BEBB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03666052-4ADF-8765-DFB0-D3CEA9FE4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520ED50-F65B-D7A4-0845-C503AEE39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DCC8380-F0D2-0A68-F3D4-915801119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9ABAD5D-5F50-843E-83EF-12F5A8DE9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8F852292-6C3C-0B75-C148-7C9241446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1EED364-8DA9-7C7A-0300-DF7EADB35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0AEAABE9-E1A2-18C4-2D04-A556C5B81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84BBF0F-60F1-2551-129A-A30CFFA590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2E4AAC7-5788-A205-88CF-4F2B8FD47B0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0F3B3BD4-0003-4BDA-0BE9-1336D17728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372FDB0-78C5-491E-2F45-C33B8EA596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A024641-F8D9-165D-3888-033E128517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0F633D-C1A9-550B-4733-EB99257DA20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66DAE1-55E7-BD92-6366-7FA050A7F0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3934C55-9380-D92A-741F-B8D9D0DB3EC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1CD5841-9E9C-C21E-74C5-E044FBE9474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961B3C1-09A1-F1F1-6D55-B2576A3E59B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FFCCE934-96A2-F9D0-2F63-CBF36CF5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01EE-FDD7-4DD0-8CE8-EA13B02ED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8A7AA9B-471E-4EE1-8B3E-C81DFA2BD5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22FBD0F-9B1D-F073-5357-468E537DC7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EC72FA63-EEE1-107E-8244-96085DB15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49F9C0F-418B-A591-E7CB-D10DB0923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9EC19F-6F67-0EE0-C410-B690C9D39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22AC6-743D-4A62-8DD6-E89D666BC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08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4F51AC9-32F0-51C8-819C-D7D1351D7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DB377C3-671C-DF66-D3F6-D28CF2E73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73BD7AB-93CA-56CA-5347-0978FA326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9798A-CA2C-4B61-A073-6FA905A8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D968E50-2B68-8C1C-325F-EB8E91084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55669D85-C340-04E5-EF17-B78BCF972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3C79451-4E88-9E97-A6C9-FD8811E30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45755-27E2-46D9-A862-C82E6B591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69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303B33D-ED38-F85D-103C-39A369831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A238568-30E9-98EA-C841-C2038245A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0FF610D-4B49-E672-ECF3-CE73DAEE1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78848-B890-4020-AEA5-CD1823E3C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88EA1A5-F554-A684-87F8-B42F68A1F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86998-D216-E9CB-37BF-DCF43B475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F637E61-01C7-05A6-2447-B345DC4DD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51FA-E5D8-469C-A723-91FE985B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01ACF22-A11D-25EE-DB34-3E66E61DDD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491BC4B-A628-FF35-9CB2-902E26C55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A190FA09-657B-D3A8-5CA9-461A043B3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745D7D6-EB99-4318-ADBE-C94CCD71F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7427DA50-FD75-FE4B-E538-50B2B3AC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DC954FB5-56D5-9104-B9CE-EACC8F35A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835E22B7-E77A-ABA0-D492-1E1D9A07C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C76AF6-EB22-12B9-68E2-67C4F1697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20EDDF3-CEB1-57B2-3803-986BDFD4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817BAF3-F193-E300-DD0A-EE0A7CC68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BB200E5-57B1-449D-E1E5-B782EF4E4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722232C1-D722-EB8E-D850-F8703C6FB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17A9AFB-C3AF-BCE9-3E8A-EE45578A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CD37EE5-14DF-4C9C-0E92-7744CBAF5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85EB9C9-B0EC-6D8F-504D-14E1BC59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20BA0776-71FA-8F75-114F-60892C557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E7EC8B2F-1E55-A5E5-A8BE-D1916AB1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8B45F6C2-9B44-8EC1-076D-C5078E7E2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15A45AB-F4A6-3077-6311-6F3EC5EA7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0E976C64-2463-1A00-874F-FF9B129B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2380B28-DAB3-C87C-26B3-7E74A3AF2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24D99AC-6056-074B-2459-D869B55B5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23C02827-8F9F-8B82-3B1A-EC3EFA7D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071BE3BE-9B15-A252-A022-4F731630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ADEB2AD-C646-4FBB-D3E4-8644CD320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C304B4E-0ECF-71C9-FBD4-248728FF1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24E6F50-A584-99A9-7575-8996F8396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B021655-965F-7834-946F-BF17305D7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A75137A7-EFBC-E262-262D-ECDD4BA7B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5FBEAE-E916-F01C-661C-A3920ADC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A09F0E7-2B38-3FC9-0838-A0D66FD9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828D131-DF33-918E-7687-0D3821606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4EA5A6-2659-98A4-66A7-67298FF6E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8A6CFCF-A471-C32E-ECE7-4F60A565A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9E24D60-5C00-D4DF-7B0C-1907A9B75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950520D2-8632-0F9F-1560-A6200FEC3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6C7CEA-551B-BE8B-D315-938F1F251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400654BE-B422-5C07-8F58-67D804C3A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D478EEE-71C1-6275-0DE5-686061C9D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FF5C9E54-C240-053F-C73E-4C8A3A3F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1C445ADE-C6B5-BA54-ADF1-B4BE07E4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472DAE4-E86F-EEE7-9672-F351FA6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9A8844-B72C-C5C2-1D9C-222C7C9A2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90DD25B-9028-7A5B-BF98-31377A8ED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DD985B4-1F40-BD7E-63FF-B438CF579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D248198-6F0F-AE02-457D-B9A39698B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511DF9E-21FE-1C12-5822-026AA587E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2BB8A8F-55F0-2A90-0258-0CF528604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86023951-E5EF-25A3-4DDA-F5C058124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D45C009-9CCF-BABE-EE52-B6D107912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AB79D75B-DC5C-9FB5-B149-9F0E80F63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5F6B997A-049A-8071-DAC3-B1DD6AA5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7535E12D-4881-CBA8-7AAE-B881C586E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622E829-896E-1F43-9A7D-AF6D78220C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B7B41A9D-6D63-CC55-3757-EC9795D09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A8D41896-970D-3ADC-BDDC-6C22FBB2C0D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B4A5C8-543B-2E53-0E0F-683990AC04C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0AE3F6A8-99F3-7648-6A1E-9ECC99843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9635BCA-58DD-79E3-A148-433301A05B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878C500-21D7-9847-DD3A-AE315E5FE3E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239D3C34-430A-FF55-4521-257D4C89AC2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48B033D0-6B95-C156-10E4-B7E3D8EE8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FBA7DF-E70B-620A-7A70-E94B82B6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F58F68BE-E7F2-5101-B957-4AE2560600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04A2A8A7-AC18-9148-04AD-6FE3C24CFF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441F0AD-35C2-478C-2552-216084899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B4EDF35-4156-4157-8F78-173A9E0C32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1" r:id="rId2"/>
    <p:sldLayoutId id="2147483922" r:id="rId3"/>
    <p:sldLayoutId id="2147483923" r:id="rId4"/>
    <p:sldLayoutId id="2147483924" r:id="rId5"/>
    <p:sldLayoutId id="214748392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98E221-F1E6-A956-CA06-74077F6C68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Frequency-Domain Representations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18B84D7-9F93-BAAC-0C55-21D8D9A7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1AA2BCF-2B9E-5BFB-EA48-573837CF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5030FB-F616-6617-DF9A-CFAF33681C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Discrete-Time Fourier Analysis</a:t>
            </a:r>
          </a:p>
          <a:p>
            <a:r>
              <a:rPr lang="en-US" altLang="en-US" sz="2000"/>
              <a:t>Short-Time Fourier Analysis</a:t>
            </a:r>
          </a:p>
          <a:p>
            <a:r>
              <a:rPr lang="en-US" altLang="en-US" sz="2000"/>
              <a:t>Overlap Addition Method of Synthesis</a:t>
            </a:r>
          </a:p>
          <a:p>
            <a:r>
              <a:rPr lang="en-US" altLang="en-US" sz="2000"/>
              <a:t>Time-Decimated Filter Banks</a:t>
            </a:r>
          </a:p>
          <a:p>
            <a:r>
              <a:rPr lang="en-US" altLang="en-US" sz="2000"/>
              <a:t>Two-Channel Filter Banks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295A456-3B49-F086-5085-0BDBE5E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DAE40-05BD-4BA0-B8F7-A5411AD3F4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63BB578E-D9D5-64B8-929E-B805FCF5C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7397CF4-4A82-CC27-4C4A-A0603A3479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Discrete-Time Fourier Analysis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547AF87E-45CE-ACD8-86C0-A5071C6FF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65A3377-339C-84C8-55BB-D0190C137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C4673A27-C681-D74C-9F32-44824F3A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EF5656-74A9-4DB1-B576-303E9800228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2152A84-CA41-2A8E-B258-3D4607D1F26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Fourier Transform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0C6EFF55-15B2-CD2F-11F9-80E938951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62753314-FFFE-4866-EA3E-F09D07AC2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14600"/>
            <a:ext cx="78486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Fourier Transform converts a time-domain signal into its frequency-domain representation.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Essential for analyzing the frequency content of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2A173C3-40D3-5B41-881E-5F130CC9B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BEC52395-265E-A110-9BB8-27E7DBF0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E4E82C-24A7-448D-B670-A4E3DD7820C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E917DE7-8F45-914E-2ADD-9C55C87F2E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Fourier Transform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565BE992-3842-E2D7-6CB0-2D118A984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3004C11A-C656-50E7-5591-47B34F6DFB6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2830198"/>
          </a:xfrm>
          <a:prstGeom prst="rect">
            <a:avLst/>
          </a:prstGeom>
          <a:blipFill>
            <a:blip r:embed="rId4"/>
            <a:stretch>
              <a:fillRect l="-699" t="-1293" b="-2586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47B5B8E-553D-8E1D-85DD-072949D71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3EC986AB-9414-4085-816F-38490265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57C40E-B1F5-4E5F-B1A2-88B415912B5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4C36891-D225-3147-7100-A1F934C30B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Discrete Fourier Transform (DFT)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C52EC07F-360B-DA1C-F7EC-794A1AA95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B42E54C6-914E-A1D9-438A-40B8D37FC8A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3866571"/>
          </a:xfrm>
          <a:prstGeom prst="rect">
            <a:avLst/>
          </a:prstGeom>
          <a:blipFill>
            <a:blip r:embed="rId4"/>
            <a:stretch>
              <a:fillRect l="-699" t="-946" b="-157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7426D07-A735-3758-1481-E5BBEA159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0A883E0A-7549-7089-F387-42CDCEEC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A55CCE-D21B-4D4F-B2DD-F5B208ED6EF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DBFCAB4-3494-B647-6ACA-0427893523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Properties of DFT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F1619608-6DEA-862F-C061-B32E3F7C4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ABADC4D4-E02B-2951-F772-33471949CB0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1200329"/>
          </a:xfrm>
          <a:prstGeom prst="rect">
            <a:avLst/>
          </a:prstGeom>
          <a:blipFill>
            <a:blip r:embed="rId4"/>
            <a:stretch>
              <a:fillRect l="-699" t="-3046" b="-710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90C25-45B1-7FAC-9E2A-797ED29392C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3962400"/>
            <a:ext cx="7848600" cy="1200329"/>
          </a:xfrm>
          <a:prstGeom prst="rect">
            <a:avLst/>
          </a:prstGeom>
          <a:blipFill>
            <a:blip r:embed="rId5"/>
            <a:stretch>
              <a:fillRect l="-699" t="-2538" b="-710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6C5C2E7-E87A-4062-1C45-DF0074340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5B3EB63D-703D-EB6D-1F4D-C3E09E37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BB3FB6-2D21-43CB-A903-9801D0B989B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46DD719-3B73-D823-DFD0-FAE0AF5329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Properties of DFT (cont.)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4519E3CD-E2A8-4261-5228-A8F9347FF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6E0A1193-B74E-C00E-0B56-CAECC8D1C71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1200329"/>
          </a:xfrm>
          <a:prstGeom prst="rect">
            <a:avLst/>
          </a:prstGeom>
          <a:blipFill>
            <a:blip r:embed="rId4"/>
            <a:stretch>
              <a:fillRect l="-699" t="-3046" b="-710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0E8E9-1EB0-F94F-967E-DF53148A875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3962400"/>
            <a:ext cx="7848600" cy="1477328"/>
          </a:xfrm>
          <a:prstGeom prst="rect">
            <a:avLst/>
          </a:prstGeom>
          <a:blipFill>
            <a:blip r:embed="rId5"/>
            <a:stretch>
              <a:fillRect l="-699" t="-2066" b="-578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195EFBA-5991-7709-29CD-AEABFC3C8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82FDAD74-FA33-77D3-E012-DDEA05E7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B4EB4F-9A02-459F-95A0-84A6EFF11AE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85600AC-9738-D566-ACF7-EEEE1738F3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Fast Fourier Transform (FFT)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70FF752A-1972-8AC7-1B51-C9E27F2B3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433FC252-7B39-7088-0B08-BA4ACA61F00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blipFill>
            <a:blip r:embed="rId4"/>
            <a:stretch>
              <a:fillRect l="-699" t="-1071" b="-196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17D4542-4F11-8054-0F1B-1EBDD90AF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F6D64E5A-52DB-702C-46B2-9E0CDF8C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2CB336-ED9C-4AC5-B468-C34D0BFC6E2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979AC2F-1669-EEDC-6194-4841A4953D0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Windowing and Spectral Leakage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661CD145-F7CD-F598-04A3-AAC07A094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">
            <a:extLst>
              <a:ext uri="{FF2B5EF4-FFF2-40B4-BE49-F238E27FC236}">
                <a16:creationId xmlns:a16="http://schemas.microsoft.com/office/drawing/2014/main" id="{D575DAD2-85DC-669B-2CC1-25572F2EB3C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3693319"/>
          </a:xfrm>
          <a:prstGeom prst="rect">
            <a:avLst/>
          </a:prstGeom>
          <a:blipFill>
            <a:blip r:embed="rId4"/>
            <a:stretch>
              <a:fillRect l="-699" t="-990" r="-155" b="-1650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ED6882E-A250-74C4-D3E4-3A673B92A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74F1192C-CF30-D788-AD07-17ECCD7E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1DF8CF-5020-4C9D-BDD0-FB230116D1C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FEDA5AA-C1EA-6759-831E-04A626D9864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CD455B8C-7D6B-F117-07A7-BB1F1B22E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1">
            <a:extLst>
              <a:ext uri="{FF2B5EF4-FFF2-40B4-BE49-F238E27FC236}">
                <a16:creationId xmlns:a16="http://schemas.microsoft.com/office/drawing/2014/main" id="{CD117E8A-B1DE-5E61-ACC1-E5B53244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Python Libraries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NumPy: Numerical computations.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Matplotlib: Visualization.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SciPy: Signal processing.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Steps: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Generate or load a speech signal.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Apply windowing to the signal.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Compute the DFT using FFT.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Visualize the magnitude and phase spectrum.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F4B6D1CC-8486-D12C-0109-00ECE6E77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1FF5E317-728C-3F10-C8C5-532BA41C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A14CB9-C717-4DC7-87AF-C2DDD2EA425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8985133-6D4E-9891-E564-AD1E71A59A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90CDAF68-C5E5-1A28-AF35-76B6FA4FE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2">
            <a:extLst>
              <a:ext uri="{FF2B5EF4-FFF2-40B4-BE49-F238E27FC236}">
                <a16:creationId xmlns:a16="http://schemas.microsoft.com/office/drawing/2014/main" id="{E6A12A04-ED8A-CD4F-3510-720641FF0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52663"/>
            <a:ext cx="3544888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814FB11-8942-468C-8749-CD83B66FF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Discrete-Time Fourier Analysis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A8BCBD39-6F6B-FB57-BE51-325C1BE7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451D1A-3C38-4B6C-8C64-15EA0B0013C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2ACF13D-F81E-2EDE-8049-976A522F6E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E3336309-8486-CE31-08C3-C5D2D9FB9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Box 1">
            <a:extLst>
              <a:ext uri="{FF2B5EF4-FFF2-40B4-BE49-F238E27FC236}">
                <a16:creationId xmlns:a16="http://schemas.microsoft.com/office/drawing/2014/main" id="{3F9C77E6-7F5E-2F0F-E518-82CE0F399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DFT is a powerful tool for frequency-domain analysis of discrete signals.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FFT makes DFT computation efficient and practical for real-time applications.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Windowing techniques help mitigate spectral leakage, improving analysis accuracy.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DFT and FFT are fundamental in various speech processing tasks, from analysis to synthesis.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CBDE303-325F-2D90-5E00-1661BE41E7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Short-Time Fourier Analysis</a:t>
            </a:r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id="{B9002728-265C-254A-10A0-3870802F7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323F2E1-A18D-D44C-2854-A32214220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766AD99B-3F90-0833-C081-CE67D8B5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69DC77-28D8-4A99-94F8-AAC14097A0E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97602D1-EEDB-11EA-4C73-AD5694FCFA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Fourier Transform and its Limitations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9A50D554-7A44-11DC-B705-A38676CBF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E3A691DE-E487-87E4-7D7C-0CD9E804C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400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Fourier Transform: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Converts a signal from the time domain to the frequency domain.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Provides global frequency information but lacks time localization.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Limitations: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Not suitable for non-stationary signals like speech.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Loses information about when specific frequency components occur.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Need for Time-Frequency Analysis: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Capture both time and frequency information.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Suitable for analyzing speech signals which are non-stationary.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94F74719-2303-3BA5-1438-47FD2C19C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D6B24901-C91B-9A01-089B-F2F6B558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300830-B7EE-4EFC-AA8A-F5E7FA5FAF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2CBA304-7A23-3406-48FC-27160B98F2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Concept of Short-Time Fourier Transform (STFT)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58B91F8E-240E-F1FC-C5F7-9EDF81854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D8DE9E77-E10E-EC4D-6D8C-FF78C766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0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Definition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STFT divides a signal into short segments and applies Fourier Transform to each segment.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endParaRPr lang="en-US" altLang="en-US" sz="1800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Provides a time-localized frequency analysis.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8D05EC8C-1B08-F725-953A-48DE38CBA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6E6CE2FD-578B-8A28-316E-056EE814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7144BA-B352-467C-A257-513F01C3C7B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8E25727-11BA-8241-6DE9-5DCEC103FB6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Concept of Short-Time Fourier Transform (STFT)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FF8A7F5E-70F0-6C71-2F7D-38559BF06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0D4DBF0E-5771-EFA4-4EDE-289BD793E2D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3459922"/>
          </a:xfrm>
          <a:prstGeom prst="rect">
            <a:avLst/>
          </a:prstGeom>
          <a:blipFill>
            <a:blip r:embed="rId4"/>
            <a:stretch>
              <a:fillRect l="-699" t="-1058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F8AAD42-9902-B1EA-20EC-892BD610B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9159476A-C2A3-250C-B6A8-908F2F77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DE3695-5BA9-4B8D-9886-ACFC21657D9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C8958DA-E0D4-4D98-2E8C-FF3536D172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Window Function in STFT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02E197CB-BDCC-D03F-DD09-9D3B22E2A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B1874315-01D5-58C2-9ED1-DA1372737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Window Function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Essential for segmenting the signal.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Common types: Rectangular, Hamming, </a:t>
            </a:r>
            <a:r>
              <a:rPr lang="en-US" altLang="en-US" sz="1800" dirty="0" err="1"/>
              <a:t>Hanning</a:t>
            </a:r>
            <a:r>
              <a:rPr lang="en-US" altLang="en-US" sz="1800" dirty="0"/>
              <a:t>, Blackman.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Impact of Window Choice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Rectangular Window: Sharp edges, high spectral leakage.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Hamming Window: Reduces spectral leakage, smoother edges.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 err="1"/>
              <a:t>Hanning</a:t>
            </a:r>
            <a:r>
              <a:rPr lang="en-US" altLang="en-US" sz="1800" dirty="0"/>
              <a:t> Window: Similar to Hamming, but different tapering.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Blackman Window: More tapering, less spectral leakage.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DA64AE3D-6651-4530-F8D6-D98483BBE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37A1481B-83F7-CF60-F5EC-4BB7989B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C19BEA-ED2D-4717-A01A-F0B60B19FD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C3D7B3E-62D4-C9FE-7ED6-2442F7F592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Window Function in STFT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481B96D9-E76D-76DA-50B7-FAF8A576B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B23C999A-5D98-F9FE-1506-1DE66921121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86000"/>
            <a:ext cx="7848600" cy="2542171"/>
          </a:xfrm>
          <a:prstGeom prst="rect">
            <a:avLst/>
          </a:prstGeom>
          <a:blipFill>
            <a:blip r:embed="rId4"/>
            <a:stretch>
              <a:fillRect l="-699" t="-1199" b="-2878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E2B1745-9091-1A0B-BE95-97FBE39F8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BB34A6B1-AC1A-F53C-061B-A6BA8BFB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12A0E2-6150-4600-B175-5F322C30349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36FE398-AC5E-8C69-28B0-B123F3E152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STFT Implementation Steps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57BB9972-F5DA-AE80-F0E9-F3EE0430C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63164F1C-A1F1-27E0-87D2-FC43053F5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848600" cy="2862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Steps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Divide the signal into overlapping frames.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Apply a window function to each frame.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Compute the Fourier Transform for each frame.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Combine the results to form the time-frequency representation.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Parameters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Window Size: Affects frequency resolution.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Overlap: Affects time resolution.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FFT Points: Determines the frequency bins.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FEFA3186-7E0A-FA50-E220-C2C28F5D3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EBEE9A02-370C-0352-76F7-2DAE48EB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B68CF9-E0DD-4489-BD9F-35F861D8E7C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A1C1E32-A488-9C74-D809-3C12B0AB80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1A7E937D-F66B-D19C-250F-D22C2538B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>
            <a:extLst>
              <a:ext uri="{FF2B5EF4-FFF2-40B4-BE49-F238E27FC236}">
                <a16:creationId xmlns:a16="http://schemas.microsoft.com/office/drawing/2014/main" id="{331074E3-7537-572D-182D-514D0BA46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848600" cy="2862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Python Libraries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NumPy: Numerical computations.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Matplotlib: Visualization.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SciPy: Signal processing..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Steps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Load a speech signal.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Apply windowing to the signal.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Compute the STFT.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Visualize the spectrogram..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EB403BD6-D26B-7FAC-ECA1-A1C01ADBA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0AD8DCD5-DD23-5E5F-8035-F8908DA4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0CD5DA-B7B3-4B38-9837-A352E7EA2A9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0B26A0D-4EF2-AF33-7811-0D27C36C0E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0BA5CBD7-637D-A665-A332-1CAF110E6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2">
            <a:extLst>
              <a:ext uri="{FF2B5EF4-FFF2-40B4-BE49-F238E27FC236}">
                <a16:creationId xmlns:a16="http://schemas.microsoft.com/office/drawing/2014/main" id="{941E7257-D0BB-0627-4817-5D044401F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2284413"/>
            <a:ext cx="7086600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141406E1-0DAE-4DF2-E562-1B194FABC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Short-Time Fourier Analysis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8B5E61B3-740F-9580-C3C8-75D6FF71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3D9E82-5AC9-4B5C-A99F-88731C78C60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AAF7E09-EBD4-33CE-656C-34C18A2BFC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A445B7E2-658F-6A58-4DB5-A2B48A13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1">
            <a:extLst>
              <a:ext uri="{FF2B5EF4-FFF2-40B4-BE49-F238E27FC236}">
                <a16:creationId xmlns:a16="http://schemas.microsoft.com/office/drawing/2014/main" id="{33FCB77E-3A21-A405-B878-C6E29EFCA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848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STFT provides a powerful tool for time-frequency analysis of non-stationary signals like speech.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Choice of window and overlap significantly affects the analysis.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Practical implementation involves balancing time and frequency resolution.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505BE4E3-9F6A-695E-8BAD-4832079DED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Overlap Addition Method of Synthesis</a:t>
            </a:r>
          </a:p>
        </p:txBody>
      </p:sp>
      <p:pic>
        <p:nvPicPr>
          <p:cNvPr id="51203" name="Picture 3">
            <a:extLst>
              <a:ext uri="{FF2B5EF4-FFF2-40B4-BE49-F238E27FC236}">
                <a16:creationId xmlns:a16="http://schemas.microsoft.com/office/drawing/2014/main" id="{13785211-B8B9-CD4F-EFFB-87A7C5976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78E0DEB8-DD58-0AE1-2025-C3243D66C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11D97613-0727-A9D6-296A-E3646BF3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54ED8B-8846-41CE-89E3-60D196091F7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3B4F902-A589-2FA0-4E6D-A9D484C158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236A67F9-ECAA-DF1A-03CE-98301A3DA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Box 1">
            <a:extLst>
              <a:ext uri="{FF2B5EF4-FFF2-40B4-BE49-F238E27FC236}">
                <a16:creationId xmlns:a16="http://schemas.microsoft.com/office/drawing/2014/main" id="{AE45CFE5-428A-A8DA-2A1A-6ABFC8F40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 Overlap-Add method is a technique for reconstructing a signal from its short-time segments.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Used in signal processing to achieve time-domain synthesis from frequency-domain modifications.</a:t>
            </a:r>
          </a:p>
        </p:txBody>
      </p:sp>
      <p:sp>
        <p:nvSpPr>
          <p:cNvPr id="53255" name="TextBox 1">
            <a:extLst>
              <a:ext uri="{FF2B5EF4-FFF2-40B4-BE49-F238E27FC236}">
                <a16:creationId xmlns:a16="http://schemas.microsoft.com/office/drawing/2014/main" id="{F2B7B51C-BD08-091B-D126-72B7F7735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4011613"/>
            <a:ext cx="78486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Involves dividing the signal into </a:t>
            </a:r>
            <a:r>
              <a:rPr lang="en-US" altLang="en-US" sz="1800" b="1"/>
              <a:t>overlapping frames</a:t>
            </a:r>
            <a:r>
              <a:rPr lang="en-US" altLang="en-US" sz="1800"/>
              <a:t>, processing each frame, and then </a:t>
            </a:r>
            <a:r>
              <a:rPr lang="en-US" altLang="en-US" sz="1800" b="1"/>
              <a:t>recombining</a:t>
            </a:r>
            <a:r>
              <a:rPr lang="en-US" altLang="en-US" sz="1800"/>
              <a:t> them.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9F6D4EBF-6EE6-EB35-A4C7-A614750FA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38123C1D-E36B-5DE1-9988-FC2C8313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00B8E6-AEAE-4D4F-A060-37720AD2559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BB67F7-E018-E3C0-BDE2-10C7082DDA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Overlap-Add (OLA)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2E68F011-F48E-BE04-6C5F-6717FCB3F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1">
            <a:extLst>
              <a:ext uri="{FF2B5EF4-FFF2-40B4-BE49-F238E27FC236}">
                <a16:creationId xmlns:a16="http://schemas.microsoft.com/office/drawing/2014/main" id="{4735A580-6FCE-EFBE-BEE5-372F0DACD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33600"/>
            <a:ext cx="78486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Step-by-Step Process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Frame Division: Divide the input signal x[n]x[n] into overlapping frames.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Windowing: Apply a window function w[n]w[n] to each frame to mitigate edge effects.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Frequency Domain Processing: Transform each windowed frame to the frequency domain, modify as needed.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Inverse Transform: Transform each modified frame back to the time domain.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Overlap and Add: Sum the overlapping segments to reconstruct the signal.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E1A7D90B-113E-4CC0-347C-F41D933FA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57347" name="Slide Number Placeholder 5">
            <a:extLst>
              <a:ext uri="{FF2B5EF4-FFF2-40B4-BE49-F238E27FC236}">
                <a16:creationId xmlns:a16="http://schemas.microsoft.com/office/drawing/2014/main" id="{3AF1A6D5-4454-A0B0-0FB9-B23F9EF6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FE9095-8C9A-4DED-A87B-7D4E8DFB8C4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734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AD1189F-EB91-9F56-7274-E45E08AB96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Overlap-Add (OLA)</a:t>
            </a:r>
            <a:endParaRPr lang="vi-VN" altLang="en-US" sz="2000" b="1"/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521FF1FF-D8AA-8921-A4B9-DC6DC83DB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1">
            <a:extLst>
              <a:ext uri="{FF2B5EF4-FFF2-40B4-BE49-F238E27FC236}">
                <a16:creationId xmlns:a16="http://schemas.microsoft.com/office/drawing/2014/main" id="{7748E228-4198-0F9E-A0EC-3DEFCBC0805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587936"/>
            <a:ext cx="7848600" cy="2539991"/>
          </a:xfrm>
          <a:prstGeom prst="rect">
            <a:avLst/>
          </a:prstGeom>
          <a:blipFill>
            <a:blip r:embed="rId4"/>
            <a:stretch>
              <a:fillRect l="-699" t="-1442" b="-2885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BD89FD62-04B3-61CB-1F75-306EB8191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59395" name="Slide Number Placeholder 5">
            <a:extLst>
              <a:ext uri="{FF2B5EF4-FFF2-40B4-BE49-F238E27FC236}">
                <a16:creationId xmlns:a16="http://schemas.microsoft.com/office/drawing/2014/main" id="{9F5510D1-EA35-D254-A894-CE89B186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5E9EF6-7232-4E2F-900F-F6DB4D2577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939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F0D974F-915B-23C5-90C7-9767EFCB7D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Steps in Overlap-Add Synthesis</a:t>
            </a:r>
            <a:endParaRPr lang="vi-VN" altLang="en-US" sz="2000" b="1"/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8B85D0D9-8652-90D6-F8E8-6515B151A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Box 1">
            <a:extLst>
              <a:ext uri="{FF2B5EF4-FFF2-40B4-BE49-F238E27FC236}">
                <a16:creationId xmlns:a16="http://schemas.microsoft.com/office/drawing/2014/main" id="{7D99F76E-8FF9-99C8-DD7C-DC9D71E11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51088"/>
            <a:ext cx="7848600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Frame the Signal: </a:t>
            </a:r>
            <a:r>
              <a:rPr lang="en-US" altLang="en-US" sz="1800"/>
              <a:t>Divide the input signal into overlapping frames.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Window Each Frame: </a:t>
            </a:r>
            <a:r>
              <a:rPr lang="en-US" altLang="en-US" sz="1800"/>
              <a:t>Apply a window function to each frame.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Apply STFT: </a:t>
            </a:r>
            <a:r>
              <a:rPr lang="en-US" altLang="en-US" sz="1800"/>
              <a:t>Transform each frame to the frequency domain.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Modify Each Frame: </a:t>
            </a:r>
            <a:r>
              <a:rPr lang="en-US" altLang="en-US" sz="1800"/>
              <a:t>Perform desired modifications in the frequency domain.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Apply ISTFT: </a:t>
            </a:r>
            <a:r>
              <a:rPr lang="en-US" altLang="en-US" sz="1800"/>
              <a:t>Convert each modified frame back to the time domain.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Overlap and Add: </a:t>
            </a:r>
            <a:r>
              <a:rPr lang="en-US" altLang="en-US" sz="1800"/>
              <a:t>Reconstruct the signal by overlapping and adding the frames.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C82D17D3-CACF-9FDA-CBFB-5D1602109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E1F41F26-C3FE-BE3B-DCB9-1E9D6FB5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288821-792D-49C0-9C83-633F9A21390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614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E79903D-0DF6-8BDE-2130-39AF9CC678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61445" name="Picture 5">
            <a:extLst>
              <a:ext uri="{FF2B5EF4-FFF2-40B4-BE49-F238E27FC236}">
                <a16:creationId xmlns:a16="http://schemas.microsoft.com/office/drawing/2014/main" id="{138FB165-6A75-9A6C-804A-474AF8E9C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1">
            <a:extLst>
              <a:ext uri="{FF2B5EF4-FFF2-40B4-BE49-F238E27FC236}">
                <a16:creationId xmlns:a16="http://schemas.microsoft.com/office/drawing/2014/main" id="{D1A46CCB-F533-8955-2414-4EE14B4A6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51088"/>
            <a:ext cx="7848600" cy="3416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 dirty="0"/>
              <a:t>Python Libraries: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NumPy: Numerical computations.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SciPy: Signal processing.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Matplotlib: Visualization.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 dirty="0"/>
              <a:t>Steps: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Load a speech signal.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Divide the signal into overlapping frames.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Apply STFT to each frame.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Modify the frequency domain representation.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Apply ISTFT to each frame.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Reconstruct the signal by overlapping and adding the frames.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223E103F-FD20-5D68-CBB0-2FBE1977D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63491" name="Slide Number Placeholder 5">
            <a:extLst>
              <a:ext uri="{FF2B5EF4-FFF2-40B4-BE49-F238E27FC236}">
                <a16:creationId xmlns:a16="http://schemas.microsoft.com/office/drawing/2014/main" id="{7C6387FF-6333-5C08-64A0-052C73CB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80AE7D-4769-40B7-BA35-EE4595BDDAB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634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DC83E5-16C8-1EF1-E0D8-106058224A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63493" name="Picture 5">
            <a:extLst>
              <a:ext uri="{FF2B5EF4-FFF2-40B4-BE49-F238E27FC236}">
                <a16:creationId xmlns:a16="http://schemas.microsoft.com/office/drawing/2014/main" id="{303F19D1-3BDF-8204-A8D7-072F6B2CA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2">
            <a:extLst>
              <a:ext uri="{FF2B5EF4-FFF2-40B4-BE49-F238E27FC236}">
                <a16:creationId xmlns:a16="http://schemas.microsoft.com/office/drawing/2014/main" id="{2FBA0F22-2AF9-CE59-2C65-9291ED1AA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39963"/>
            <a:ext cx="5133975" cy="444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2303EACA-72C4-B7F5-B31F-32CB6E4B4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Overlap Addition Method of Synthesis</a:t>
            </a:r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0008705E-652E-35E3-1129-869E1F19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839A92-7696-409A-AFF1-1C1ABC6A611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655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70FDBC7-9806-3219-4B8F-96BC174E5A9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5A6BFB95-E70D-AF28-3E3A-5415312AA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1">
            <a:extLst>
              <a:ext uri="{FF2B5EF4-FFF2-40B4-BE49-F238E27FC236}">
                <a16:creationId xmlns:a16="http://schemas.microsoft.com/office/drawing/2014/main" id="{82BC91B8-AC0D-84EB-2C7D-F7761519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51088"/>
            <a:ext cx="7848600" cy="2862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 dirty="0"/>
              <a:t>Key Points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Overlap-Add method is essential for reconstructing signals from modified short-time frames.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Balances time-domain synthesis and frequency-domain modifications.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Widely used in various speech processing applications.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 dirty="0"/>
              <a:t>Future Directions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Combining OLA with advanced techniques like Wavelet Transform.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/>
              <a:t>Research on more efficient and high-quality synthesis methods.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715A89B-EDBD-090C-0EAF-C36521128F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Time-Decimated Filter Banks</a:t>
            </a:r>
          </a:p>
        </p:txBody>
      </p:sp>
      <p:pic>
        <p:nvPicPr>
          <p:cNvPr id="67587" name="Picture 3">
            <a:extLst>
              <a:ext uri="{FF2B5EF4-FFF2-40B4-BE49-F238E27FC236}">
                <a16:creationId xmlns:a16="http://schemas.microsoft.com/office/drawing/2014/main" id="{4655BC37-4567-820E-3015-6F6373B74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1F61FEFB-7E2F-B979-BC65-0049C5820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63617E6A-3337-6CAC-D761-562C4002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17E724-2955-4EEC-98F8-2CC2494DFB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696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9F5C543-3A59-736C-5C7B-DD3258AFFC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Filter Banks</a:t>
            </a:r>
            <a:endParaRPr lang="vi-VN" altLang="en-US" sz="2000" b="1"/>
          </a:p>
        </p:txBody>
      </p:sp>
      <p:pic>
        <p:nvPicPr>
          <p:cNvPr id="69637" name="Picture 5">
            <a:extLst>
              <a:ext uri="{FF2B5EF4-FFF2-40B4-BE49-F238E27FC236}">
                <a16:creationId xmlns:a16="http://schemas.microsoft.com/office/drawing/2014/main" id="{963B0F2E-0CF4-359C-2EB3-3343DEAB8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TextBox 1">
            <a:extLst>
              <a:ext uri="{FF2B5EF4-FFF2-40B4-BE49-F238E27FC236}">
                <a16:creationId xmlns:a16="http://schemas.microsoft.com/office/drawing/2014/main" id="{E195759B-85B7-A261-A2F7-DC31ED0BD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Filter banks are collections of band-pass filters that decompose a signal into multiple components, each representing a specific frequency band.</a:t>
            </a:r>
          </a:p>
        </p:txBody>
      </p:sp>
      <p:sp>
        <p:nvSpPr>
          <p:cNvPr id="69639" name="TextBox 1">
            <a:extLst>
              <a:ext uri="{FF2B5EF4-FFF2-40B4-BE49-F238E27FC236}">
                <a16:creationId xmlns:a16="http://schemas.microsoft.com/office/drawing/2014/main" id="{93751677-FEB8-3B8D-8231-308E50EAF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62400"/>
            <a:ext cx="78486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Used to analyze the signal in different frequency bands.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Important in speech processing for tasks like compression, feature extraction, and synthesis.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9707F86F-CFF8-1419-DA47-8B4E772E6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82AC885E-228B-4429-449A-8844CA97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6EB278-05F1-48C8-A81E-531843BD552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16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E1B126-6584-3239-B253-75B594B8F6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Concept of Time-Decimation</a:t>
            </a:r>
            <a:endParaRPr lang="vi-VN" altLang="en-US" sz="2000" b="1"/>
          </a:p>
        </p:txBody>
      </p:sp>
      <p:pic>
        <p:nvPicPr>
          <p:cNvPr id="71685" name="Picture 5">
            <a:extLst>
              <a:ext uri="{FF2B5EF4-FFF2-40B4-BE49-F238E27FC236}">
                <a16:creationId xmlns:a16="http://schemas.microsoft.com/office/drawing/2014/main" id="{4FF59ABA-8EB9-EE87-B893-8ECC31A86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TextBox 1">
            <a:extLst>
              <a:ext uri="{FF2B5EF4-FFF2-40B4-BE49-F238E27FC236}">
                <a16:creationId xmlns:a16="http://schemas.microsoft.com/office/drawing/2014/main" id="{F0143B9C-DF41-D40F-B98A-3419F01C593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333625"/>
            <a:ext cx="7848600" cy="1200329"/>
          </a:xfrm>
          <a:prstGeom prst="rect">
            <a:avLst/>
          </a:prstGeom>
          <a:blipFill>
            <a:blip r:embed="rId4"/>
            <a:stretch>
              <a:fillRect l="-699" t="-3046" b="-7107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1687" name="TextBox 1">
            <a:extLst>
              <a:ext uri="{FF2B5EF4-FFF2-40B4-BE49-F238E27FC236}">
                <a16:creationId xmlns:a16="http://schemas.microsoft.com/office/drawing/2014/main" id="{CD312C58-4366-89A9-36CC-A971082F5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624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Purpose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Decrease computational load.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Focus on specific frequency bands of interest.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66002A0-3C93-8FDA-57C0-F752E6C2B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BCBB5DDA-2290-B157-B4ED-4E62F00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DC2AB7-C267-4982-88FE-FA0A16AD07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C7A9C9-7634-769A-F946-A8B9BC7D51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Time-Decimated Filter Banks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EE7E8387-3485-7C52-BF87-FD2B5FD3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1">
            <a:extLst>
              <a:ext uri="{FF2B5EF4-FFF2-40B4-BE49-F238E27FC236}">
                <a16:creationId xmlns:a16="http://schemas.microsoft.com/office/drawing/2014/main" id="{36CEC984-95FB-6FC1-6B43-1AB65872B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 filter bank where each filter output is decimated by a specific factor.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41CD07-EE58-7635-6245-1FC83D2077A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60323" y="3429000"/>
            <a:ext cx="7848600" cy="2031325"/>
          </a:xfrm>
          <a:prstGeom prst="rect">
            <a:avLst/>
          </a:prstGeom>
          <a:blipFill>
            <a:blip r:embed="rId4"/>
            <a:stretch>
              <a:fillRect l="-621" t="-1802" b="-3604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1">
                <a:extLst>
                  <a:ext uri="{FF2B5EF4-FFF2-40B4-BE49-F238E27FC236}">
                    <a16:creationId xmlns:a16="http://schemas.microsoft.com/office/drawing/2014/main" id="{9A6BD612-D5DD-CC87-AB38-ECE74F493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0323" y="5515687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Each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processes the signal and is followed by down-sampling.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Results in a set of time-decimated sub-band signals.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</p:txBody>
          </p:sp>
        </mc:Choice>
        <mc:Fallback xmlns="">
          <p:sp>
            <p:nvSpPr>
              <p:cNvPr id="3" name="TextBox 1">
                <a:extLst>
                  <a:ext uri="{FF2B5EF4-FFF2-40B4-BE49-F238E27FC236}">
                    <a16:creationId xmlns:a16="http://schemas.microsoft.com/office/drawing/2014/main" id="{9A6BD612-D5DD-CC87-AB38-ECE74F493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323" y="5515687"/>
                <a:ext cx="7848600" cy="1200329"/>
              </a:xfrm>
              <a:prstGeom prst="rect">
                <a:avLst/>
              </a:prstGeom>
              <a:blipFill>
                <a:blip r:embed="rId5"/>
                <a:stretch>
                  <a:fillRect t="-30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66002A0-3C93-8FDA-57C0-F752E6C2B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BCBB5DDA-2290-B157-B4ED-4E62F00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DC2AB7-C267-4982-88FE-FA0A16AD07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C7A9C9-7634-769A-F946-A8B9BC7D51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Design of Time-Decimated Filter Banks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EE7E8387-3485-7C52-BF87-FD2B5FD3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1">
            <a:extLst>
              <a:ext uri="{FF2B5EF4-FFF2-40B4-BE49-F238E27FC236}">
                <a16:creationId xmlns:a16="http://schemas.microsoft.com/office/drawing/2014/main" id="{36CEC984-95FB-6FC1-6B43-1AB65872B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Filter Design: </a:t>
            </a:r>
            <a:r>
              <a:rPr lang="en-US" altLang="en-US" sz="1800"/>
              <a:t>Typically designed using windowing techniques or optimization methods.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b="1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Prototype Filter: </a:t>
            </a:r>
            <a:r>
              <a:rPr lang="en-US" altLang="en-US" sz="1800"/>
              <a:t>A prototype low-pass filter is designed and modulated to create the filter bank.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b="1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Frequency Response: </a:t>
            </a:r>
            <a:r>
              <a:rPr lang="en-US" altLang="en-US" sz="1800"/>
              <a:t>Filters are designed to have non-overlapping or minimally overlapping passbands.</a:t>
            </a:r>
          </a:p>
        </p:txBody>
      </p:sp>
    </p:spTree>
    <p:extLst>
      <p:ext uri="{BB962C8B-B14F-4D97-AF65-F5344CB8AC3E}">
        <p14:creationId xmlns:p14="http://schemas.microsoft.com/office/powerpoint/2010/main" val="1254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66002A0-3C93-8FDA-57C0-F752E6C2B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BCBB5DDA-2290-B157-B4ED-4E62F00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DC2AB7-C267-4982-88FE-FA0A16AD07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C7A9C9-7634-769A-F946-A8B9BC7D51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EE7E8387-3485-7C52-BF87-FD2B5FD3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1">
            <a:extLst>
              <a:ext uri="{FF2B5EF4-FFF2-40B4-BE49-F238E27FC236}">
                <a16:creationId xmlns:a16="http://schemas.microsoft.com/office/drawing/2014/main" id="{36CEC984-95FB-6FC1-6B43-1AB65872B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Python Libraries: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NumPy: Numerical computations.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SciPy: Signal processing.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Matplotlib: Visualization.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Steps: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Design the prototype filter.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Modulate the prototype filter to create the filter bank.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Apply the filter bank to the signal.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Down-sample the filter outputs.</a:t>
            </a:r>
          </a:p>
        </p:txBody>
      </p:sp>
    </p:spTree>
    <p:extLst>
      <p:ext uri="{BB962C8B-B14F-4D97-AF65-F5344CB8AC3E}">
        <p14:creationId xmlns:p14="http://schemas.microsoft.com/office/powerpoint/2010/main" val="1087142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66002A0-3C93-8FDA-57C0-F752E6C2B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BCBB5DDA-2290-B157-B4ED-4E62F00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DC2AB7-C267-4982-88FE-FA0A16AD07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C7A9C9-7634-769A-F946-A8B9BC7D51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EE7E8387-3485-7C52-BF87-FD2B5FD3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9733FD-1BED-6E3E-4D19-EA579F75A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217426"/>
            <a:ext cx="5386852" cy="40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76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66002A0-3C93-8FDA-57C0-F752E6C2B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Time-Decimated Filter Banks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BCBB5DDA-2290-B157-B4ED-4E62F00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DC2AB7-C267-4982-88FE-FA0A16AD07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C7A9C9-7634-769A-F946-A8B9BC7D51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EE7E8387-3485-7C52-BF87-FD2B5FD3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1">
            <a:extLst>
              <a:ext uri="{FF2B5EF4-FFF2-40B4-BE49-F238E27FC236}">
                <a16:creationId xmlns:a16="http://schemas.microsoft.com/office/drawing/2014/main" id="{36CEC984-95FB-6FC1-6B43-1AB65872B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Key Points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Time-Decimated Filter Banks are essential for efficient signal analysis and processing.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Combines filter design and decimation for computational efficiency.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Widely used in various speech processing applications.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Future Directions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Development of more advanced filter bank designs.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Integration with machine learning for adaptive filtering.</a:t>
            </a:r>
          </a:p>
        </p:txBody>
      </p:sp>
    </p:spTree>
    <p:extLst>
      <p:ext uri="{BB962C8B-B14F-4D97-AF65-F5344CB8AC3E}">
        <p14:creationId xmlns:p14="http://schemas.microsoft.com/office/powerpoint/2010/main" val="2285111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Two-Channel Filter Banks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Structure of Two-Channel Filter Banks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Components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Analysis Filters: Split the input signal into low-frequency (low-pass) and high-frequency (high-pass) components.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Downsamplers: Reduce the sample rate of each sub-band by a factor of 2.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Synthesis Filters: Reconstruct the signal from the sub-bands.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Upsamplers: Increase the sample rate of each sub-band by a factor of 2 before synthesis.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Analysis Filter Bank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Low-Pass Filter (H0)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Passes frequencies below the cutoff frequency.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Formula</a:t>
                </a: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]=(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)[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en-US" sz="1800"/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200329"/>
              </a:xfrm>
              <a:prstGeom prst="rect">
                <a:avLst/>
              </a:prstGeom>
              <a:blipFill>
                <a:blip r:embed="rId4"/>
                <a:stretch>
                  <a:fillRect l="-699" t="-3046" b="-50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BF27ED-4D8E-F2FA-C703-D6E8BF8380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8068" y="3677868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High-Pass Filter (H1)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Passes frequencies below the cutoff frequency.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Formula</a:t>
                </a: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]=(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)[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180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en-US" sz="18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BF27ED-4D8E-F2FA-C703-D6E8BF838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8068" y="3677868"/>
                <a:ext cx="7848600" cy="1200329"/>
              </a:xfrm>
              <a:prstGeom prst="rect">
                <a:avLst/>
              </a:prstGeom>
              <a:blipFill>
                <a:blip r:embed="rId5"/>
                <a:stretch>
                  <a:fillRect l="-621" t="-2538" b="-50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0A9745A-7AF6-8285-B417-D6A953968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068" y="5193966"/>
            <a:ext cx="7848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Downsampling: </a:t>
            </a:r>
            <a:r>
              <a:rPr lang="en-US" altLang="en-US" sz="1800"/>
              <a:t>Reduces the data rate by retaining every second sample.</a:t>
            </a:r>
          </a:p>
        </p:txBody>
      </p:sp>
    </p:spTree>
    <p:extLst>
      <p:ext uri="{BB962C8B-B14F-4D97-AF65-F5344CB8AC3E}">
        <p14:creationId xmlns:p14="http://schemas.microsoft.com/office/powerpoint/2010/main" val="1357448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Synthesis Filter Bank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Upsampling: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Increases the sample rate by inserting zeros between samples.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Low-Pass Synthesis Filter (G0):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Reconstructs the low-frequency components.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High-Pass Synthesis Filter (G1):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Reconstructs the high-frequency components.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Combining: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outputs of the synthesis filters are added to reconstruct the original signal.</a:t>
            </a:r>
          </a:p>
        </p:txBody>
      </p:sp>
    </p:spTree>
    <p:extLst>
      <p:ext uri="{BB962C8B-B14F-4D97-AF65-F5344CB8AC3E}">
        <p14:creationId xmlns:p14="http://schemas.microsoft.com/office/powerpoint/2010/main" val="31257768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Methamatical Formulation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156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Analysis: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 b="1"/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156488"/>
              </a:xfrm>
              <a:prstGeom prst="rect">
                <a:avLst/>
              </a:prstGeom>
              <a:blipFill>
                <a:blip r:embed="rId4"/>
                <a:stretch>
                  <a:fillRect l="-699" t="-16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D9D880-31A5-AA0A-A50A-DA5347118C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690138"/>
                <a:ext cx="7848600" cy="1129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Synthesis: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en-US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en-US" sz="1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altLang="en-US" sz="1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en-US" sz="1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1800" b="1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D9D880-31A5-AA0A-A50A-DA5347118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690138"/>
                <a:ext cx="7848600" cy="1129412"/>
              </a:xfrm>
              <a:prstGeom prst="rect">
                <a:avLst/>
              </a:prstGeom>
              <a:blipFill>
                <a:blip r:embed="rId5"/>
                <a:stretch>
                  <a:fillRect l="-699" t="-26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794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Python Libraries: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NumPy: Numerical computations.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SciPy: Signal processing.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Matplotlib: Visualization.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Steps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Design the analysis and synthesis filters.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Apply the filters to the signal.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Downsample the filtered signals.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Upsample the signals for synthesis.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Combine the synthesized signals.</a:t>
            </a:r>
          </a:p>
        </p:txBody>
      </p:sp>
    </p:spTree>
    <p:extLst>
      <p:ext uri="{BB962C8B-B14F-4D97-AF65-F5344CB8AC3E}">
        <p14:creationId xmlns:p14="http://schemas.microsoft.com/office/powerpoint/2010/main" val="4178633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in Python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1291C6-F059-9C81-7A86-9D9187934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159914"/>
            <a:ext cx="4200178" cy="44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96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Two-Channel Filter Banks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D5FD2A-4ABC-8C8F-C23B-495ED375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Points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Two-Channel Filter Banks effectively decompose and reconstruct signals.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Balance computational efficiency and signal quality.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Widely used in various speech processing applications.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Future Directions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Development of more advanced filter designs.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Integration with machine learning for adaptive filtering.</a:t>
            </a:r>
          </a:p>
        </p:txBody>
      </p:sp>
    </p:spTree>
    <p:extLst>
      <p:ext uri="{BB962C8B-B14F-4D97-AF65-F5344CB8AC3E}">
        <p14:creationId xmlns:p14="http://schemas.microsoft.com/office/powerpoint/2010/main" val="39711255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C62E08C-C8B1-4633-D085-1F570E4C6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9875" name="Slide Number Placeholder 6">
            <a:extLst>
              <a:ext uri="{FF2B5EF4-FFF2-40B4-BE49-F238E27FC236}">
                <a16:creationId xmlns:a16="http://schemas.microsoft.com/office/drawing/2014/main" id="{89337DEC-FDB4-3202-1B3A-95A1E64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1EC34-4426-4967-85B1-0430E653E9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F769647B-93E8-A6AE-7F94-FA05521B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5008</TotalTime>
  <Words>1650</Words>
  <Application>Microsoft Office PowerPoint</Application>
  <PresentationFormat>On-screen Show (4:3)</PresentationFormat>
  <Paragraphs>404</Paragraphs>
  <Slides>48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Cambria Math</vt:lpstr>
      <vt:lpstr>Tahoma</vt:lpstr>
      <vt:lpstr>Times New Roman</vt:lpstr>
      <vt:lpstr>Wingdings</vt:lpstr>
      <vt:lpstr>Blueprint</vt:lpstr>
      <vt:lpstr>Frequency-Domain Representations</vt:lpstr>
      <vt:lpstr>Contents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Discrete-Time Fourier Analysis</vt:lpstr>
      <vt:lpstr>Short-Time Fourier Analysis</vt:lpstr>
      <vt:lpstr>Short-Time Fourier Analysis</vt:lpstr>
      <vt:lpstr>Short-Time Fourier Analysis</vt:lpstr>
      <vt:lpstr>Short-Time Fourier Analysis</vt:lpstr>
      <vt:lpstr>Short-Time Fourier Analysis</vt:lpstr>
      <vt:lpstr>Short-Time Fourier Analysis</vt:lpstr>
      <vt:lpstr>Short-Time Fourier Analysis</vt:lpstr>
      <vt:lpstr>Short-Time Fourier Analysis</vt:lpstr>
      <vt:lpstr>Short-Time Fourier Analysis</vt:lpstr>
      <vt:lpstr>Short-Time Fourier Analysis</vt:lpstr>
      <vt:lpstr>Overlap Addition Method of Synthesis</vt:lpstr>
      <vt:lpstr>Overlap Addition Method of Synthesis</vt:lpstr>
      <vt:lpstr>Overlap Addition Method of Synthesis</vt:lpstr>
      <vt:lpstr>Overlap Addition Method of Synthesis</vt:lpstr>
      <vt:lpstr>Overlap Addition Method of Synthesis</vt:lpstr>
      <vt:lpstr>Overlap Addition Method of Synthesis</vt:lpstr>
      <vt:lpstr>Overlap Addition Method of Synthesis</vt:lpstr>
      <vt:lpstr>Overlap Addition Method of Synthesis</vt:lpstr>
      <vt:lpstr>Time-Decimated Filter Banks</vt:lpstr>
      <vt:lpstr>Time-Decimated Filter Banks</vt:lpstr>
      <vt:lpstr>Time-Decimated Filter Banks</vt:lpstr>
      <vt:lpstr>Time-Decimated Filter Banks</vt:lpstr>
      <vt:lpstr>Time-Decimated Filter Banks</vt:lpstr>
      <vt:lpstr>Time-Decimated Filter Banks</vt:lpstr>
      <vt:lpstr>Time-Decimated Filter Banks</vt:lpstr>
      <vt:lpstr>Time-Decimated Filter Banks</vt:lpstr>
      <vt:lpstr>Two-Channel Filter Banks</vt:lpstr>
      <vt:lpstr>Two-Channel Filter Banks</vt:lpstr>
      <vt:lpstr>Two-Channel Filter Banks</vt:lpstr>
      <vt:lpstr>Two-Channel Filter Banks</vt:lpstr>
      <vt:lpstr>Two-Channel Filter Banks</vt:lpstr>
      <vt:lpstr>Two-Channel Filter Banks</vt:lpstr>
      <vt:lpstr>Two-Channel Filter Banks</vt:lpstr>
      <vt:lpstr>Two-Channel Filter Banks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241</cp:revision>
  <dcterms:created xsi:type="dcterms:W3CDTF">2022-10-28T07:26:15Z</dcterms:created>
  <dcterms:modified xsi:type="dcterms:W3CDTF">2024-05-16T11:56:21Z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